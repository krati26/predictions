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950" b="0" i="0">
                <a:solidFill>
                  <a:srgbClr val="171717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717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rgbClr val="171717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717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EDE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3407" y="7583468"/>
            <a:ext cx="4836794" cy="27035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34894" y="585359"/>
            <a:ext cx="2253102" cy="455218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143999" y="2238955"/>
            <a:ext cx="7613650" cy="4824730"/>
          </a:xfrm>
          <a:custGeom>
            <a:avLst/>
            <a:gdLst/>
            <a:ahLst/>
            <a:cxnLst/>
            <a:rect l="l" t="t" r="r" b="b"/>
            <a:pathLst>
              <a:path w="7613650" h="4824730">
                <a:moveTo>
                  <a:pt x="6952455" y="4824151"/>
                </a:moveTo>
                <a:lnTo>
                  <a:pt x="666750" y="4824151"/>
                </a:lnTo>
                <a:lnTo>
                  <a:pt x="618730" y="4822421"/>
                </a:lnTo>
                <a:lnTo>
                  <a:pt x="571238" y="4817277"/>
                </a:lnTo>
                <a:lnTo>
                  <a:pt x="524441" y="4808789"/>
                </a:lnTo>
                <a:lnTo>
                  <a:pt x="478508" y="4797027"/>
                </a:lnTo>
                <a:lnTo>
                  <a:pt x="433607" y="4782061"/>
                </a:lnTo>
                <a:lnTo>
                  <a:pt x="389905" y="4763959"/>
                </a:lnTo>
                <a:lnTo>
                  <a:pt x="347572" y="4742792"/>
                </a:lnTo>
                <a:lnTo>
                  <a:pt x="306776" y="4718629"/>
                </a:lnTo>
                <a:lnTo>
                  <a:pt x="267684" y="4691541"/>
                </a:lnTo>
                <a:lnTo>
                  <a:pt x="230464" y="4661596"/>
                </a:lnTo>
                <a:lnTo>
                  <a:pt x="195286" y="4628864"/>
                </a:lnTo>
                <a:lnTo>
                  <a:pt x="162554" y="4593686"/>
                </a:lnTo>
                <a:lnTo>
                  <a:pt x="132610" y="4556467"/>
                </a:lnTo>
                <a:lnTo>
                  <a:pt x="105521" y="4517375"/>
                </a:lnTo>
                <a:lnTo>
                  <a:pt x="81358" y="4476578"/>
                </a:lnTo>
                <a:lnTo>
                  <a:pt x="60191" y="4434245"/>
                </a:lnTo>
                <a:lnTo>
                  <a:pt x="42090" y="4390544"/>
                </a:lnTo>
                <a:lnTo>
                  <a:pt x="27123" y="4345642"/>
                </a:lnTo>
                <a:lnTo>
                  <a:pt x="15361" y="4299709"/>
                </a:lnTo>
                <a:lnTo>
                  <a:pt x="6873" y="4252913"/>
                </a:lnTo>
                <a:lnTo>
                  <a:pt x="1730" y="4205420"/>
                </a:lnTo>
                <a:lnTo>
                  <a:pt x="0" y="4157401"/>
                </a:lnTo>
                <a:lnTo>
                  <a:pt x="0" y="666750"/>
                </a:lnTo>
                <a:lnTo>
                  <a:pt x="1730" y="618730"/>
                </a:lnTo>
                <a:lnTo>
                  <a:pt x="6873" y="571238"/>
                </a:lnTo>
                <a:lnTo>
                  <a:pt x="15361" y="524441"/>
                </a:lnTo>
                <a:lnTo>
                  <a:pt x="27123" y="478508"/>
                </a:lnTo>
                <a:lnTo>
                  <a:pt x="42090" y="433606"/>
                </a:lnTo>
                <a:lnTo>
                  <a:pt x="60191" y="389905"/>
                </a:lnTo>
                <a:lnTo>
                  <a:pt x="81358" y="347572"/>
                </a:lnTo>
                <a:lnTo>
                  <a:pt x="105521" y="306776"/>
                </a:lnTo>
                <a:lnTo>
                  <a:pt x="132610" y="267684"/>
                </a:lnTo>
                <a:lnTo>
                  <a:pt x="162554" y="230464"/>
                </a:lnTo>
                <a:lnTo>
                  <a:pt x="195286" y="195286"/>
                </a:lnTo>
                <a:lnTo>
                  <a:pt x="230464" y="162554"/>
                </a:lnTo>
                <a:lnTo>
                  <a:pt x="267684" y="132609"/>
                </a:lnTo>
                <a:lnTo>
                  <a:pt x="306776" y="105521"/>
                </a:lnTo>
                <a:lnTo>
                  <a:pt x="347572" y="81358"/>
                </a:lnTo>
                <a:lnTo>
                  <a:pt x="389905" y="60191"/>
                </a:lnTo>
                <a:lnTo>
                  <a:pt x="433607" y="42090"/>
                </a:lnTo>
                <a:lnTo>
                  <a:pt x="478508" y="27123"/>
                </a:lnTo>
                <a:lnTo>
                  <a:pt x="524441" y="15361"/>
                </a:lnTo>
                <a:lnTo>
                  <a:pt x="571238" y="6873"/>
                </a:lnTo>
                <a:lnTo>
                  <a:pt x="618730" y="1730"/>
                </a:lnTo>
                <a:lnTo>
                  <a:pt x="666750" y="0"/>
                </a:lnTo>
                <a:lnTo>
                  <a:pt x="6952455" y="0"/>
                </a:lnTo>
                <a:lnTo>
                  <a:pt x="7000475" y="1730"/>
                </a:lnTo>
                <a:lnTo>
                  <a:pt x="7047968" y="6873"/>
                </a:lnTo>
                <a:lnTo>
                  <a:pt x="7094764" y="15361"/>
                </a:lnTo>
                <a:lnTo>
                  <a:pt x="7140698" y="27123"/>
                </a:lnTo>
                <a:lnTo>
                  <a:pt x="7185599" y="42090"/>
                </a:lnTo>
                <a:lnTo>
                  <a:pt x="7229300" y="60191"/>
                </a:lnTo>
                <a:lnTo>
                  <a:pt x="7271633" y="81358"/>
                </a:lnTo>
                <a:lnTo>
                  <a:pt x="7312429" y="105521"/>
                </a:lnTo>
                <a:lnTo>
                  <a:pt x="7351521" y="132609"/>
                </a:lnTo>
                <a:lnTo>
                  <a:pt x="7388740" y="162554"/>
                </a:lnTo>
                <a:lnTo>
                  <a:pt x="7423918" y="195286"/>
                </a:lnTo>
                <a:lnTo>
                  <a:pt x="7456650" y="230464"/>
                </a:lnTo>
                <a:lnTo>
                  <a:pt x="7486595" y="267684"/>
                </a:lnTo>
                <a:lnTo>
                  <a:pt x="7513684" y="306776"/>
                </a:lnTo>
                <a:lnTo>
                  <a:pt x="7537846" y="347572"/>
                </a:lnTo>
                <a:lnTo>
                  <a:pt x="7559013" y="389905"/>
                </a:lnTo>
                <a:lnTo>
                  <a:pt x="7577115" y="433606"/>
                </a:lnTo>
                <a:lnTo>
                  <a:pt x="7592082" y="478508"/>
                </a:lnTo>
                <a:lnTo>
                  <a:pt x="7603844" y="524441"/>
                </a:lnTo>
                <a:lnTo>
                  <a:pt x="7612331" y="571238"/>
                </a:lnTo>
                <a:lnTo>
                  <a:pt x="7613113" y="578459"/>
                </a:lnTo>
                <a:lnTo>
                  <a:pt x="7613113" y="4245691"/>
                </a:lnTo>
                <a:lnTo>
                  <a:pt x="7603844" y="4299709"/>
                </a:lnTo>
                <a:lnTo>
                  <a:pt x="7592082" y="4345642"/>
                </a:lnTo>
                <a:lnTo>
                  <a:pt x="7577115" y="4390544"/>
                </a:lnTo>
                <a:lnTo>
                  <a:pt x="7559013" y="4434245"/>
                </a:lnTo>
                <a:lnTo>
                  <a:pt x="7537846" y="4476578"/>
                </a:lnTo>
                <a:lnTo>
                  <a:pt x="7513684" y="4517375"/>
                </a:lnTo>
                <a:lnTo>
                  <a:pt x="7486595" y="4556467"/>
                </a:lnTo>
                <a:lnTo>
                  <a:pt x="7456650" y="4593686"/>
                </a:lnTo>
                <a:lnTo>
                  <a:pt x="7423918" y="4628864"/>
                </a:lnTo>
                <a:lnTo>
                  <a:pt x="7388740" y="4661596"/>
                </a:lnTo>
                <a:lnTo>
                  <a:pt x="7351521" y="4691541"/>
                </a:lnTo>
                <a:lnTo>
                  <a:pt x="7312429" y="4718629"/>
                </a:lnTo>
                <a:lnTo>
                  <a:pt x="7271633" y="4742792"/>
                </a:lnTo>
                <a:lnTo>
                  <a:pt x="7229300" y="4763959"/>
                </a:lnTo>
                <a:lnTo>
                  <a:pt x="7185599" y="4782061"/>
                </a:lnTo>
                <a:lnTo>
                  <a:pt x="7140698" y="4797027"/>
                </a:lnTo>
                <a:lnTo>
                  <a:pt x="7094764" y="4808789"/>
                </a:lnTo>
                <a:lnTo>
                  <a:pt x="7047968" y="4817277"/>
                </a:lnTo>
                <a:lnTo>
                  <a:pt x="7000475" y="4822421"/>
                </a:lnTo>
                <a:lnTo>
                  <a:pt x="6952455" y="4824151"/>
                </a:lnTo>
                <a:close/>
              </a:path>
            </a:pathLst>
          </a:custGeom>
          <a:solidFill>
            <a:srgbClr val="F1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rgbClr val="171717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410" y="4252807"/>
            <a:ext cx="1094849" cy="109484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6879652" cy="45858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4864041" y="709764"/>
            <a:ext cx="2024380" cy="1233805"/>
          </a:xfrm>
          <a:custGeom>
            <a:avLst/>
            <a:gdLst/>
            <a:ahLst/>
            <a:cxnLst/>
            <a:rect l="l" t="t" r="r" b="b"/>
            <a:pathLst>
              <a:path w="2024380" h="1233805">
                <a:moveTo>
                  <a:pt x="1810313" y="1233345"/>
                </a:moveTo>
                <a:lnTo>
                  <a:pt x="86572" y="1018159"/>
                </a:lnTo>
                <a:lnTo>
                  <a:pt x="49038" y="1005579"/>
                </a:lnTo>
                <a:lnTo>
                  <a:pt x="20241" y="980454"/>
                </a:lnTo>
                <a:lnTo>
                  <a:pt x="2966" y="946364"/>
                </a:lnTo>
                <a:lnTo>
                  <a:pt x="0" y="906889"/>
                </a:lnTo>
                <a:lnTo>
                  <a:pt x="102407" y="86552"/>
                </a:lnTo>
                <a:lnTo>
                  <a:pt x="114988" y="49018"/>
                </a:lnTo>
                <a:lnTo>
                  <a:pt x="140113" y="20221"/>
                </a:lnTo>
                <a:lnTo>
                  <a:pt x="174203" y="2947"/>
                </a:lnTo>
                <a:lnTo>
                  <a:pt x="213676" y="0"/>
                </a:lnTo>
                <a:lnTo>
                  <a:pt x="1937415" y="215185"/>
                </a:lnTo>
                <a:lnTo>
                  <a:pt x="1974951" y="227746"/>
                </a:lnTo>
                <a:lnTo>
                  <a:pt x="2003748" y="252871"/>
                </a:lnTo>
                <a:lnTo>
                  <a:pt x="2021023" y="286961"/>
                </a:lnTo>
                <a:lnTo>
                  <a:pt x="2023990" y="326436"/>
                </a:lnTo>
                <a:lnTo>
                  <a:pt x="2011641" y="425357"/>
                </a:lnTo>
                <a:lnTo>
                  <a:pt x="287911" y="210173"/>
                </a:lnTo>
                <a:lnTo>
                  <a:pt x="210201" y="832667"/>
                </a:lnTo>
                <a:lnTo>
                  <a:pt x="1933931" y="1047852"/>
                </a:lnTo>
                <a:lnTo>
                  <a:pt x="1921582" y="1146773"/>
                </a:lnTo>
                <a:lnTo>
                  <a:pt x="1909002" y="1184307"/>
                </a:lnTo>
                <a:lnTo>
                  <a:pt x="1883879" y="1213104"/>
                </a:lnTo>
                <a:lnTo>
                  <a:pt x="1849789" y="1230378"/>
                </a:lnTo>
                <a:lnTo>
                  <a:pt x="1810313" y="1233345"/>
                </a:lnTo>
                <a:close/>
              </a:path>
              <a:path w="2024380" h="1233805">
                <a:moveTo>
                  <a:pt x="1933931" y="1047852"/>
                </a:moveTo>
                <a:lnTo>
                  <a:pt x="1736089" y="1023154"/>
                </a:lnTo>
                <a:lnTo>
                  <a:pt x="1813799" y="400659"/>
                </a:lnTo>
                <a:lnTo>
                  <a:pt x="2011641" y="425357"/>
                </a:lnTo>
                <a:lnTo>
                  <a:pt x="1933931" y="1047852"/>
                </a:lnTo>
                <a:close/>
              </a:path>
            </a:pathLst>
          </a:custGeom>
          <a:solidFill>
            <a:srgbClr val="F1EDE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24834" y="929588"/>
            <a:ext cx="5110949" cy="392954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5638" y="524137"/>
            <a:ext cx="3323786" cy="3314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rgbClr val="171717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ED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-107458"/>
            <a:ext cx="18313400" cy="180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950" b="0" i="0">
                <a:solidFill>
                  <a:srgbClr val="171717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6153" y="4288389"/>
            <a:ext cx="13145769" cy="5766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7171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4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4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2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4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39833"/>
            <a:ext cx="5889735" cy="444716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3052" y="5220844"/>
            <a:ext cx="4334948" cy="506615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80594" y="7653321"/>
            <a:ext cx="5727065" cy="182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5910" marR="288290">
              <a:lnSpc>
                <a:spcPct val="115799"/>
              </a:lnSpc>
              <a:spcBef>
                <a:spcPts val="100"/>
              </a:spcBef>
            </a:pPr>
            <a:r>
              <a:rPr dirty="0" sz="3400" spc="125">
                <a:solidFill>
                  <a:srgbClr val="F1EDE9"/>
                </a:solidFill>
                <a:latin typeface="Trebuchet MS"/>
                <a:cs typeface="Trebuchet MS"/>
              </a:rPr>
              <a:t>Presented</a:t>
            </a:r>
            <a:r>
              <a:rPr dirty="0" sz="34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210">
                <a:solidFill>
                  <a:srgbClr val="F1EDE9"/>
                </a:solidFill>
                <a:latin typeface="Trebuchet MS"/>
                <a:cs typeface="Trebuchet MS"/>
              </a:rPr>
              <a:t>by</a:t>
            </a:r>
            <a:r>
              <a:rPr dirty="0" sz="34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260">
                <a:solidFill>
                  <a:srgbClr val="F1EDE9"/>
                </a:solidFill>
                <a:latin typeface="Trebuchet MS"/>
                <a:cs typeface="Trebuchet MS"/>
              </a:rPr>
              <a:t>- </a:t>
            </a:r>
            <a:r>
              <a:rPr dirty="0" sz="3400" spc="135">
                <a:solidFill>
                  <a:srgbClr val="F1EDE9"/>
                </a:solidFill>
                <a:latin typeface="Trebuchet MS"/>
                <a:cs typeface="Trebuchet MS"/>
              </a:rPr>
              <a:t>PGDFT2411</a:t>
            </a:r>
            <a:r>
              <a:rPr dirty="0" sz="3400" spc="-5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310">
                <a:solidFill>
                  <a:srgbClr val="F1EDE9"/>
                </a:solidFill>
                <a:latin typeface="Trebuchet MS"/>
                <a:cs typeface="Trebuchet MS"/>
              </a:rPr>
              <a:t>-</a:t>
            </a:r>
            <a:r>
              <a:rPr dirty="0" sz="34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>
                <a:solidFill>
                  <a:srgbClr val="F1EDE9"/>
                </a:solidFill>
                <a:latin typeface="Trebuchet MS"/>
                <a:cs typeface="Trebuchet MS"/>
              </a:rPr>
              <a:t>Krati</a:t>
            </a:r>
            <a:r>
              <a:rPr dirty="0" sz="34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114">
                <a:solidFill>
                  <a:srgbClr val="F1EDE9"/>
                </a:solidFill>
                <a:latin typeface="Trebuchet MS"/>
                <a:cs typeface="Trebuchet MS"/>
              </a:rPr>
              <a:t>Nawal</a:t>
            </a:r>
            <a:endParaRPr sz="3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3400" spc="185">
                <a:solidFill>
                  <a:srgbClr val="F1EDE9"/>
                </a:solidFill>
                <a:latin typeface="Trebuchet MS"/>
                <a:cs typeface="Trebuchet MS"/>
              </a:rPr>
              <a:t>PGDFT2417</a:t>
            </a:r>
            <a:r>
              <a:rPr dirty="0" sz="3400" spc="-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310">
                <a:solidFill>
                  <a:srgbClr val="F1EDE9"/>
                </a:solidFill>
                <a:latin typeface="Trebuchet MS"/>
                <a:cs typeface="Trebuchet MS"/>
              </a:rPr>
              <a:t>-</a:t>
            </a:r>
            <a:r>
              <a:rPr dirty="0" sz="3400" spc="-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110">
                <a:solidFill>
                  <a:srgbClr val="F1EDE9"/>
                </a:solidFill>
                <a:latin typeface="Trebuchet MS"/>
                <a:cs typeface="Trebuchet MS"/>
              </a:rPr>
              <a:t>Param</a:t>
            </a:r>
            <a:r>
              <a:rPr dirty="0" sz="3400" spc="-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400" spc="105">
                <a:solidFill>
                  <a:srgbClr val="F1EDE9"/>
                </a:solidFill>
                <a:latin typeface="Trebuchet MS"/>
                <a:cs typeface="Trebuchet MS"/>
              </a:rPr>
              <a:t>Parekh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9731" y="94545"/>
            <a:ext cx="14896465" cy="56261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6700"/>
              </a:lnSpc>
              <a:spcBef>
                <a:spcPts val="95"/>
              </a:spcBef>
            </a:pPr>
            <a:r>
              <a:rPr dirty="0" sz="10500" spc="-1280">
                <a:solidFill>
                  <a:srgbClr val="F1EDE9"/>
                </a:solidFill>
              </a:rPr>
              <a:t>R</a:t>
            </a:r>
            <a:r>
              <a:rPr dirty="0" sz="10500" spc="-1270">
                <a:solidFill>
                  <a:srgbClr val="F1EDE9"/>
                </a:solidFill>
              </a:rPr>
              <a:t>i</a:t>
            </a:r>
            <a:r>
              <a:rPr dirty="0" sz="10500" spc="-1285">
                <a:solidFill>
                  <a:srgbClr val="F1EDE9"/>
                </a:solidFill>
              </a:rPr>
              <a:t>s</a:t>
            </a:r>
            <a:r>
              <a:rPr dirty="0" sz="10500" spc="-515">
                <a:solidFill>
                  <a:srgbClr val="F1EDE9"/>
                </a:solidFill>
              </a:rPr>
              <a:t>k</a:t>
            </a:r>
            <a:r>
              <a:rPr dirty="0" sz="10500" spc="-2390">
                <a:solidFill>
                  <a:srgbClr val="F1EDE9"/>
                </a:solidFill>
              </a:rPr>
              <a:t> </a:t>
            </a:r>
            <a:r>
              <a:rPr dirty="0" sz="10500" spc="-1050">
                <a:solidFill>
                  <a:srgbClr val="F1EDE9"/>
                </a:solidFill>
              </a:rPr>
              <a:t>A</a:t>
            </a:r>
            <a:r>
              <a:rPr dirty="0" sz="10500" spc="-1080">
                <a:solidFill>
                  <a:srgbClr val="F1EDE9"/>
                </a:solidFill>
              </a:rPr>
              <a:t>ss</a:t>
            </a:r>
            <a:r>
              <a:rPr dirty="0" sz="10500" spc="-1019">
                <a:solidFill>
                  <a:srgbClr val="F1EDE9"/>
                </a:solidFill>
              </a:rPr>
              <a:t>e</a:t>
            </a:r>
            <a:r>
              <a:rPr dirty="0" sz="10500" spc="-1080">
                <a:solidFill>
                  <a:srgbClr val="F1EDE9"/>
                </a:solidFill>
              </a:rPr>
              <a:t>ss</a:t>
            </a:r>
            <a:r>
              <a:rPr dirty="0" sz="10500" spc="-990">
                <a:solidFill>
                  <a:srgbClr val="F1EDE9"/>
                </a:solidFill>
              </a:rPr>
              <a:t>m</a:t>
            </a:r>
            <a:r>
              <a:rPr dirty="0" sz="10500" spc="-1019">
                <a:solidFill>
                  <a:srgbClr val="F1EDE9"/>
                </a:solidFill>
              </a:rPr>
              <a:t>e</a:t>
            </a:r>
            <a:r>
              <a:rPr dirty="0" sz="10500" spc="-1005">
                <a:solidFill>
                  <a:srgbClr val="F1EDE9"/>
                </a:solidFill>
              </a:rPr>
              <a:t>n</a:t>
            </a:r>
            <a:r>
              <a:rPr dirty="0" sz="10500" spc="-310">
                <a:solidFill>
                  <a:srgbClr val="F1EDE9"/>
                </a:solidFill>
              </a:rPr>
              <a:t>t</a:t>
            </a:r>
            <a:r>
              <a:rPr dirty="0" sz="10500" spc="-2375">
                <a:solidFill>
                  <a:srgbClr val="F1EDE9"/>
                </a:solidFill>
              </a:rPr>
              <a:t> </a:t>
            </a:r>
            <a:r>
              <a:rPr dirty="0" sz="10500" spc="-755">
                <a:solidFill>
                  <a:srgbClr val="F1EDE9"/>
                </a:solidFill>
              </a:rPr>
              <a:t>a</a:t>
            </a:r>
            <a:r>
              <a:rPr dirty="0" sz="10500" spc="-725">
                <a:solidFill>
                  <a:srgbClr val="F1EDE9"/>
                </a:solidFill>
              </a:rPr>
              <a:t>n</a:t>
            </a:r>
            <a:r>
              <a:rPr dirty="0" sz="10500" spc="-30">
                <a:solidFill>
                  <a:srgbClr val="F1EDE9"/>
                </a:solidFill>
              </a:rPr>
              <a:t>d</a:t>
            </a:r>
            <a:r>
              <a:rPr dirty="0" sz="10500" spc="-505">
                <a:solidFill>
                  <a:srgbClr val="F1EDE9"/>
                </a:solidFill>
              </a:rPr>
              <a:t> </a:t>
            </a:r>
            <a:r>
              <a:rPr dirty="0" sz="10500" spc="-775">
                <a:solidFill>
                  <a:srgbClr val="F1EDE9"/>
                </a:solidFill>
              </a:rPr>
              <a:t>P</a:t>
            </a:r>
            <a:r>
              <a:rPr dirty="0" sz="10500" spc="-715">
                <a:solidFill>
                  <a:srgbClr val="F1EDE9"/>
                </a:solidFill>
              </a:rPr>
              <a:t>o</a:t>
            </a:r>
            <a:r>
              <a:rPr dirty="0" sz="10500" spc="-695">
                <a:solidFill>
                  <a:srgbClr val="F1EDE9"/>
                </a:solidFill>
              </a:rPr>
              <a:t>r</a:t>
            </a:r>
            <a:r>
              <a:rPr dirty="0" sz="10500" spc="-685">
                <a:solidFill>
                  <a:srgbClr val="F1EDE9"/>
                </a:solidFill>
              </a:rPr>
              <a:t>t</a:t>
            </a:r>
            <a:r>
              <a:rPr dirty="0" sz="10500" spc="-630">
                <a:solidFill>
                  <a:srgbClr val="F1EDE9"/>
                </a:solidFill>
              </a:rPr>
              <a:t>f</a:t>
            </a:r>
            <a:r>
              <a:rPr dirty="0" sz="10500" spc="-715">
                <a:solidFill>
                  <a:srgbClr val="F1EDE9"/>
                </a:solidFill>
              </a:rPr>
              <a:t>o</a:t>
            </a:r>
            <a:r>
              <a:rPr dirty="0" sz="10500" spc="-785">
                <a:solidFill>
                  <a:srgbClr val="F1EDE9"/>
                </a:solidFill>
              </a:rPr>
              <a:t>li</a:t>
            </a:r>
            <a:r>
              <a:rPr dirty="0" sz="10500" spc="-30">
                <a:solidFill>
                  <a:srgbClr val="F1EDE9"/>
                </a:solidFill>
              </a:rPr>
              <a:t>o</a:t>
            </a:r>
            <a:r>
              <a:rPr dirty="0" sz="10500" spc="-2350">
                <a:solidFill>
                  <a:srgbClr val="F1EDE9"/>
                </a:solidFill>
              </a:rPr>
              <a:t> </a:t>
            </a:r>
            <a:r>
              <a:rPr dirty="0" sz="10500" spc="-700">
                <a:solidFill>
                  <a:srgbClr val="F1EDE9"/>
                </a:solidFill>
              </a:rPr>
              <a:t>Cr</a:t>
            </a:r>
            <a:r>
              <a:rPr dirty="0" sz="10500" spc="-745">
                <a:solidFill>
                  <a:srgbClr val="F1EDE9"/>
                </a:solidFill>
              </a:rPr>
              <a:t>e</a:t>
            </a:r>
            <a:r>
              <a:rPr dirty="0" sz="10500" spc="-760">
                <a:solidFill>
                  <a:srgbClr val="F1EDE9"/>
                </a:solidFill>
              </a:rPr>
              <a:t>a</a:t>
            </a:r>
            <a:r>
              <a:rPr dirty="0" sz="10500" spc="-690">
                <a:solidFill>
                  <a:srgbClr val="F1EDE9"/>
                </a:solidFill>
              </a:rPr>
              <a:t>t</a:t>
            </a:r>
            <a:r>
              <a:rPr dirty="0" sz="10500" spc="-790">
                <a:solidFill>
                  <a:srgbClr val="F1EDE9"/>
                </a:solidFill>
              </a:rPr>
              <a:t>i</a:t>
            </a:r>
            <a:r>
              <a:rPr dirty="0" sz="10500" spc="-720">
                <a:solidFill>
                  <a:srgbClr val="F1EDE9"/>
                </a:solidFill>
              </a:rPr>
              <a:t>o</a:t>
            </a:r>
            <a:r>
              <a:rPr dirty="0" sz="10500" spc="-35">
                <a:solidFill>
                  <a:srgbClr val="F1EDE9"/>
                </a:solidFill>
              </a:rPr>
              <a:t>n</a:t>
            </a:r>
            <a:r>
              <a:rPr dirty="0" sz="10500" spc="-2350">
                <a:solidFill>
                  <a:srgbClr val="F1EDE9"/>
                </a:solidFill>
              </a:rPr>
              <a:t> </a:t>
            </a:r>
            <a:r>
              <a:rPr dirty="0" sz="10500" spc="-885">
                <a:solidFill>
                  <a:srgbClr val="F1EDE9"/>
                </a:solidFill>
              </a:rPr>
              <a:t>u</a:t>
            </a:r>
            <a:r>
              <a:rPr dirty="0" sz="10500" spc="-960">
                <a:solidFill>
                  <a:srgbClr val="F1EDE9"/>
                </a:solidFill>
              </a:rPr>
              <a:t>s</a:t>
            </a:r>
            <a:r>
              <a:rPr dirty="0" sz="10500" spc="-944">
                <a:solidFill>
                  <a:srgbClr val="F1EDE9"/>
                </a:solidFill>
              </a:rPr>
              <a:t>i</a:t>
            </a:r>
            <a:r>
              <a:rPr dirty="0" sz="10500" spc="-885">
                <a:solidFill>
                  <a:srgbClr val="F1EDE9"/>
                </a:solidFill>
              </a:rPr>
              <a:t>n</a:t>
            </a:r>
            <a:r>
              <a:rPr dirty="0" sz="10500" spc="-190">
                <a:solidFill>
                  <a:srgbClr val="F1EDE9"/>
                </a:solidFill>
              </a:rPr>
              <a:t>g</a:t>
            </a:r>
            <a:r>
              <a:rPr dirty="0" sz="10500" spc="-775">
                <a:solidFill>
                  <a:srgbClr val="F1EDE9"/>
                </a:solidFill>
              </a:rPr>
              <a:t> </a:t>
            </a:r>
            <a:r>
              <a:rPr dirty="0" sz="10500" spc="-1465">
                <a:solidFill>
                  <a:srgbClr val="F1EDE9"/>
                </a:solidFill>
              </a:rPr>
              <a:t>N</a:t>
            </a:r>
            <a:r>
              <a:rPr dirty="0" sz="10500" spc="-1540">
                <a:solidFill>
                  <a:srgbClr val="F1EDE9"/>
                </a:solidFill>
              </a:rPr>
              <a:t>I</a:t>
            </a:r>
            <a:r>
              <a:rPr dirty="0" sz="10500" spc="-1530">
                <a:solidFill>
                  <a:srgbClr val="F1EDE9"/>
                </a:solidFill>
              </a:rPr>
              <a:t>F</a:t>
            </a:r>
            <a:r>
              <a:rPr dirty="0" sz="10500" spc="-1475">
                <a:solidFill>
                  <a:srgbClr val="F1EDE9"/>
                </a:solidFill>
              </a:rPr>
              <a:t>T</a:t>
            </a:r>
            <a:r>
              <a:rPr dirty="0" sz="10500" spc="-720">
                <a:solidFill>
                  <a:srgbClr val="F1EDE9"/>
                </a:solidFill>
              </a:rPr>
              <a:t>Y</a:t>
            </a:r>
            <a:r>
              <a:rPr dirty="0" sz="10500" spc="-2395">
                <a:solidFill>
                  <a:srgbClr val="F1EDE9"/>
                </a:solidFill>
              </a:rPr>
              <a:t> </a:t>
            </a:r>
            <a:r>
              <a:rPr dirty="0" sz="10500" spc="1295">
                <a:solidFill>
                  <a:srgbClr val="F1EDE9"/>
                </a:solidFill>
              </a:rPr>
              <a:t>-</a:t>
            </a:r>
            <a:r>
              <a:rPr dirty="0" sz="10500" spc="-2400">
                <a:solidFill>
                  <a:srgbClr val="F1EDE9"/>
                </a:solidFill>
              </a:rPr>
              <a:t> </a:t>
            </a:r>
            <a:r>
              <a:rPr dirty="0" sz="10500" spc="-844">
                <a:solidFill>
                  <a:srgbClr val="F1EDE9"/>
                </a:solidFill>
              </a:rPr>
              <a:t>5</a:t>
            </a:r>
            <a:r>
              <a:rPr dirty="0" sz="10500" spc="-100">
                <a:solidFill>
                  <a:srgbClr val="F1EDE9"/>
                </a:solidFill>
              </a:rPr>
              <a:t>0</a:t>
            </a:r>
            <a:endParaRPr sz="10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872978" y="-12"/>
            <a:ext cx="3415029" cy="2874645"/>
            <a:chOff x="14872978" y="-12"/>
            <a:chExt cx="3415029" cy="2874645"/>
          </a:xfrm>
        </p:grpSpPr>
        <p:sp>
          <p:nvSpPr>
            <p:cNvPr id="3" name="object 3" descr=""/>
            <p:cNvSpPr/>
            <p:nvPr/>
          </p:nvSpPr>
          <p:spPr>
            <a:xfrm>
              <a:off x="16154152" y="-12"/>
              <a:ext cx="1431290" cy="805815"/>
            </a:xfrm>
            <a:custGeom>
              <a:avLst/>
              <a:gdLst/>
              <a:ahLst/>
              <a:cxnLst/>
              <a:rect l="l" t="t" r="r" b="b"/>
              <a:pathLst>
                <a:path w="1431290" h="805815">
                  <a:moveTo>
                    <a:pt x="1259757" y="805443"/>
                  </a:moveTo>
                  <a:lnTo>
                    <a:pt x="57960" y="613629"/>
                  </a:lnTo>
                  <a:lnTo>
                    <a:pt x="12416" y="585645"/>
                  </a:lnTo>
                  <a:lnTo>
                    <a:pt x="0" y="533653"/>
                  </a:lnTo>
                  <a:lnTo>
                    <a:pt x="85172" y="12"/>
                  </a:lnTo>
                  <a:lnTo>
                    <a:pt x="774294" y="0"/>
                  </a:lnTo>
                  <a:lnTo>
                    <a:pt x="1373001" y="95557"/>
                  </a:lnTo>
                  <a:lnTo>
                    <a:pt x="1399037" y="105270"/>
                  </a:lnTo>
                  <a:lnTo>
                    <a:pt x="1418600" y="123550"/>
                  </a:lnTo>
                  <a:lnTo>
                    <a:pt x="1429882" y="147831"/>
                  </a:lnTo>
                  <a:lnTo>
                    <a:pt x="1431017" y="175542"/>
                  </a:lnTo>
                  <a:lnTo>
                    <a:pt x="1420009" y="244510"/>
                  </a:lnTo>
                  <a:lnTo>
                    <a:pt x="218220" y="52697"/>
                  </a:lnTo>
                  <a:lnTo>
                    <a:pt x="148950" y="486702"/>
                  </a:lnTo>
                  <a:lnTo>
                    <a:pt x="1350740" y="678515"/>
                  </a:lnTo>
                  <a:lnTo>
                    <a:pt x="1339732" y="747483"/>
                  </a:lnTo>
                  <a:lnTo>
                    <a:pt x="1330028" y="773463"/>
                  </a:lnTo>
                  <a:lnTo>
                    <a:pt x="1311750" y="793027"/>
                  </a:lnTo>
                  <a:lnTo>
                    <a:pt x="1287468" y="804308"/>
                  </a:lnTo>
                  <a:lnTo>
                    <a:pt x="1259757" y="805443"/>
                  </a:lnTo>
                  <a:close/>
                </a:path>
                <a:path w="1431290" h="805815">
                  <a:moveTo>
                    <a:pt x="1350740" y="678515"/>
                  </a:moveTo>
                  <a:lnTo>
                    <a:pt x="1212804" y="656499"/>
                  </a:lnTo>
                  <a:lnTo>
                    <a:pt x="1282073" y="222494"/>
                  </a:lnTo>
                  <a:lnTo>
                    <a:pt x="1420009" y="244510"/>
                  </a:lnTo>
                  <a:lnTo>
                    <a:pt x="1350740" y="678515"/>
                  </a:lnTo>
                  <a:close/>
                </a:path>
              </a:pathLst>
            </a:custGeom>
            <a:solidFill>
              <a:srgbClr val="171717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72978" y="21018"/>
              <a:ext cx="3415020" cy="2853197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2548356" y="209324"/>
            <a:ext cx="2508250" cy="2541905"/>
            <a:chOff x="12548356" y="209324"/>
            <a:chExt cx="2508250" cy="25419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8356" y="209324"/>
              <a:ext cx="2042214" cy="254132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0360" y="1059753"/>
              <a:ext cx="279496" cy="27963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82001" y="1442345"/>
              <a:ext cx="922036" cy="20527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11355" y="1425215"/>
              <a:ext cx="279496" cy="27963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72350" y="1790671"/>
              <a:ext cx="279496" cy="27963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42996" y="1586952"/>
              <a:ext cx="1713541" cy="105182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9985850" y="4631650"/>
            <a:ext cx="7164070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8585">
              <a:lnSpc>
                <a:spcPct val="114799"/>
              </a:lnSpc>
              <a:spcBef>
                <a:spcPts val="100"/>
              </a:spcBef>
            </a:pPr>
            <a:r>
              <a:rPr dirty="0" sz="3050">
                <a:solidFill>
                  <a:srgbClr val="171717"/>
                </a:solidFill>
                <a:latin typeface="Trebuchet MS"/>
                <a:cs typeface="Trebuchet MS"/>
              </a:rPr>
              <a:t>Identify</a:t>
            </a:r>
            <a:r>
              <a:rPr dirty="0" sz="3050" spc="2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60">
                <a:solidFill>
                  <a:srgbClr val="171717"/>
                </a:solidFill>
                <a:latin typeface="Trebuchet MS"/>
                <a:cs typeface="Trebuchet MS"/>
              </a:rPr>
              <a:t>risk</a:t>
            </a:r>
            <a:r>
              <a:rPr dirty="0" sz="305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55">
                <a:solidFill>
                  <a:srgbClr val="171717"/>
                </a:solidFill>
                <a:latin typeface="Trebuchet MS"/>
                <a:cs typeface="Trebuchet MS"/>
              </a:rPr>
              <a:t>levels</a:t>
            </a:r>
            <a:r>
              <a:rPr dirty="0" sz="305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60">
                <a:solidFill>
                  <a:srgbClr val="171717"/>
                </a:solidFill>
                <a:latin typeface="Trebuchet MS"/>
                <a:cs typeface="Trebuchet MS"/>
              </a:rPr>
              <a:t>of</a:t>
            </a:r>
            <a:r>
              <a:rPr dirty="0" sz="305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171717"/>
                </a:solidFill>
                <a:latin typeface="Trebuchet MS"/>
                <a:cs typeface="Trebuchet MS"/>
              </a:rPr>
              <a:t>individual</a:t>
            </a:r>
            <a:r>
              <a:rPr dirty="0" sz="305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90">
                <a:solidFill>
                  <a:srgbClr val="171717"/>
                </a:solidFill>
                <a:latin typeface="Trebuchet MS"/>
                <a:cs typeface="Trebuchet MS"/>
              </a:rPr>
              <a:t>stocks. </a:t>
            </a:r>
            <a:r>
              <a:rPr dirty="0" sz="3050" spc="100">
                <a:solidFill>
                  <a:srgbClr val="171717"/>
                </a:solidFill>
                <a:latin typeface="Trebuchet MS"/>
                <a:cs typeface="Trebuchet MS"/>
              </a:rPr>
              <a:t>Categorize</a:t>
            </a:r>
            <a:r>
              <a:rPr dirty="0" sz="305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50">
                <a:solidFill>
                  <a:srgbClr val="171717"/>
                </a:solidFill>
                <a:latin typeface="Trebuchet MS"/>
                <a:cs typeface="Trebuchet MS"/>
              </a:rPr>
              <a:t>them</a:t>
            </a:r>
            <a:r>
              <a:rPr dirty="0" sz="305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171717"/>
                </a:solidFill>
                <a:latin typeface="Trebuchet MS"/>
                <a:cs typeface="Trebuchet MS"/>
              </a:rPr>
              <a:t>into</a:t>
            </a:r>
            <a:r>
              <a:rPr dirty="0" sz="305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50">
                <a:solidFill>
                  <a:srgbClr val="171717"/>
                </a:solidFill>
                <a:latin typeface="Trebuchet MS"/>
                <a:cs typeface="Trebuchet MS"/>
              </a:rPr>
              <a:t>Low,</a:t>
            </a:r>
            <a:r>
              <a:rPr dirty="0" sz="305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80">
                <a:solidFill>
                  <a:srgbClr val="171717"/>
                </a:solidFill>
                <a:latin typeface="Trebuchet MS"/>
                <a:cs typeface="Trebuchet MS"/>
              </a:rPr>
              <a:t>Moderate, </a:t>
            </a:r>
            <a:r>
              <a:rPr dirty="0" sz="3050" spc="130">
                <a:solidFill>
                  <a:srgbClr val="171717"/>
                </a:solidFill>
                <a:latin typeface="Trebuchet MS"/>
                <a:cs typeface="Trebuchet MS"/>
              </a:rPr>
              <a:t>Aggressive,</a:t>
            </a:r>
            <a:r>
              <a:rPr dirty="0" sz="305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171717"/>
                </a:solidFill>
                <a:latin typeface="Trebuchet MS"/>
                <a:cs typeface="Trebuchet MS"/>
              </a:rPr>
              <a:t>or</a:t>
            </a:r>
            <a:r>
              <a:rPr dirty="0" sz="305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155">
                <a:solidFill>
                  <a:srgbClr val="171717"/>
                </a:solidFill>
                <a:latin typeface="Trebuchet MS"/>
                <a:cs typeface="Trebuchet MS"/>
              </a:rPr>
              <a:t>High-</a:t>
            </a:r>
            <a:r>
              <a:rPr dirty="0" sz="3050" spc="110">
                <a:solidFill>
                  <a:srgbClr val="171717"/>
                </a:solidFill>
                <a:latin typeface="Trebuchet MS"/>
                <a:cs typeface="Trebuchet MS"/>
              </a:rPr>
              <a:t>Risk</a:t>
            </a:r>
            <a:r>
              <a:rPr dirty="0" sz="305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60">
                <a:solidFill>
                  <a:srgbClr val="171717"/>
                </a:solidFill>
                <a:latin typeface="Trebuchet MS"/>
                <a:cs typeface="Trebuchet MS"/>
              </a:rPr>
              <a:t>buckets.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985850" y="6765250"/>
            <a:ext cx="634873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8585">
              <a:lnSpc>
                <a:spcPct val="114799"/>
              </a:lnSpc>
              <a:spcBef>
                <a:spcPts val="100"/>
              </a:spcBef>
            </a:pPr>
            <a:r>
              <a:rPr dirty="0" sz="3050" spc="110">
                <a:solidFill>
                  <a:srgbClr val="171717"/>
                </a:solidFill>
                <a:latin typeface="Trebuchet MS"/>
                <a:cs typeface="Trebuchet MS"/>
              </a:rPr>
              <a:t>Construct</a:t>
            </a:r>
            <a:r>
              <a:rPr dirty="0" sz="3050" spc="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171717"/>
                </a:solidFill>
                <a:latin typeface="Trebuchet MS"/>
                <a:cs typeface="Trebuchet MS"/>
              </a:rPr>
              <a:t>portfolios</a:t>
            </a:r>
            <a:r>
              <a:rPr dirty="0" sz="3050" spc="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180">
                <a:solidFill>
                  <a:srgbClr val="171717"/>
                </a:solidFill>
                <a:latin typeface="Trebuchet MS"/>
                <a:cs typeface="Trebuchet MS"/>
              </a:rPr>
              <a:t>based</a:t>
            </a:r>
            <a:r>
              <a:rPr dirty="0" sz="3050" spc="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135">
                <a:solidFill>
                  <a:srgbClr val="171717"/>
                </a:solidFill>
                <a:latin typeface="Trebuchet MS"/>
                <a:cs typeface="Trebuchet MS"/>
              </a:rPr>
              <a:t>on</a:t>
            </a:r>
            <a:r>
              <a:rPr dirty="0" sz="3050" spc="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40">
                <a:solidFill>
                  <a:srgbClr val="171717"/>
                </a:solidFill>
                <a:latin typeface="Trebuchet MS"/>
                <a:cs typeface="Trebuchet MS"/>
              </a:rPr>
              <a:t>risk </a:t>
            </a:r>
            <a:r>
              <a:rPr dirty="0" sz="3050" spc="50">
                <a:solidFill>
                  <a:srgbClr val="171717"/>
                </a:solidFill>
                <a:latin typeface="Trebuchet MS"/>
                <a:cs typeface="Trebuchet MS"/>
              </a:rPr>
              <a:t>categories.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985850" y="8279724"/>
            <a:ext cx="630745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8585">
              <a:lnSpc>
                <a:spcPct val="114799"/>
              </a:lnSpc>
              <a:spcBef>
                <a:spcPts val="100"/>
              </a:spcBef>
            </a:pPr>
            <a:r>
              <a:rPr dirty="0" sz="3050" spc="50">
                <a:solidFill>
                  <a:srgbClr val="171717"/>
                </a:solidFill>
                <a:latin typeface="Trebuchet MS"/>
                <a:cs typeface="Trebuchet MS"/>
              </a:rPr>
              <a:t>Predict</a:t>
            </a:r>
            <a:r>
              <a:rPr dirty="0" sz="305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95">
                <a:solidFill>
                  <a:srgbClr val="171717"/>
                </a:solidFill>
                <a:latin typeface="Trebuchet MS"/>
                <a:cs typeface="Trebuchet MS"/>
              </a:rPr>
              <a:t>expected</a:t>
            </a:r>
            <a:r>
              <a:rPr dirty="0" sz="3050" spc="-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65">
                <a:solidFill>
                  <a:srgbClr val="171717"/>
                </a:solidFill>
                <a:latin typeface="Trebuchet MS"/>
                <a:cs typeface="Trebuchet MS"/>
              </a:rPr>
              <a:t>returns</a:t>
            </a:r>
            <a:r>
              <a:rPr dirty="0" sz="3050" spc="-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3050" spc="-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50" spc="105">
                <a:solidFill>
                  <a:srgbClr val="171717"/>
                </a:solidFill>
                <a:latin typeface="Trebuchet MS"/>
                <a:cs typeface="Trebuchet MS"/>
              </a:rPr>
              <a:t>each </a:t>
            </a:r>
            <a:r>
              <a:rPr dirty="0" sz="3050" spc="-10">
                <a:solidFill>
                  <a:srgbClr val="171717"/>
                </a:solidFill>
                <a:latin typeface="Trebuchet MS"/>
                <a:cs typeface="Trebuchet MS"/>
              </a:rPr>
              <a:t>portfolio.</a:t>
            </a:r>
            <a:endParaRPr sz="305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35553" y="2907795"/>
            <a:ext cx="9452446" cy="68865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74434" y="4560929"/>
            <a:ext cx="7661909" cy="16541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100" spc="125">
                <a:solidFill>
                  <a:srgbClr val="171717"/>
                </a:solidFill>
                <a:latin typeface="Trebuchet MS"/>
                <a:cs typeface="Trebuchet MS"/>
              </a:rPr>
              <a:t>risks</a:t>
            </a:r>
            <a:r>
              <a:rPr dirty="0" sz="31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20">
                <a:solidFill>
                  <a:srgbClr val="171717"/>
                </a:solidFill>
                <a:latin typeface="Trebuchet MS"/>
                <a:cs typeface="Trebuchet MS"/>
              </a:rPr>
              <a:t>vary</a:t>
            </a:r>
            <a:r>
              <a:rPr dirty="0" sz="31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71717"/>
                </a:solidFill>
                <a:latin typeface="Trebuchet MS"/>
                <a:cs typeface="Trebuchet MS"/>
              </a:rPr>
              <a:t>widely.</a:t>
            </a:r>
            <a:endParaRPr sz="31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dirty="0" sz="3100" spc="125">
                <a:solidFill>
                  <a:srgbClr val="171717"/>
                </a:solidFill>
                <a:latin typeface="Trebuchet MS"/>
                <a:cs typeface="Trebuchet MS"/>
              </a:rPr>
              <a:t>Investors</a:t>
            </a:r>
            <a:r>
              <a:rPr dirty="0" sz="310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14">
                <a:solidFill>
                  <a:srgbClr val="171717"/>
                </a:solidFill>
                <a:latin typeface="Trebuchet MS"/>
                <a:cs typeface="Trebuchet MS"/>
              </a:rPr>
              <a:t>need</a:t>
            </a:r>
            <a:r>
              <a:rPr dirty="0" sz="310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71717"/>
                </a:solidFill>
                <a:latin typeface="Trebuchet MS"/>
                <a:cs typeface="Trebuchet MS"/>
              </a:rPr>
              <a:t>clarity</a:t>
            </a:r>
            <a:r>
              <a:rPr dirty="0" sz="310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35">
                <a:solidFill>
                  <a:srgbClr val="171717"/>
                </a:solidFill>
                <a:latin typeface="Trebuchet MS"/>
                <a:cs typeface="Trebuchet MS"/>
              </a:rPr>
              <a:t>on</a:t>
            </a:r>
            <a:r>
              <a:rPr dirty="0" sz="31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55">
                <a:solidFill>
                  <a:srgbClr val="171717"/>
                </a:solidFill>
                <a:latin typeface="Trebuchet MS"/>
                <a:cs typeface="Trebuchet MS"/>
              </a:rPr>
              <a:t>how</a:t>
            </a:r>
            <a:r>
              <a:rPr dirty="0" sz="310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25">
                <a:solidFill>
                  <a:srgbClr val="171717"/>
                </a:solidFill>
                <a:latin typeface="Trebuchet MS"/>
                <a:cs typeface="Trebuchet MS"/>
              </a:rPr>
              <a:t>each</a:t>
            </a:r>
            <a:r>
              <a:rPr dirty="0" sz="3100" spc="-5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171717"/>
                </a:solidFill>
                <a:latin typeface="Trebuchet MS"/>
                <a:cs typeface="Trebuchet MS"/>
              </a:rPr>
              <a:t>stock </a:t>
            </a:r>
            <a:r>
              <a:rPr dirty="0" sz="3100" spc="90">
                <a:solidFill>
                  <a:srgbClr val="171717"/>
                </a:solidFill>
                <a:latin typeface="Trebuchet MS"/>
                <a:cs typeface="Trebuchet MS"/>
              </a:rPr>
              <a:t>impacts</a:t>
            </a:r>
            <a:r>
              <a:rPr dirty="0" sz="3100" spc="6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71717"/>
                </a:solidFill>
                <a:latin typeface="Trebuchet MS"/>
                <a:cs typeface="Trebuchet MS"/>
              </a:rPr>
              <a:t>overall</a:t>
            </a:r>
            <a:r>
              <a:rPr dirty="0" sz="3100" spc="7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71717"/>
                </a:solidFill>
                <a:latin typeface="Trebuchet MS"/>
                <a:cs typeface="Trebuchet MS"/>
              </a:rPr>
              <a:t>portfolio</a:t>
            </a:r>
            <a:r>
              <a:rPr dirty="0" sz="3100" spc="7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71717"/>
                </a:solidFill>
                <a:latin typeface="Trebuchet MS"/>
                <a:cs typeface="Trebuchet MS"/>
              </a:rPr>
              <a:t>risk.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4434" y="6832427"/>
            <a:ext cx="358076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50" b="1">
                <a:solidFill>
                  <a:srgbClr val="171717"/>
                </a:solidFill>
                <a:latin typeface="Tahoma"/>
                <a:cs typeface="Tahoma"/>
              </a:rPr>
              <a:t>Project</a:t>
            </a:r>
            <a:r>
              <a:rPr dirty="0" sz="3300" spc="-18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300" spc="-10" b="1">
                <a:solidFill>
                  <a:srgbClr val="171717"/>
                </a:solidFill>
                <a:latin typeface="Tahoma"/>
                <a:cs typeface="Tahoma"/>
              </a:rPr>
              <a:t>Objective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4434" y="7870537"/>
            <a:ext cx="8042909" cy="1597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3000" spc="165">
                <a:solidFill>
                  <a:srgbClr val="171717"/>
                </a:solidFill>
                <a:latin typeface="Trebuchet MS"/>
                <a:cs typeface="Trebuchet MS"/>
              </a:rPr>
              <a:t>To</a:t>
            </a:r>
            <a:r>
              <a:rPr dirty="0" sz="30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75">
                <a:solidFill>
                  <a:srgbClr val="171717"/>
                </a:solidFill>
                <a:latin typeface="Trebuchet MS"/>
                <a:cs typeface="Trebuchet MS"/>
              </a:rPr>
              <a:t>use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50">
                <a:solidFill>
                  <a:srgbClr val="171717"/>
                </a:solidFill>
                <a:latin typeface="Trebuchet MS"/>
                <a:cs typeface="Trebuchet MS"/>
              </a:rPr>
              <a:t>Machine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85">
                <a:solidFill>
                  <a:srgbClr val="171717"/>
                </a:solidFill>
                <a:latin typeface="Trebuchet MS"/>
                <a:cs typeface="Trebuchet MS"/>
              </a:rPr>
              <a:t>Learning</a:t>
            </a:r>
            <a:r>
              <a:rPr dirty="0" sz="30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70">
                <a:solidFill>
                  <a:srgbClr val="171717"/>
                </a:solidFill>
                <a:latin typeface="Trebuchet MS"/>
                <a:cs typeface="Trebuchet MS"/>
              </a:rPr>
              <a:t>(ML)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40">
                <a:solidFill>
                  <a:srgbClr val="171717"/>
                </a:solidFill>
                <a:latin typeface="Trebuchet MS"/>
                <a:cs typeface="Trebuchet MS"/>
              </a:rPr>
              <a:t>analyzing,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classifying,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30">
                <a:solidFill>
                  <a:srgbClr val="171717"/>
                </a:solidFill>
                <a:latin typeface="Trebuchet MS"/>
                <a:cs typeface="Trebuchet MS"/>
              </a:rPr>
              <a:t>and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55">
                <a:solidFill>
                  <a:srgbClr val="171717"/>
                </a:solidFill>
                <a:latin typeface="Trebuchet MS"/>
                <a:cs typeface="Trebuchet MS"/>
              </a:rPr>
              <a:t>predicting</a:t>
            </a:r>
            <a:r>
              <a:rPr dirty="0" sz="30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30">
                <a:solidFill>
                  <a:srgbClr val="171717"/>
                </a:solidFill>
                <a:latin typeface="Trebuchet MS"/>
                <a:cs typeface="Trebuchet MS"/>
              </a:rPr>
              <a:t>stock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risk</a:t>
            </a:r>
            <a:r>
              <a:rPr dirty="0" sz="30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05">
                <a:solidFill>
                  <a:srgbClr val="171717"/>
                </a:solidFill>
                <a:latin typeface="Trebuchet MS"/>
                <a:cs typeface="Trebuchet MS"/>
              </a:rPr>
              <a:t>and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returns</a:t>
            </a:r>
            <a:r>
              <a:rPr dirty="0" sz="30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in</a:t>
            </a:r>
            <a:r>
              <a:rPr dirty="0" sz="30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the</a:t>
            </a:r>
            <a:r>
              <a:rPr dirty="0" sz="30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75">
                <a:solidFill>
                  <a:srgbClr val="171717"/>
                </a:solidFill>
                <a:latin typeface="Trebuchet MS"/>
                <a:cs typeface="Trebuchet MS"/>
              </a:rPr>
              <a:t>NIFTY</a:t>
            </a:r>
            <a:r>
              <a:rPr dirty="0" sz="30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55">
                <a:solidFill>
                  <a:srgbClr val="171717"/>
                </a:solidFill>
                <a:latin typeface="Trebuchet MS"/>
                <a:cs typeface="Trebuchet MS"/>
              </a:rPr>
              <a:t>50.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74434" y="-12877"/>
            <a:ext cx="11478895" cy="15424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950" spc="-819"/>
              <a:t>P</a:t>
            </a:r>
            <a:r>
              <a:rPr dirty="0" sz="9950" spc="-745"/>
              <a:t>r</a:t>
            </a:r>
            <a:r>
              <a:rPr dirty="0" sz="9950" spc="-760"/>
              <a:t>o</a:t>
            </a:r>
            <a:r>
              <a:rPr dirty="0" sz="9950" spc="-825"/>
              <a:t>j</a:t>
            </a:r>
            <a:r>
              <a:rPr dirty="0" sz="9950" spc="-785"/>
              <a:t>ec</a:t>
            </a:r>
            <a:r>
              <a:rPr dirty="0" sz="9950" spc="-110"/>
              <a:t>t</a:t>
            </a:r>
            <a:r>
              <a:rPr dirty="0" sz="9950" spc="-2275"/>
              <a:t> </a:t>
            </a:r>
            <a:r>
              <a:rPr dirty="0" sz="9950" spc="-715"/>
              <a:t>O</a:t>
            </a:r>
            <a:r>
              <a:rPr dirty="0" sz="9950" spc="-685"/>
              <a:t>b</a:t>
            </a:r>
            <a:r>
              <a:rPr dirty="0" sz="9950" spc="-780"/>
              <a:t>j</a:t>
            </a:r>
            <a:r>
              <a:rPr dirty="0" sz="9950" spc="-740"/>
              <a:t>ec</a:t>
            </a:r>
            <a:r>
              <a:rPr dirty="0" sz="9950" spc="-685"/>
              <a:t>t</a:t>
            </a:r>
            <a:r>
              <a:rPr dirty="0" sz="9950" spc="-780"/>
              <a:t>i</a:t>
            </a:r>
            <a:r>
              <a:rPr dirty="0" sz="9950" spc="-725"/>
              <a:t>v</a:t>
            </a:r>
            <a:r>
              <a:rPr dirty="0" sz="9950" spc="-65"/>
              <a:t>e</a:t>
            </a:r>
            <a:r>
              <a:rPr dirty="0" sz="9950" spc="-2260"/>
              <a:t> </a:t>
            </a:r>
            <a:r>
              <a:rPr dirty="0" sz="9950" spc="-1645"/>
              <a:t>&amp;</a:t>
            </a:r>
            <a:endParaRPr sz="9950"/>
          </a:p>
        </p:txBody>
      </p:sp>
      <p:sp>
        <p:nvSpPr>
          <p:cNvPr id="20" name="object 20" descr=""/>
          <p:cNvSpPr txBox="1"/>
          <p:nvPr/>
        </p:nvSpPr>
        <p:spPr>
          <a:xfrm>
            <a:off x="274434" y="420564"/>
            <a:ext cx="11813540" cy="4166235"/>
          </a:xfrm>
          <a:prstGeom prst="rect">
            <a:avLst/>
          </a:prstGeom>
        </p:spPr>
        <p:txBody>
          <a:bodyPr wrap="square" lIns="0" tIns="779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40"/>
              </a:spcBef>
            </a:pPr>
            <a:r>
              <a:rPr dirty="0" sz="9950" spc="-770">
                <a:solidFill>
                  <a:srgbClr val="171717"/>
                </a:solidFill>
                <a:latin typeface="Arial Black"/>
                <a:cs typeface="Arial Black"/>
              </a:rPr>
              <a:t>P</a:t>
            </a:r>
            <a:r>
              <a:rPr dirty="0" sz="9950" spc="-695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sz="9950" spc="-710">
                <a:solidFill>
                  <a:srgbClr val="171717"/>
                </a:solidFill>
                <a:latin typeface="Arial Black"/>
                <a:cs typeface="Arial Black"/>
              </a:rPr>
              <a:t>o</a:t>
            </a:r>
            <a:r>
              <a:rPr dirty="0" sz="9950" spc="-680">
                <a:solidFill>
                  <a:srgbClr val="171717"/>
                </a:solidFill>
                <a:latin typeface="Arial Black"/>
                <a:cs typeface="Arial Black"/>
              </a:rPr>
              <a:t>b</a:t>
            </a:r>
            <a:r>
              <a:rPr dirty="0" sz="9950" spc="-775">
                <a:solidFill>
                  <a:srgbClr val="171717"/>
                </a:solidFill>
                <a:latin typeface="Arial Black"/>
                <a:cs typeface="Arial Black"/>
              </a:rPr>
              <a:t>l</a:t>
            </a:r>
            <a:r>
              <a:rPr dirty="0" sz="9950" spc="-735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9950" spc="-60">
                <a:solidFill>
                  <a:srgbClr val="171717"/>
                </a:solidFill>
                <a:latin typeface="Arial Black"/>
                <a:cs typeface="Arial Black"/>
              </a:rPr>
              <a:t>m</a:t>
            </a:r>
            <a:r>
              <a:rPr dirty="0" sz="9950" spc="-226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dirty="0" sz="9950" spc="-840">
                <a:solidFill>
                  <a:srgbClr val="171717"/>
                </a:solidFill>
                <a:latin typeface="Arial Black"/>
                <a:cs typeface="Arial Black"/>
              </a:rPr>
              <a:t>S</a:t>
            </a:r>
            <a:r>
              <a:rPr dirty="0" sz="9950" spc="-720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9950" spc="-785">
                <a:solidFill>
                  <a:srgbClr val="171717"/>
                </a:solidFill>
                <a:latin typeface="Arial Black"/>
                <a:cs typeface="Arial Black"/>
              </a:rPr>
              <a:t>a</a:t>
            </a:r>
            <a:r>
              <a:rPr dirty="0" sz="9950" spc="-720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9950" spc="-775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9950" spc="-745">
                <a:solidFill>
                  <a:srgbClr val="171717"/>
                </a:solidFill>
                <a:latin typeface="Arial Black"/>
                <a:cs typeface="Arial Black"/>
              </a:rPr>
              <a:t>m</a:t>
            </a:r>
            <a:r>
              <a:rPr dirty="0" sz="9950" spc="-775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9950" spc="-760">
                <a:solidFill>
                  <a:srgbClr val="171717"/>
                </a:solidFill>
                <a:latin typeface="Arial Black"/>
                <a:cs typeface="Arial Black"/>
              </a:rPr>
              <a:t>n</a:t>
            </a:r>
            <a:r>
              <a:rPr dirty="0" sz="9950" spc="-100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endParaRPr sz="9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3300" spc="-55" b="1">
                <a:solidFill>
                  <a:srgbClr val="171717"/>
                </a:solidFill>
                <a:latin typeface="Tahoma"/>
                <a:cs typeface="Tahoma"/>
              </a:rPr>
              <a:t>Problem</a:t>
            </a:r>
            <a:r>
              <a:rPr dirty="0" sz="3300" spc="-20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300" spc="-10" b="1">
                <a:solidFill>
                  <a:srgbClr val="171717"/>
                </a:solidFill>
                <a:latin typeface="Tahoma"/>
                <a:cs typeface="Tahoma"/>
              </a:rPr>
              <a:t>Context</a:t>
            </a:r>
            <a:endParaRPr sz="3300">
              <a:latin typeface="Tahoma"/>
              <a:cs typeface="Tahoma"/>
            </a:endParaRPr>
          </a:p>
          <a:p>
            <a:pPr marL="9723755">
              <a:lnSpc>
                <a:spcPct val="100000"/>
              </a:lnSpc>
              <a:spcBef>
                <a:spcPts val="910"/>
              </a:spcBef>
            </a:pPr>
            <a:r>
              <a:rPr dirty="0" sz="3350" spc="-10" b="1">
                <a:solidFill>
                  <a:srgbClr val="171717"/>
                </a:solidFill>
                <a:latin typeface="Tahoma"/>
                <a:cs typeface="Tahoma"/>
              </a:rPr>
              <a:t>Key</a:t>
            </a:r>
            <a:r>
              <a:rPr dirty="0" sz="3350" spc="-22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350" spc="-10" b="1">
                <a:solidFill>
                  <a:srgbClr val="171717"/>
                </a:solidFill>
                <a:latin typeface="Tahoma"/>
                <a:cs typeface="Tahoma"/>
              </a:rPr>
              <a:t>Goals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3100">
                <a:solidFill>
                  <a:srgbClr val="171717"/>
                </a:solidFill>
                <a:latin typeface="Trebuchet MS"/>
                <a:cs typeface="Trebuchet MS"/>
              </a:rPr>
              <a:t>Financial</a:t>
            </a:r>
            <a:r>
              <a:rPr dirty="0" sz="3100" spc="1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90">
                <a:solidFill>
                  <a:srgbClr val="171717"/>
                </a:solidFill>
                <a:latin typeface="Trebuchet MS"/>
                <a:cs typeface="Trebuchet MS"/>
              </a:rPr>
              <a:t>markets</a:t>
            </a:r>
            <a:r>
              <a:rPr dirty="0" sz="3100" spc="1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60">
                <a:solidFill>
                  <a:srgbClr val="171717"/>
                </a:solidFill>
                <a:latin typeface="Trebuchet MS"/>
                <a:cs typeface="Trebuchet MS"/>
              </a:rPr>
              <a:t>are</a:t>
            </a:r>
            <a:r>
              <a:rPr dirty="0" sz="3100" spc="1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71717"/>
                </a:solidFill>
                <a:latin typeface="Trebuchet MS"/>
                <a:cs typeface="Trebuchet MS"/>
              </a:rPr>
              <a:t>uncertain,</a:t>
            </a:r>
            <a:r>
              <a:rPr dirty="0" sz="3100" spc="2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171717"/>
                </a:solidFill>
                <a:latin typeface="Trebuchet MS"/>
                <a:cs typeface="Trebuchet MS"/>
              </a:rPr>
              <a:t>and</a:t>
            </a:r>
            <a:r>
              <a:rPr dirty="0" sz="3100" spc="1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171717"/>
                </a:solidFill>
                <a:latin typeface="Trebuchet MS"/>
                <a:cs typeface="Trebuchet MS"/>
              </a:rPr>
              <a:t>stock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1041" y="181746"/>
            <a:ext cx="2294354" cy="258718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1114143" y="0"/>
            <a:ext cx="3633470" cy="2886075"/>
            <a:chOff x="11114143" y="0"/>
            <a:chExt cx="3633470" cy="288607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32281" y="2436889"/>
              <a:ext cx="449724" cy="44901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14143" y="0"/>
              <a:ext cx="3633075" cy="2598691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45972" y="3115594"/>
            <a:ext cx="9263180" cy="5523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650" spc="-925">
                <a:solidFill>
                  <a:srgbClr val="F1EDE9"/>
                </a:solidFill>
              </a:rPr>
              <a:t>D</a:t>
            </a:r>
            <a:r>
              <a:rPr dirty="0" sz="11650" spc="-955">
                <a:solidFill>
                  <a:srgbClr val="F1EDE9"/>
                </a:solidFill>
              </a:rPr>
              <a:t>a</a:t>
            </a:r>
            <a:r>
              <a:rPr dirty="0" sz="11650" spc="-880">
                <a:solidFill>
                  <a:srgbClr val="F1EDE9"/>
                </a:solidFill>
              </a:rPr>
              <a:t>t</a:t>
            </a:r>
            <a:r>
              <a:rPr dirty="0" sz="11650" spc="-155">
                <a:solidFill>
                  <a:srgbClr val="F1EDE9"/>
                </a:solidFill>
              </a:rPr>
              <a:t>a</a:t>
            </a:r>
            <a:r>
              <a:rPr dirty="0" sz="11650" spc="-2640">
                <a:solidFill>
                  <a:srgbClr val="F1EDE9"/>
                </a:solidFill>
              </a:rPr>
              <a:t> </a:t>
            </a:r>
            <a:r>
              <a:rPr dirty="0" sz="11650" spc="-885">
                <a:solidFill>
                  <a:srgbClr val="F1EDE9"/>
                </a:solidFill>
              </a:rPr>
              <a:t>O</a:t>
            </a:r>
            <a:r>
              <a:rPr dirty="0" sz="11650" spc="-894">
                <a:solidFill>
                  <a:srgbClr val="F1EDE9"/>
                </a:solidFill>
              </a:rPr>
              <a:t>v</a:t>
            </a:r>
            <a:r>
              <a:rPr dirty="0" sz="11650" spc="-910">
                <a:solidFill>
                  <a:srgbClr val="F1EDE9"/>
                </a:solidFill>
              </a:rPr>
              <a:t>e</a:t>
            </a:r>
            <a:r>
              <a:rPr dirty="0" sz="11650" spc="-865">
                <a:solidFill>
                  <a:srgbClr val="F1EDE9"/>
                </a:solidFill>
              </a:rPr>
              <a:t>r</a:t>
            </a:r>
            <a:r>
              <a:rPr dirty="0" sz="11650" spc="-894">
                <a:solidFill>
                  <a:srgbClr val="F1EDE9"/>
                </a:solidFill>
              </a:rPr>
              <a:t>v</a:t>
            </a:r>
            <a:r>
              <a:rPr dirty="0" sz="11650" spc="-965">
                <a:solidFill>
                  <a:srgbClr val="F1EDE9"/>
                </a:solidFill>
              </a:rPr>
              <a:t>i</a:t>
            </a:r>
            <a:r>
              <a:rPr dirty="0" sz="11650" spc="-910">
                <a:solidFill>
                  <a:srgbClr val="F1EDE9"/>
                </a:solidFill>
              </a:rPr>
              <a:t>e</a:t>
            </a:r>
            <a:r>
              <a:rPr dirty="0" sz="11650" spc="-125">
                <a:solidFill>
                  <a:srgbClr val="F1EDE9"/>
                </a:solidFill>
              </a:rPr>
              <a:t>w</a:t>
            </a:r>
            <a:endParaRPr sz="11650"/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323" y="3657844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323" y="4705594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323" y="6801094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261" y="7320206"/>
            <a:ext cx="123824" cy="123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9261" y="7844081"/>
            <a:ext cx="123824" cy="1238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261" y="8367956"/>
            <a:ext cx="123824" cy="12382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61353" y="2310691"/>
            <a:ext cx="8403590" cy="6322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3500" spc="-35" b="1">
                <a:solidFill>
                  <a:srgbClr val="F1EDE9"/>
                </a:solidFill>
                <a:latin typeface="Tahoma"/>
                <a:cs typeface="Tahoma"/>
              </a:rPr>
              <a:t>Dataset</a:t>
            </a:r>
            <a:r>
              <a:rPr dirty="0" sz="3500" spc="-204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500" spc="-10" b="1">
                <a:solidFill>
                  <a:srgbClr val="F1EDE9"/>
                </a:solidFill>
                <a:latin typeface="Tahoma"/>
                <a:cs typeface="Tahoma"/>
              </a:rPr>
              <a:t>Details</a:t>
            </a:r>
            <a:endParaRPr sz="3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3500">
              <a:latin typeface="Tahoma"/>
              <a:cs typeface="Tahoma"/>
            </a:endParaRPr>
          </a:p>
          <a:p>
            <a:pPr algn="just" marL="139700">
              <a:lnSpc>
                <a:spcPct val="100000"/>
              </a:lnSpc>
            </a:pPr>
            <a:r>
              <a:rPr dirty="0" sz="3000" spc="-70" b="1">
                <a:solidFill>
                  <a:srgbClr val="F1EDE9"/>
                </a:solidFill>
                <a:latin typeface="Tahoma"/>
                <a:cs typeface="Tahoma"/>
              </a:rPr>
              <a:t>Dataset:</a:t>
            </a:r>
            <a:r>
              <a:rPr dirty="0" sz="3000" spc="-17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000" spc="175">
                <a:solidFill>
                  <a:srgbClr val="F1EDE9"/>
                </a:solidFill>
                <a:latin typeface="Trebuchet MS"/>
                <a:cs typeface="Trebuchet MS"/>
              </a:rPr>
              <a:t>NIFTY</a:t>
            </a:r>
            <a:r>
              <a:rPr dirty="0" sz="30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265">
                <a:solidFill>
                  <a:srgbClr val="F1EDE9"/>
                </a:solidFill>
                <a:latin typeface="Trebuchet MS"/>
                <a:cs typeface="Trebuchet MS"/>
              </a:rPr>
              <a:t>50</a:t>
            </a:r>
            <a:r>
              <a:rPr dirty="0" sz="30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50">
                <a:solidFill>
                  <a:srgbClr val="F1EDE9"/>
                </a:solidFill>
                <a:latin typeface="Trebuchet MS"/>
                <a:cs typeface="Trebuchet MS"/>
              </a:rPr>
              <a:t>constituent</a:t>
            </a:r>
            <a:r>
              <a:rPr dirty="0" sz="30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130">
                <a:solidFill>
                  <a:srgbClr val="F1EDE9"/>
                </a:solidFill>
                <a:latin typeface="Trebuchet MS"/>
                <a:cs typeface="Trebuchet MS"/>
              </a:rPr>
              <a:t>stock</a:t>
            </a:r>
            <a:r>
              <a:rPr dirty="0" sz="30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50">
                <a:solidFill>
                  <a:srgbClr val="F1EDE9"/>
                </a:solidFill>
                <a:latin typeface="Trebuchet MS"/>
                <a:cs typeface="Trebuchet MS"/>
              </a:rPr>
              <a:t>data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3000">
              <a:latin typeface="Trebuchet MS"/>
              <a:cs typeface="Trebuchet MS"/>
            </a:endParaRPr>
          </a:p>
          <a:p>
            <a:pPr algn="just" marL="139700" marR="5080">
              <a:lnSpc>
                <a:spcPct val="114599"/>
              </a:lnSpc>
            </a:pPr>
            <a:r>
              <a:rPr dirty="0" sz="3000" b="1">
                <a:solidFill>
                  <a:srgbClr val="F1EDE9"/>
                </a:solidFill>
                <a:latin typeface="Tahoma"/>
                <a:cs typeface="Tahoma"/>
              </a:rPr>
              <a:t>Period</a:t>
            </a:r>
            <a:r>
              <a:rPr dirty="0" sz="3000" spc="5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F1EDE9"/>
                </a:solidFill>
                <a:latin typeface="Tahoma"/>
                <a:cs typeface="Tahoma"/>
              </a:rPr>
              <a:t>Covered:</a:t>
            </a:r>
            <a:r>
              <a:rPr dirty="0" sz="3000" spc="5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Historical</a:t>
            </a:r>
            <a:r>
              <a:rPr dirty="0" sz="3000" spc="7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70">
                <a:solidFill>
                  <a:srgbClr val="F1EDE9"/>
                </a:solidFill>
                <a:latin typeface="Trebuchet MS"/>
                <a:cs typeface="Trebuchet MS"/>
              </a:rPr>
              <a:t>data</a:t>
            </a:r>
            <a:r>
              <a:rPr dirty="0" sz="3000" spc="7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60">
                <a:solidFill>
                  <a:srgbClr val="F1EDE9"/>
                </a:solidFill>
                <a:latin typeface="Trebuchet MS"/>
                <a:cs typeface="Trebuchet MS"/>
              </a:rPr>
              <a:t>of</a:t>
            </a:r>
            <a:r>
              <a:rPr dirty="0" sz="3000" spc="71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last</a:t>
            </a:r>
            <a:r>
              <a:rPr dirty="0" sz="3000" spc="7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290">
                <a:solidFill>
                  <a:srgbClr val="F1EDE9"/>
                </a:solidFill>
                <a:latin typeface="Trebuchet MS"/>
                <a:cs typeface="Trebuchet MS"/>
              </a:rPr>
              <a:t>3–5 </a:t>
            </a:r>
            <a:r>
              <a:rPr dirty="0" sz="3000" spc="140">
                <a:solidFill>
                  <a:srgbClr val="F1EDE9"/>
                </a:solidFill>
                <a:latin typeface="Trebuchet MS"/>
                <a:cs typeface="Trebuchet MS"/>
              </a:rPr>
              <a:t>years</a:t>
            </a:r>
            <a:r>
              <a:rPr dirty="0" sz="3000" spc="204">
                <a:solidFill>
                  <a:srgbClr val="F1EDE9"/>
                </a:solidFill>
                <a:latin typeface="Trebuchet MS"/>
                <a:cs typeface="Trebuchet MS"/>
              </a:rPr>
              <a:t>   </a:t>
            </a:r>
            <a:r>
              <a:rPr dirty="0" sz="3000" spc="65">
                <a:solidFill>
                  <a:srgbClr val="F1EDE9"/>
                </a:solidFill>
                <a:latin typeface="Trebuchet MS"/>
                <a:cs typeface="Trebuchet MS"/>
              </a:rPr>
              <a:t>(customizable)</a:t>
            </a:r>
            <a:r>
              <a:rPr dirty="0" sz="3000" spc="210">
                <a:solidFill>
                  <a:srgbClr val="F1EDE9"/>
                </a:solidFill>
                <a:latin typeface="Trebuchet MS"/>
                <a:cs typeface="Trebuchet MS"/>
              </a:rPr>
              <a:t>  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for</a:t>
            </a:r>
            <a:r>
              <a:rPr dirty="0" sz="3000" spc="204">
                <a:solidFill>
                  <a:srgbClr val="F1EDE9"/>
                </a:solidFill>
                <a:latin typeface="Trebuchet MS"/>
                <a:cs typeface="Trebuchet MS"/>
              </a:rPr>
              <a:t>   </a:t>
            </a:r>
            <a:r>
              <a:rPr dirty="0" sz="3000" spc="170">
                <a:solidFill>
                  <a:srgbClr val="F1EDE9"/>
                </a:solidFill>
                <a:latin typeface="Trebuchet MS"/>
                <a:cs typeface="Trebuchet MS"/>
              </a:rPr>
              <a:t>some</a:t>
            </a:r>
            <a:r>
              <a:rPr dirty="0" sz="3000" spc="210">
                <a:solidFill>
                  <a:srgbClr val="F1EDE9"/>
                </a:solidFill>
                <a:latin typeface="Trebuchet MS"/>
                <a:cs typeface="Trebuchet MS"/>
              </a:rPr>
              <a:t>   </a:t>
            </a:r>
            <a:r>
              <a:rPr dirty="0" sz="3000" spc="35">
                <a:solidFill>
                  <a:srgbClr val="F1EDE9"/>
                </a:solidFill>
                <a:latin typeface="Trebuchet MS"/>
                <a:cs typeface="Trebuchet MS"/>
              </a:rPr>
              <a:t>unlisted </a:t>
            </a:r>
            <a:r>
              <a:rPr dirty="0" sz="3000" spc="95">
                <a:solidFill>
                  <a:srgbClr val="F1EDE9"/>
                </a:solidFill>
                <a:latin typeface="Trebuchet MS"/>
                <a:cs typeface="Trebuchet MS"/>
              </a:rPr>
              <a:t>values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000">
              <a:latin typeface="Trebuchet MS"/>
              <a:cs typeface="Trebuchet MS"/>
            </a:endParaRPr>
          </a:p>
          <a:p>
            <a:pPr algn="just" marL="139700">
              <a:lnSpc>
                <a:spcPct val="100000"/>
              </a:lnSpc>
            </a:pPr>
            <a:r>
              <a:rPr dirty="0" sz="3000" spc="-100" b="1">
                <a:solidFill>
                  <a:srgbClr val="F1EDE9"/>
                </a:solidFill>
                <a:latin typeface="Tahoma"/>
                <a:cs typeface="Tahoma"/>
              </a:rPr>
              <a:t>Data</a:t>
            </a:r>
            <a:r>
              <a:rPr dirty="0" sz="3000" spc="-1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000" spc="-10" b="1">
                <a:solidFill>
                  <a:srgbClr val="F1EDE9"/>
                </a:solidFill>
                <a:latin typeface="Tahoma"/>
                <a:cs typeface="Tahoma"/>
              </a:rPr>
              <a:t>Sources:</a:t>
            </a:r>
            <a:endParaRPr sz="3000">
              <a:latin typeface="Tahoma"/>
              <a:cs typeface="Tahoma"/>
            </a:endParaRPr>
          </a:p>
          <a:p>
            <a:pPr marL="787400" marR="3524885">
              <a:lnSpc>
                <a:spcPct val="114599"/>
              </a:lnSpc>
            </a:pPr>
            <a:r>
              <a:rPr dirty="0" sz="3000" spc="160">
                <a:solidFill>
                  <a:srgbClr val="F1EDE9"/>
                </a:solidFill>
                <a:latin typeface="Trebuchet MS"/>
                <a:cs typeface="Trebuchet MS"/>
              </a:rPr>
              <a:t>Yahoo</a:t>
            </a:r>
            <a:r>
              <a:rPr dirty="0" sz="30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85">
                <a:solidFill>
                  <a:srgbClr val="F1EDE9"/>
                </a:solidFill>
                <a:latin typeface="Trebuchet MS"/>
                <a:cs typeface="Trebuchet MS"/>
              </a:rPr>
              <a:t>Finance</a:t>
            </a:r>
            <a:r>
              <a:rPr dirty="0" sz="30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110">
                <a:solidFill>
                  <a:srgbClr val="F1EDE9"/>
                </a:solidFill>
                <a:latin typeface="Trebuchet MS"/>
                <a:cs typeface="Trebuchet MS"/>
              </a:rPr>
              <a:t>API </a:t>
            </a:r>
            <a:r>
              <a:rPr dirty="0" sz="3000" spc="325">
                <a:solidFill>
                  <a:srgbClr val="F1EDE9"/>
                </a:solidFill>
                <a:latin typeface="Trebuchet MS"/>
                <a:cs typeface="Trebuchet MS"/>
              </a:rPr>
              <a:t>NSE</a:t>
            </a:r>
            <a:r>
              <a:rPr dirty="0" sz="30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India</a:t>
            </a:r>
            <a:r>
              <a:rPr dirty="0" sz="30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(Official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70">
                <a:solidFill>
                  <a:srgbClr val="F1EDE9"/>
                </a:solidFill>
                <a:latin typeface="Trebuchet MS"/>
                <a:cs typeface="Trebuchet MS"/>
              </a:rPr>
              <a:t>API)</a:t>
            </a:r>
            <a:endParaRPr sz="3000">
              <a:latin typeface="Trebuchet MS"/>
              <a:cs typeface="Trebuchet MS"/>
            </a:endParaRPr>
          </a:p>
          <a:p>
            <a:pPr marL="787400">
              <a:lnSpc>
                <a:spcPct val="100000"/>
              </a:lnSpc>
              <a:spcBef>
                <a:spcPts val="525"/>
              </a:spcBef>
            </a:pPr>
            <a:r>
              <a:rPr dirty="0" sz="3000" spc="135">
                <a:solidFill>
                  <a:srgbClr val="F1EDE9"/>
                </a:solidFill>
                <a:latin typeface="Trebuchet MS"/>
                <a:cs typeface="Trebuchet MS"/>
              </a:rPr>
              <a:t>Manual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50">
                <a:solidFill>
                  <a:srgbClr val="F1EDE9"/>
                </a:solidFill>
                <a:latin typeface="Trebuchet MS"/>
                <a:cs typeface="Trebuchet MS"/>
              </a:rPr>
              <a:t>entries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for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F1EDE9"/>
                </a:solidFill>
                <a:latin typeface="Trebuchet MS"/>
                <a:cs typeface="Trebuchet MS"/>
              </a:rPr>
              <a:t>the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110">
                <a:solidFill>
                  <a:srgbClr val="F1EDE9"/>
                </a:solidFill>
                <a:latin typeface="Trebuchet MS"/>
                <a:cs typeface="Trebuchet MS"/>
              </a:rPr>
              <a:t>Company’s</a:t>
            </a:r>
            <a:r>
              <a:rPr dirty="0" sz="3000" spc="-1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000" spc="-20">
                <a:solidFill>
                  <a:srgbClr val="F1EDE9"/>
                </a:solidFill>
                <a:latin typeface="Trebuchet MS"/>
                <a:cs typeface="Trebuchet MS"/>
              </a:rPr>
              <a:t>Info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381" y="0"/>
            <a:ext cx="1744251" cy="163370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1214051" y="117442"/>
            <a:ext cx="1932305" cy="1609090"/>
            <a:chOff x="11214051" y="117442"/>
            <a:chExt cx="1932305" cy="160909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15731" y="1486880"/>
              <a:ext cx="239360" cy="23935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14051" y="117442"/>
              <a:ext cx="1932292" cy="145984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650" spc="-925">
                <a:solidFill>
                  <a:srgbClr val="000000"/>
                </a:solidFill>
              </a:rPr>
              <a:t>D</a:t>
            </a:r>
            <a:r>
              <a:rPr dirty="0" sz="11650" spc="-955">
                <a:solidFill>
                  <a:srgbClr val="000000"/>
                </a:solidFill>
              </a:rPr>
              <a:t>a</a:t>
            </a:r>
            <a:r>
              <a:rPr dirty="0" sz="11650" spc="-880">
                <a:solidFill>
                  <a:srgbClr val="000000"/>
                </a:solidFill>
              </a:rPr>
              <a:t>t</a:t>
            </a:r>
            <a:r>
              <a:rPr dirty="0" sz="11650" spc="-155">
                <a:solidFill>
                  <a:srgbClr val="000000"/>
                </a:solidFill>
              </a:rPr>
              <a:t>a</a:t>
            </a:r>
            <a:r>
              <a:rPr dirty="0" sz="11650" spc="-2640">
                <a:solidFill>
                  <a:srgbClr val="000000"/>
                </a:solidFill>
              </a:rPr>
              <a:t> </a:t>
            </a:r>
            <a:r>
              <a:rPr dirty="0" sz="11650" spc="-885">
                <a:solidFill>
                  <a:srgbClr val="000000"/>
                </a:solidFill>
              </a:rPr>
              <a:t>O</a:t>
            </a:r>
            <a:r>
              <a:rPr dirty="0" sz="11650" spc="-894">
                <a:solidFill>
                  <a:srgbClr val="000000"/>
                </a:solidFill>
              </a:rPr>
              <a:t>v</a:t>
            </a:r>
            <a:r>
              <a:rPr dirty="0" sz="11650" spc="-910">
                <a:solidFill>
                  <a:srgbClr val="000000"/>
                </a:solidFill>
              </a:rPr>
              <a:t>e</a:t>
            </a:r>
            <a:r>
              <a:rPr dirty="0" sz="11650" spc="-865">
                <a:solidFill>
                  <a:srgbClr val="000000"/>
                </a:solidFill>
              </a:rPr>
              <a:t>r</a:t>
            </a:r>
            <a:r>
              <a:rPr dirty="0" sz="11650" spc="-894">
                <a:solidFill>
                  <a:srgbClr val="000000"/>
                </a:solidFill>
              </a:rPr>
              <a:t>v</a:t>
            </a:r>
            <a:r>
              <a:rPr dirty="0" sz="11650" spc="-965">
                <a:solidFill>
                  <a:srgbClr val="000000"/>
                </a:solidFill>
              </a:rPr>
              <a:t>i</a:t>
            </a:r>
            <a:r>
              <a:rPr dirty="0" sz="11650" spc="-910">
                <a:solidFill>
                  <a:srgbClr val="000000"/>
                </a:solidFill>
              </a:rPr>
              <a:t>e</a:t>
            </a:r>
            <a:r>
              <a:rPr dirty="0" sz="11650" spc="-125">
                <a:solidFill>
                  <a:srgbClr val="000000"/>
                </a:solidFill>
              </a:rPr>
              <a:t>w</a:t>
            </a:r>
            <a:endParaRPr sz="11650"/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255" y="8782303"/>
            <a:ext cx="123825" cy="1238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255" y="9315703"/>
            <a:ext cx="123825" cy="1238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26656" y="7890501"/>
            <a:ext cx="14149705" cy="169545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400" spc="-10" b="1">
                <a:latin typeface="Tahoma"/>
                <a:cs typeface="Tahoma"/>
              </a:rPr>
              <a:t>Target</a:t>
            </a:r>
            <a:r>
              <a:rPr dirty="0" sz="3400" spc="-200" b="1">
                <a:latin typeface="Tahoma"/>
                <a:cs typeface="Tahoma"/>
              </a:rPr>
              <a:t> </a:t>
            </a:r>
            <a:r>
              <a:rPr dirty="0" sz="3400" spc="-10" b="1">
                <a:latin typeface="Tahoma"/>
                <a:cs typeface="Tahoma"/>
              </a:rPr>
              <a:t>Variables</a:t>
            </a:r>
            <a:endParaRPr sz="3400">
              <a:latin typeface="Tahoma"/>
              <a:cs typeface="Tahoma"/>
            </a:endParaRPr>
          </a:p>
          <a:p>
            <a:pPr marL="661035">
              <a:lnSpc>
                <a:spcPct val="100000"/>
              </a:lnSpc>
              <a:spcBef>
                <a:spcPts val="595"/>
              </a:spcBef>
            </a:pPr>
            <a:r>
              <a:rPr dirty="0" sz="3000" spc="-75" b="1">
                <a:latin typeface="Tahoma"/>
                <a:cs typeface="Tahoma"/>
              </a:rPr>
              <a:t>Risk</a:t>
            </a:r>
            <a:r>
              <a:rPr dirty="0" sz="3000" spc="-180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Category</a:t>
            </a:r>
            <a:r>
              <a:rPr dirty="0" sz="3000" spc="-180" b="1">
                <a:latin typeface="Tahoma"/>
                <a:cs typeface="Tahoma"/>
              </a:rPr>
              <a:t> </a:t>
            </a:r>
            <a:r>
              <a:rPr dirty="0" sz="3000" b="1">
                <a:latin typeface="Tahoma"/>
                <a:cs typeface="Tahoma"/>
              </a:rPr>
              <a:t>→</a:t>
            </a:r>
            <a:r>
              <a:rPr dirty="0" sz="3000" spc="-25" b="1">
                <a:latin typeface="Tahoma"/>
                <a:cs typeface="Tahoma"/>
              </a:rPr>
              <a:t> </a:t>
            </a:r>
            <a:r>
              <a:rPr dirty="0" sz="3000" spc="65">
                <a:latin typeface="Trebuchet MS"/>
                <a:cs typeface="Trebuchet MS"/>
              </a:rPr>
              <a:t>Classification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65">
                <a:latin typeface="Trebuchet MS"/>
                <a:cs typeface="Trebuchet MS"/>
              </a:rPr>
              <a:t>Label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120">
                <a:latin typeface="Trebuchet MS"/>
                <a:cs typeface="Trebuchet MS"/>
              </a:rPr>
              <a:t>(Low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-505">
                <a:latin typeface="Trebuchet MS"/>
                <a:cs typeface="Trebuchet MS"/>
              </a:rPr>
              <a:t>/</a:t>
            </a:r>
            <a:r>
              <a:rPr dirty="0" sz="3000" spc="-55">
                <a:latin typeface="Trebuchet MS"/>
                <a:cs typeface="Trebuchet MS"/>
              </a:rPr>
              <a:t> </a:t>
            </a:r>
            <a:r>
              <a:rPr dirty="0" sz="3000" spc="140">
                <a:latin typeface="Trebuchet MS"/>
                <a:cs typeface="Trebuchet MS"/>
              </a:rPr>
              <a:t>Moderate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-505">
                <a:latin typeface="Trebuchet MS"/>
                <a:cs typeface="Trebuchet MS"/>
              </a:rPr>
              <a:t>/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175">
                <a:latin typeface="Trebuchet MS"/>
                <a:cs typeface="Trebuchet MS"/>
              </a:rPr>
              <a:t>Aggressive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-505">
                <a:latin typeface="Trebuchet MS"/>
                <a:cs typeface="Trebuchet MS"/>
              </a:rPr>
              <a:t>/</a:t>
            </a:r>
            <a:r>
              <a:rPr dirty="0" sz="3000" spc="-50">
                <a:latin typeface="Trebuchet MS"/>
                <a:cs typeface="Trebuchet MS"/>
              </a:rPr>
              <a:t> </a:t>
            </a:r>
            <a:r>
              <a:rPr dirty="0" sz="3000" spc="85">
                <a:latin typeface="Trebuchet MS"/>
                <a:cs typeface="Trebuchet MS"/>
              </a:rPr>
              <a:t>High)</a:t>
            </a:r>
            <a:endParaRPr sz="3000">
              <a:latin typeface="Trebuchet MS"/>
              <a:cs typeface="Trebuchet MS"/>
            </a:endParaRPr>
          </a:p>
          <a:p>
            <a:pPr marL="661035">
              <a:lnSpc>
                <a:spcPct val="100000"/>
              </a:lnSpc>
              <a:spcBef>
                <a:spcPts val="600"/>
              </a:spcBef>
            </a:pPr>
            <a:r>
              <a:rPr dirty="0" sz="3000" spc="-10" b="1">
                <a:latin typeface="Tahoma"/>
                <a:cs typeface="Tahoma"/>
              </a:rPr>
              <a:t>Expected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80" b="1">
                <a:latin typeface="Tahoma"/>
                <a:cs typeface="Tahoma"/>
              </a:rPr>
              <a:t>Return</a:t>
            </a:r>
            <a:r>
              <a:rPr dirty="0" sz="3000" spc="-150" b="1">
                <a:latin typeface="Tahoma"/>
                <a:cs typeface="Tahoma"/>
              </a:rPr>
              <a:t> → </a:t>
            </a:r>
            <a:r>
              <a:rPr dirty="0" sz="3000" spc="60">
                <a:latin typeface="Trebuchet MS"/>
                <a:cs typeface="Trebuchet MS"/>
              </a:rPr>
              <a:t>Numerical</a:t>
            </a:r>
            <a:r>
              <a:rPr dirty="0" sz="3000" spc="-20">
                <a:latin typeface="Trebuchet MS"/>
                <a:cs typeface="Trebuchet MS"/>
              </a:rPr>
              <a:t> </a:t>
            </a:r>
            <a:r>
              <a:rPr dirty="0" sz="3000" spc="60">
                <a:latin typeface="Trebuchet MS"/>
                <a:cs typeface="Trebuchet MS"/>
              </a:rPr>
              <a:t>Output</a:t>
            </a:r>
            <a:r>
              <a:rPr dirty="0" sz="3000" spc="-15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for</a:t>
            </a:r>
            <a:r>
              <a:rPr dirty="0" sz="3000" spc="-20">
                <a:latin typeface="Trebuchet MS"/>
                <a:cs typeface="Trebuchet MS"/>
              </a:rPr>
              <a:t> </a:t>
            </a:r>
            <a:r>
              <a:rPr dirty="0" sz="3000" spc="145">
                <a:latin typeface="Trebuchet MS"/>
                <a:cs typeface="Trebuchet MS"/>
              </a:rPr>
              <a:t>Regression</a:t>
            </a:r>
            <a:r>
              <a:rPr dirty="0" sz="3000" spc="-20">
                <a:latin typeface="Trebuchet MS"/>
                <a:cs typeface="Trebuchet MS"/>
              </a:rPr>
              <a:t> </a:t>
            </a:r>
            <a:r>
              <a:rPr dirty="0" sz="3000" spc="190">
                <a:latin typeface="Trebuchet MS"/>
                <a:cs typeface="Trebuchet MS"/>
              </a:rPr>
              <a:t>Models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39356" y="1877808"/>
            <a:ext cx="8905240" cy="6021070"/>
          </a:xfrm>
          <a:custGeom>
            <a:avLst/>
            <a:gdLst/>
            <a:ahLst/>
            <a:cxnLst/>
            <a:rect l="l" t="t" r="r" b="b"/>
            <a:pathLst>
              <a:path w="8905240" h="6021070">
                <a:moveTo>
                  <a:pt x="8742717" y="6020940"/>
                </a:moveTo>
                <a:lnTo>
                  <a:pt x="161924" y="6020940"/>
                </a:lnTo>
                <a:lnTo>
                  <a:pt x="130187" y="6017800"/>
                </a:lnTo>
                <a:lnTo>
                  <a:pt x="72088" y="5993735"/>
                </a:lnTo>
                <a:lnTo>
                  <a:pt x="27205" y="5948851"/>
                </a:lnTo>
                <a:lnTo>
                  <a:pt x="3140" y="5890753"/>
                </a:lnTo>
                <a:lnTo>
                  <a:pt x="0" y="5859015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8742717" y="0"/>
                </a:lnTo>
                <a:lnTo>
                  <a:pt x="8804684" y="12325"/>
                </a:lnTo>
                <a:lnTo>
                  <a:pt x="8857216" y="47426"/>
                </a:lnTo>
                <a:lnTo>
                  <a:pt x="8892316" y="99959"/>
                </a:lnTo>
                <a:lnTo>
                  <a:pt x="8904642" y="161924"/>
                </a:lnTo>
                <a:lnTo>
                  <a:pt x="8904642" y="5859015"/>
                </a:lnTo>
                <a:lnTo>
                  <a:pt x="8892316" y="5920981"/>
                </a:lnTo>
                <a:lnTo>
                  <a:pt x="8857216" y="5973514"/>
                </a:lnTo>
                <a:lnTo>
                  <a:pt x="8804684" y="6008615"/>
                </a:lnTo>
                <a:lnTo>
                  <a:pt x="8742717" y="6020940"/>
                </a:lnTo>
                <a:close/>
              </a:path>
            </a:pathLst>
          </a:custGeom>
          <a:solidFill>
            <a:srgbClr val="F1ED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64756" y="1858586"/>
            <a:ext cx="7806690" cy="332422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3600" spc="-280">
                <a:latin typeface="Arial Black"/>
                <a:cs typeface="Arial Black"/>
              </a:rPr>
              <a:t>Features</a:t>
            </a:r>
            <a:r>
              <a:rPr dirty="0" sz="3600" spc="-355">
                <a:latin typeface="Arial Black"/>
                <a:cs typeface="Arial Black"/>
              </a:rPr>
              <a:t> </a:t>
            </a:r>
            <a:r>
              <a:rPr dirty="0" sz="3600" spc="-110">
                <a:latin typeface="Arial Black"/>
                <a:cs typeface="Arial Black"/>
              </a:rPr>
              <a:t>Considered</a:t>
            </a:r>
            <a:endParaRPr sz="3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3000" spc="-215">
                <a:latin typeface="Arial Black"/>
                <a:cs typeface="Arial Black"/>
              </a:rPr>
              <a:t>Market</a:t>
            </a:r>
            <a:r>
              <a:rPr dirty="0" sz="3000" spc="-254">
                <a:latin typeface="Arial Black"/>
                <a:cs typeface="Arial Black"/>
              </a:rPr>
              <a:t> </a:t>
            </a:r>
            <a:r>
              <a:rPr dirty="0" sz="3000" spc="-125">
                <a:latin typeface="Arial Black"/>
                <a:cs typeface="Arial Black"/>
              </a:rPr>
              <a:t>Variables: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3000" spc="-95">
                <a:latin typeface="Verdana"/>
                <a:cs typeface="Verdana"/>
              </a:rPr>
              <a:t>Open,</a:t>
            </a:r>
            <a:r>
              <a:rPr dirty="0" sz="3000" spc="-280">
                <a:latin typeface="Verdana"/>
                <a:cs typeface="Verdana"/>
              </a:rPr>
              <a:t> </a:t>
            </a:r>
            <a:r>
              <a:rPr dirty="0" sz="3000" spc="-85">
                <a:latin typeface="Verdana"/>
                <a:cs typeface="Verdana"/>
              </a:rPr>
              <a:t>Close,</a:t>
            </a:r>
            <a:r>
              <a:rPr dirty="0" sz="3000" spc="-275">
                <a:latin typeface="Verdana"/>
                <a:cs typeface="Verdana"/>
              </a:rPr>
              <a:t> </a:t>
            </a:r>
            <a:r>
              <a:rPr dirty="0" sz="3000" spc="-125">
                <a:latin typeface="Verdana"/>
                <a:cs typeface="Verdana"/>
              </a:rPr>
              <a:t>Volume,</a:t>
            </a:r>
            <a:r>
              <a:rPr dirty="0" sz="3000" spc="-275">
                <a:latin typeface="Verdana"/>
                <a:cs typeface="Verdana"/>
              </a:rPr>
              <a:t> </a:t>
            </a:r>
            <a:r>
              <a:rPr dirty="0" sz="3000" spc="-70">
                <a:latin typeface="Verdana"/>
                <a:cs typeface="Verdana"/>
              </a:rPr>
              <a:t>Market</a:t>
            </a:r>
            <a:r>
              <a:rPr dirty="0" sz="3000" spc="-275">
                <a:latin typeface="Verdana"/>
                <a:cs typeface="Verdana"/>
              </a:rPr>
              <a:t> </a:t>
            </a:r>
            <a:r>
              <a:rPr dirty="0" sz="3000" spc="-130">
                <a:latin typeface="Verdana"/>
                <a:cs typeface="Verdana"/>
              </a:rPr>
              <a:t>Cap,</a:t>
            </a:r>
            <a:r>
              <a:rPr dirty="0" sz="3000" spc="-275">
                <a:latin typeface="Verdana"/>
                <a:cs typeface="Verdana"/>
              </a:rPr>
              <a:t> </a:t>
            </a:r>
            <a:r>
              <a:rPr dirty="0" sz="3000">
                <a:latin typeface="Verdana"/>
                <a:cs typeface="Verdana"/>
              </a:rPr>
              <a:t>PE</a:t>
            </a:r>
            <a:r>
              <a:rPr dirty="0" sz="3000" spc="-275">
                <a:latin typeface="Verdana"/>
                <a:cs typeface="Verdana"/>
              </a:rPr>
              <a:t> </a:t>
            </a:r>
            <a:r>
              <a:rPr dirty="0" sz="3000" spc="-10">
                <a:latin typeface="Verdana"/>
                <a:cs typeface="Verdana"/>
              </a:rPr>
              <a:t>Ratio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3000" spc="-310">
                <a:latin typeface="Arial Black"/>
                <a:cs typeface="Arial Black"/>
              </a:rPr>
              <a:t>Risk</a:t>
            </a:r>
            <a:r>
              <a:rPr dirty="0" sz="3000" spc="-280">
                <a:latin typeface="Arial Black"/>
                <a:cs typeface="Arial Black"/>
              </a:rPr>
              <a:t> </a:t>
            </a:r>
            <a:r>
              <a:rPr dirty="0" sz="3000" spc="-130">
                <a:latin typeface="Arial Black"/>
                <a:cs typeface="Arial Black"/>
              </a:rPr>
              <a:t>Variables: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3000" spc="-95">
                <a:latin typeface="Verdana"/>
                <a:cs typeface="Verdana"/>
              </a:rPr>
              <a:t>Beta,</a:t>
            </a:r>
            <a:r>
              <a:rPr dirty="0" sz="3000" spc="-270">
                <a:latin typeface="Verdana"/>
                <a:cs typeface="Verdana"/>
              </a:rPr>
              <a:t> </a:t>
            </a:r>
            <a:r>
              <a:rPr dirty="0" sz="3000" spc="-85">
                <a:latin typeface="Verdana"/>
                <a:cs typeface="Verdana"/>
              </a:rPr>
              <a:t>Volatility,</a:t>
            </a:r>
            <a:r>
              <a:rPr dirty="0" sz="3000" spc="-270">
                <a:latin typeface="Verdana"/>
                <a:cs typeface="Verdana"/>
              </a:rPr>
              <a:t> </a:t>
            </a:r>
            <a:r>
              <a:rPr dirty="0" sz="3000" spc="-95">
                <a:latin typeface="Verdana"/>
                <a:cs typeface="Verdana"/>
              </a:rPr>
              <a:t>Sharpe</a:t>
            </a:r>
            <a:r>
              <a:rPr dirty="0" sz="3000" spc="-270">
                <a:latin typeface="Verdana"/>
                <a:cs typeface="Verdana"/>
              </a:rPr>
              <a:t> </a:t>
            </a:r>
            <a:r>
              <a:rPr dirty="0" sz="3000" spc="-110">
                <a:latin typeface="Verdana"/>
                <a:cs typeface="Verdana"/>
              </a:rPr>
              <a:t>Ratio,</a:t>
            </a:r>
            <a:r>
              <a:rPr dirty="0" sz="3000" spc="-270">
                <a:latin typeface="Verdana"/>
                <a:cs typeface="Verdana"/>
              </a:rPr>
              <a:t> </a:t>
            </a:r>
            <a:r>
              <a:rPr dirty="0" sz="3000" spc="-20">
                <a:latin typeface="Verdana"/>
                <a:cs typeface="Verdana"/>
              </a:rPr>
              <a:t>VWAP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08423" y="6271469"/>
            <a:ext cx="13106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">
                <a:latin typeface="Verdana"/>
                <a:cs typeface="Verdana"/>
              </a:rPr>
              <a:t>Annual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4756" y="5680805"/>
            <a:ext cx="7220584" cy="159702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000" spc="-160">
                <a:latin typeface="Arial Black"/>
                <a:cs typeface="Arial Black"/>
              </a:rPr>
              <a:t>Derived</a:t>
            </a:r>
            <a:r>
              <a:rPr dirty="0" sz="3000" spc="-229">
                <a:latin typeface="Arial Black"/>
                <a:cs typeface="Arial Black"/>
              </a:rPr>
              <a:t> </a:t>
            </a:r>
            <a:r>
              <a:rPr dirty="0" sz="3000" spc="-65">
                <a:latin typeface="Arial Black"/>
                <a:cs typeface="Arial Black"/>
              </a:rPr>
              <a:t>Metrics:</a:t>
            </a:r>
            <a:endParaRPr sz="3000">
              <a:latin typeface="Arial Black"/>
              <a:cs typeface="Arial Black"/>
            </a:endParaRPr>
          </a:p>
          <a:p>
            <a:pPr marL="12700" marR="5080">
              <a:lnSpc>
                <a:spcPct val="114599"/>
              </a:lnSpc>
              <a:tabLst>
                <a:tab pos="1291590" algn="l"/>
                <a:tab pos="3175000" algn="l"/>
                <a:tab pos="4573905" algn="l"/>
              </a:tabLst>
            </a:pPr>
            <a:r>
              <a:rPr dirty="0" sz="3000" spc="-10">
                <a:latin typeface="Verdana"/>
                <a:cs typeface="Verdana"/>
              </a:rPr>
              <a:t>Daily</a:t>
            </a:r>
            <a:r>
              <a:rPr dirty="0" sz="3000">
                <a:latin typeface="Verdana"/>
                <a:cs typeface="Verdana"/>
              </a:rPr>
              <a:t>	</a:t>
            </a:r>
            <a:r>
              <a:rPr dirty="0" sz="3000" spc="-10">
                <a:latin typeface="Verdana"/>
                <a:cs typeface="Verdana"/>
              </a:rPr>
              <a:t>Returns,</a:t>
            </a:r>
            <a:r>
              <a:rPr dirty="0" sz="3000">
                <a:latin typeface="Verdana"/>
                <a:cs typeface="Verdana"/>
              </a:rPr>
              <a:t>	</a:t>
            </a:r>
            <a:r>
              <a:rPr dirty="0" sz="3000" spc="-20">
                <a:latin typeface="Verdana"/>
                <a:cs typeface="Verdana"/>
              </a:rPr>
              <a:t>CAGR</a:t>
            </a:r>
            <a:r>
              <a:rPr dirty="0" sz="3000">
                <a:latin typeface="Verdana"/>
                <a:cs typeface="Verdana"/>
              </a:rPr>
              <a:t>	</a:t>
            </a:r>
            <a:r>
              <a:rPr dirty="0" sz="3000" spc="-55">
                <a:latin typeface="Verdana"/>
                <a:cs typeface="Verdana"/>
              </a:rPr>
              <a:t>(Compounded </a:t>
            </a:r>
            <a:r>
              <a:rPr dirty="0" sz="3000" spc="-60">
                <a:latin typeface="Verdana"/>
                <a:cs typeface="Verdana"/>
              </a:rPr>
              <a:t>Growth</a:t>
            </a:r>
            <a:r>
              <a:rPr dirty="0" sz="3000" spc="-265">
                <a:latin typeface="Verdana"/>
                <a:cs typeface="Verdana"/>
              </a:rPr>
              <a:t> </a:t>
            </a:r>
            <a:r>
              <a:rPr dirty="0" sz="3000" spc="-180">
                <a:latin typeface="Verdana"/>
                <a:cs typeface="Verdana"/>
              </a:rPr>
              <a:t>Rate),</a:t>
            </a:r>
            <a:r>
              <a:rPr dirty="0" sz="3000" spc="-265">
                <a:latin typeface="Verdana"/>
                <a:cs typeface="Verdana"/>
              </a:rPr>
              <a:t> </a:t>
            </a:r>
            <a:r>
              <a:rPr dirty="0" sz="3000" spc="-80">
                <a:latin typeface="Verdana"/>
                <a:cs typeface="Verdana"/>
              </a:rPr>
              <a:t>Standard</a:t>
            </a:r>
            <a:r>
              <a:rPr dirty="0" sz="3000" spc="-265">
                <a:latin typeface="Verdana"/>
                <a:cs typeface="Verdana"/>
              </a:rPr>
              <a:t> </a:t>
            </a:r>
            <a:r>
              <a:rPr dirty="0" sz="3000" spc="-10">
                <a:latin typeface="Verdana"/>
                <a:cs typeface="Verdana"/>
              </a:rPr>
              <a:t>Deviation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13675" y="2017607"/>
            <a:ext cx="8674323" cy="5523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1" y="7761124"/>
            <a:ext cx="3394075" cy="2526030"/>
            <a:chOff x="-1" y="7761124"/>
            <a:chExt cx="3394075" cy="25260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8128" y="9119562"/>
              <a:ext cx="1457406" cy="116743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-1" y="7761124"/>
              <a:ext cx="3394075" cy="2526030"/>
            </a:xfrm>
            <a:custGeom>
              <a:avLst/>
              <a:gdLst/>
              <a:ahLst/>
              <a:cxnLst/>
              <a:rect l="l" t="t" r="r" b="b"/>
              <a:pathLst>
                <a:path w="3394075" h="2526029">
                  <a:moveTo>
                    <a:pt x="3258213" y="2525875"/>
                  </a:moveTo>
                  <a:lnTo>
                    <a:pt x="0" y="2525875"/>
                  </a:lnTo>
                  <a:lnTo>
                    <a:pt x="0" y="868393"/>
                  </a:lnTo>
                  <a:lnTo>
                    <a:pt x="21810" y="834000"/>
                  </a:lnTo>
                  <a:lnTo>
                    <a:pt x="46823" y="796566"/>
                  </a:lnTo>
                  <a:lnTo>
                    <a:pt x="72742" y="759762"/>
                  </a:lnTo>
                  <a:lnTo>
                    <a:pt x="99562" y="723600"/>
                  </a:lnTo>
                  <a:lnTo>
                    <a:pt x="127258" y="688112"/>
                  </a:lnTo>
                  <a:lnTo>
                    <a:pt x="155820" y="653309"/>
                  </a:lnTo>
                  <a:lnTo>
                    <a:pt x="185223" y="619223"/>
                  </a:lnTo>
                  <a:lnTo>
                    <a:pt x="215457" y="585864"/>
                  </a:lnTo>
                  <a:lnTo>
                    <a:pt x="246498" y="553262"/>
                  </a:lnTo>
                  <a:lnTo>
                    <a:pt x="278334" y="521426"/>
                  </a:lnTo>
                  <a:lnTo>
                    <a:pt x="310937" y="490386"/>
                  </a:lnTo>
                  <a:lnTo>
                    <a:pt x="344296" y="460151"/>
                  </a:lnTo>
                  <a:lnTo>
                    <a:pt x="378382" y="430749"/>
                  </a:lnTo>
                  <a:lnTo>
                    <a:pt x="413184" y="402187"/>
                  </a:lnTo>
                  <a:lnTo>
                    <a:pt x="448671" y="374492"/>
                  </a:lnTo>
                  <a:lnTo>
                    <a:pt x="484833" y="347672"/>
                  </a:lnTo>
                  <a:lnTo>
                    <a:pt x="521637" y="321752"/>
                  </a:lnTo>
                  <a:lnTo>
                    <a:pt x="559072" y="296739"/>
                  </a:lnTo>
                  <a:lnTo>
                    <a:pt x="597103" y="272655"/>
                  </a:lnTo>
                  <a:lnTo>
                    <a:pt x="635718" y="249509"/>
                  </a:lnTo>
                  <a:lnTo>
                    <a:pt x="674886" y="227322"/>
                  </a:lnTo>
                  <a:lnTo>
                    <a:pt x="714594" y="206099"/>
                  </a:lnTo>
                  <a:lnTo>
                    <a:pt x="754802" y="185859"/>
                  </a:lnTo>
                  <a:lnTo>
                    <a:pt x="795502" y="166609"/>
                  </a:lnTo>
                  <a:lnTo>
                    <a:pt x="836656" y="148367"/>
                  </a:lnTo>
                  <a:lnTo>
                    <a:pt x="878252" y="131138"/>
                  </a:lnTo>
                  <a:lnTo>
                    <a:pt x="920253" y="114937"/>
                  </a:lnTo>
                  <a:lnTo>
                    <a:pt x="962644" y="99770"/>
                  </a:lnTo>
                  <a:lnTo>
                    <a:pt x="1005386" y="85649"/>
                  </a:lnTo>
                  <a:lnTo>
                    <a:pt x="1048470" y="72580"/>
                  </a:lnTo>
                  <a:lnTo>
                    <a:pt x="1091853" y="60574"/>
                  </a:lnTo>
                  <a:lnTo>
                    <a:pt x="1135524" y="49635"/>
                  </a:lnTo>
                  <a:lnTo>
                    <a:pt x="1179446" y="39772"/>
                  </a:lnTo>
                  <a:lnTo>
                    <a:pt x="1223605" y="30988"/>
                  </a:lnTo>
                  <a:lnTo>
                    <a:pt x="1267958" y="23292"/>
                  </a:lnTo>
                  <a:lnTo>
                    <a:pt x="1312492" y="16686"/>
                  </a:lnTo>
                  <a:lnTo>
                    <a:pt x="1357170" y="11176"/>
                  </a:lnTo>
                  <a:lnTo>
                    <a:pt x="1401975" y="6763"/>
                  </a:lnTo>
                  <a:lnTo>
                    <a:pt x="1446869" y="3452"/>
                  </a:lnTo>
                  <a:lnTo>
                    <a:pt x="1491838" y="1242"/>
                  </a:lnTo>
                  <a:lnTo>
                    <a:pt x="1536840" y="138"/>
                  </a:lnTo>
                  <a:lnTo>
                    <a:pt x="1559351" y="0"/>
                  </a:lnTo>
                  <a:lnTo>
                    <a:pt x="1581862" y="138"/>
                  </a:lnTo>
                  <a:lnTo>
                    <a:pt x="1626863" y="1242"/>
                  </a:lnTo>
                  <a:lnTo>
                    <a:pt x="1671830" y="3452"/>
                  </a:lnTo>
                  <a:lnTo>
                    <a:pt x="1716720" y="6763"/>
                  </a:lnTo>
                  <a:lnTo>
                    <a:pt x="1761525" y="11176"/>
                  </a:lnTo>
                  <a:lnTo>
                    <a:pt x="1806203" y="16686"/>
                  </a:lnTo>
                  <a:lnTo>
                    <a:pt x="1850739" y="23292"/>
                  </a:lnTo>
                  <a:lnTo>
                    <a:pt x="1895092" y="30988"/>
                  </a:lnTo>
                  <a:lnTo>
                    <a:pt x="1939250" y="39772"/>
                  </a:lnTo>
                  <a:lnTo>
                    <a:pt x="1983172" y="49635"/>
                  </a:lnTo>
                  <a:lnTo>
                    <a:pt x="2026845" y="60574"/>
                  </a:lnTo>
                  <a:lnTo>
                    <a:pt x="2070227" y="72580"/>
                  </a:lnTo>
                  <a:lnTo>
                    <a:pt x="2113311" y="85649"/>
                  </a:lnTo>
                  <a:lnTo>
                    <a:pt x="2156056" y="99770"/>
                  </a:lnTo>
                  <a:lnTo>
                    <a:pt x="2198446" y="114937"/>
                  </a:lnTo>
                  <a:lnTo>
                    <a:pt x="2240445" y="131138"/>
                  </a:lnTo>
                  <a:lnTo>
                    <a:pt x="2282040" y="148367"/>
                  </a:lnTo>
                  <a:lnTo>
                    <a:pt x="2323194" y="166609"/>
                  </a:lnTo>
                  <a:lnTo>
                    <a:pt x="2363895" y="185859"/>
                  </a:lnTo>
                  <a:lnTo>
                    <a:pt x="2404104" y="206099"/>
                  </a:lnTo>
                  <a:lnTo>
                    <a:pt x="2443810" y="227322"/>
                  </a:lnTo>
                  <a:lnTo>
                    <a:pt x="2482976" y="249509"/>
                  </a:lnTo>
                  <a:lnTo>
                    <a:pt x="2521593" y="272655"/>
                  </a:lnTo>
                  <a:lnTo>
                    <a:pt x="2559625" y="296739"/>
                  </a:lnTo>
                  <a:lnTo>
                    <a:pt x="2597059" y="321752"/>
                  </a:lnTo>
                  <a:lnTo>
                    <a:pt x="2633864" y="347672"/>
                  </a:lnTo>
                  <a:lnTo>
                    <a:pt x="2670029" y="374492"/>
                  </a:lnTo>
                  <a:lnTo>
                    <a:pt x="2705516" y="402187"/>
                  </a:lnTo>
                  <a:lnTo>
                    <a:pt x="2740319" y="430749"/>
                  </a:lnTo>
                  <a:lnTo>
                    <a:pt x="2774404" y="460151"/>
                  </a:lnTo>
                  <a:lnTo>
                    <a:pt x="2807763" y="490386"/>
                  </a:lnTo>
                  <a:lnTo>
                    <a:pt x="2840366" y="521426"/>
                  </a:lnTo>
                  <a:lnTo>
                    <a:pt x="2872201" y="553262"/>
                  </a:lnTo>
                  <a:lnTo>
                    <a:pt x="2903242" y="585864"/>
                  </a:lnTo>
                  <a:lnTo>
                    <a:pt x="2933478" y="619223"/>
                  </a:lnTo>
                  <a:lnTo>
                    <a:pt x="2962881" y="653309"/>
                  </a:lnTo>
                  <a:lnTo>
                    <a:pt x="2991442" y="688112"/>
                  </a:lnTo>
                  <a:lnTo>
                    <a:pt x="3019135" y="723600"/>
                  </a:lnTo>
                  <a:lnTo>
                    <a:pt x="3045954" y="759762"/>
                  </a:lnTo>
                  <a:lnTo>
                    <a:pt x="3071874" y="796566"/>
                  </a:lnTo>
                  <a:lnTo>
                    <a:pt x="3096888" y="834000"/>
                  </a:lnTo>
                  <a:lnTo>
                    <a:pt x="3120972" y="872032"/>
                  </a:lnTo>
                  <a:lnTo>
                    <a:pt x="3144118" y="910649"/>
                  </a:lnTo>
                  <a:lnTo>
                    <a:pt x="3166307" y="949817"/>
                  </a:lnTo>
                  <a:lnTo>
                    <a:pt x="3187530" y="989523"/>
                  </a:lnTo>
                  <a:lnTo>
                    <a:pt x="3207768" y="1029732"/>
                  </a:lnTo>
                  <a:lnTo>
                    <a:pt x="3227017" y="1070431"/>
                  </a:lnTo>
                  <a:lnTo>
                    <a:pt x="3245260" y="1111585"/>
                  </a:lnTo>
                  <a:lnTo>
                    <a:pt x="3262490" y="1153180"/>
                  </a:lnTo>
                  <a:lnTo>
                    <a:pt x="3278691" y="1195179"/>
                  </a:lnTo>
                  <a:lnTo>
                    <a:pt x="3293858" y="1237569"/>
                  </a:lnTo>
                  <a:lnTo>
                    <a:pt x="3307979" y="1280313"/>
                  </a:lnTo>
                  <a:lnTo>
                    <a:pt x="3321047" y="1323397"/>
                  </a:lnTo>
                  <a:lnTo>
                    <a:pt x="3333053" y="1366782"/>
                  </a:lnTo>
                  <a:lnTo>
                    <a:pt x="3343993" y="1410454"/>
                  </a:lnTo>
                  <a:lnTo>
                    <a:pt x="3353856" y="1454376"/>
                  </a:lnTo>
                  <a:lnTo>
                    <a:pt x="3362639" y="1498533"/>
                  </a:lnTo>
                  <a:lnTo>
                    <a:pt x="3370333" y="1542886"/>
                  </a:lnTo>
                  <a:lnTo>
                    <a:pt x="3376940" y="1587421"/>
                  </a:lnTo>
                  <a:lnTo>
                    <a:pt x="3382452" y="1632098"/>
                  </a:lnTo>
                  <a:lnTo>
                    <a:pt x="3386865" y="1676904"/>
                  </a:lnTo>
                  <a:lnTo>
                    <a:pt x="3390176" y="1721797"/>
                  </a:lnTo>
                  <a:lnTo>
                    <a:pt x="3392385" y="1766765"/>
                  </a:lnTo>
                  <a:lnTo>
                    <a:pt x="3393491" y="1811767"/>
                  </a:lnTo>
                  <a:lnTo>
                    <a:pt x="3393630" y="1834278"/>
                  </a:lnTo>
                  <a:lnTo>
                    <a:pt x="3393491" y="1856789"/>
                  </a:lnTo>
                  <a:lnTo>
                    <a:pt x="3392385" y="1901792"/>
                  </a:lnTo>
                  <a:lnTo>
                    <a:pt x="3390176" y="1946759"/>
                  </a:lnTo>
                  <a:lnTo>
                    <a:pt x="3386865" y="1991652"/>
                  </a:lnTo>
                  <a:lnTo>
                    <a:pt x="3382452" y="2036458"/>
                  </a:lnTo>
                  <a:lnTo>
                    <a:pt x="3376940" y="2081135"/>
                  </a:lnTo>
                  <a:lnTo>
                    <a:pt x="3370333" y="2125669"/>
                  </a:lnTo>
                  <a:lnTo>
                    <a:pt x="3362639" y="2170022"/>
                  </a:lnTo>
                  <a:lnTo>
                    <a:pt x="3353856" y="2214179"/>
                  </a:lnTo>
                  <a:lnTo>
                    <a:pt x="3343993" y="2258100"/>
                  </a:lnTo>
                  <a:lnTo>
                    <a:pt x="3333053" y="2301774"/>
                  </a:lnTo>
                  <a:lnTo>
                    <a:pt x="3321047" y="2345159"/>
                  </a:lnTo>
                  <a:lnTo>
                    <a:pt x="3307978" y="2388243"/>
                  </a:lnTo>
                  <a:lnTo>
                    <a:pt x="3293856" y="2430986"/>
                  </a:lnTo>
                  <a:lnTo>
                    <a:pt x="3278688" y="2473376"/>
                  </a:lnTo>
                  <a:lnTo>
                    <a:pt x="3262487" y="2515375"/>
                  </a:lnTo>
                  <a:lnTo>
                    <a:pt x="3258213" y="2525875"/>
                  </a:lnTo>
                  <a:close/>
                </a:path>
              </a:pathLst>
            </a:custGeom>
            <a:solidFill>
              <a:srgbClr val="8166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98" y="8709820"/>
              <a:ext cx="1694500" cy="1577178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6591" y="3463359"/>
            <a:ext cx="123825" cy="1238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6591" y="5092134"/>
            <a:ext cx="123825" cy="1238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6591" y="6177984"/>
            <a:ext cx="123825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6591" y="7263834"/>
            <a:ext cx="123825" cy="12382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31466" y="2047341"/>
            <a:ext cx="17100550" cy="5488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80" b="1">
                <a:solidFill>
                  <a:srgbClr val="F1EDE9"/>
                </a:solidFill>
                <a:latin typeface="Tahoma"/>
                <a:cs typeface="Tahoma"/>
              </a:rPr>
              <a:t>Risk</a:t>
            </a:r>
            <a:r>
              <a:rPr dirty="0" sz="3400" spc="-18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400" b="1">
                <a:solidFill>
                  <a:srgbClr val="F1EDE9"/>
                </a:solidFill>
                <a:latin typeface="Tahoma"/>
                <a:cs typeface="Tahoma"/>
              </a:rPr>
              <a:t>Classification</a:t>
            </a:r>
            <a:r>
              <a:rPr dirty="0" sz="34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F1EDE9"/>
                </a:solidFill>
                <a:latin typeface="Tahoma"/>
                <a:cs typeface="Tahoma"/>
              </a:rPr>
              <a:t>Phase</a:t>
            </a:r>
            <a:r>
              <a:rPr dirty="0" sz="3400" spc="-18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400" spc="-20" b="1">
                <a:solidFill>
                  <a:srgbClr val="F1EDE9"/>
                </a:solidFill>
                <a:latin typeface="Tahoma"/>
                <a:cs typeface="Tahoma"/>
              </a:rPr>
              <a:t>(Supervised</a:t>
            </a:r>
            <a:r>
              <a:rPr dirty="0" sz="34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F1EDE9"/>
                </a:solidFill>
                <a:latin typeface="Tahoma"/>
                <a:cs typeface="Tahoma"/>
              </a:rPr>
              <a:t>Classification)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3400">
              <a:latin typeface="Tahoma"/>
              <a:cs typeface="Tahoma"/>
            </a:endParaRPr>
          </a:p>
          <a:p>
            <a:pPr marL="681355" marR="5080">
              <a:lnSpc>
                <a:spcPct val="114900"/>
              </a:lnSpc>
            </a:pPr>
            <a:r>
              <a:rPr dirty="0" sz="3100" spc="-55" b="1">
                <a:solidFill>
                  <a:srgbClr val="F1EDE9"/>
                </a:solidFill>
                <a:latin typeface="Tahoma"/>
                <a:cs typeface="Tahoma"/>
              </a:rPr>
              <a:t>Objective:</a:t>
            </a:r>
            <a:r>
              <a:rPr dirty="0" sz="31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105">
                <a:solidFill>
                  <a:srgbClr val="F1EDE9"/>
                </a:solidFill>
                <a:latin typeface="Trebuchet MS"/>
                <a:cs typeface="Trebuchet MS"/>
              </a:rPr>
              <a:t>Categorize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25">
                <a:solidFill>
                  <a:srgbClr val="F1EDE9"/>
                </a:solidFill>
                <a:latin typeface="Trebuchet MS"/>
                <a:cs typeface="Trebuchet MS"/>
              </a:rPr>
              <a:t>each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Nifty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270">
                <a:solidFill>
                  <a:srgbClr val="F1EDE9"/>
                </a:solidFill>
                <a:latin typeface="Trebuchet MS"/>
                <a:cs typeface="Trebuchet MS"/>
              </a:rPr>
              <a:t>50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40">
                <a:solidFill>
                  <a:srgbClr val="F1EDE9"/>
                </a:solidFill>
                <a:latin typeface="Trebuchet MS"/>
                <a:cs typeface="Trebuchet MS"/>
              </a:rPr>
              <a:t>stock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into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55">
                <a:solidFill>
                  <a:srgbClr val="F1EDE9"/>
                </a:solidFill>
                <a:latin typeface="Trebuchet MS"/>
                <a:cs typeface="Trebuchet MS"/>
              </a:rPr>
              <a:t>Low,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95">
                <a:solidFill>
                  <a:srgbClr val="F1EDE9"/>
                </a:solidFill>
                <a:latin typeface="Trebuchet MS"/>
                <a:cs typeface="Trebuchet MS"/>
              </a:rPr>
              <a:t>Moderate,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40">
                <a:solidFill>
                  <a:srgbClr val="F1EDE9"/>
                </a:solidFill>
                <a:latin typeface="Trebuchet MS"/>
                <a:cs typeface="Trebuchet MS"/>
              </a:rPr>
              <a:t>Aggressive,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80">
                <a:solidFill>
                  <a:srgbClr val="F1EDE9"/>
                </a:solidFill>
                <a:latin typeface="Trebuchet MS"/>
                <a:cs typeface="Trebuchet MS"/>
              </a:rPr>
              <a:t>or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60">
                <a:solidFill>
                  <a:srgbClr val="F1EDE9"/>
                </a:solidFill>
                <a:latin typeface="Trebuchet MS"/>
                <a:cs typeface="Trebuchet MS"/>
              </a:rPr>
              <a:t>High-</a:t>
            </a:r>
            <a:r>
              <a:rPr dirty="0" sz="3100" spc="100">
                <a:solidFill>
                  <a:srgbClr val="F1EDE9"/>
                </a:solidFill>
                <a:latin typeface="Trebuchet MS"/>
                <a:cs typeface="Trebuchet MS"/>
              </a:rPr>
              <a:t>Risk groups.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3100">
              <a:latin typeface="Trebuchet MS"/>
              <a:cs typeface="Trebuchet MS"/>
            </a:endParaRPr>
          </a:p>
          <a:p>
            <a:pPr marL="681355">
              <a:lnSpc>
                <a:spcPct val="100000"/>
              </a:lnSpc>
            </a:pPr>
            <a:r>
              <a:rPr dirty="0" sz="3100" spc="-30" b="1">
                <a:solidFill>
                  <a:srgbClr val="F1EDE9"/>
                </a:solidFill>
                <a:latin typeface="Tahoma"/>
                <a:cs typeface="Tahoma"/>
              </a:rPr>
              <a:t>Criteria:</a:t>
            </a: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200">
                <a:solidFill>
                  <a:srgbClr val="F1EDE9"/>
                </a:solidFill>
                <a:latin typeface="Trebuchet MS"/>
                <a:cs typeface="Trebuchet MS"/>
              </a:rPr>
              <a:t>Based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35">
                <a:solidFill>
                  <a:srgbClr val="F1EDE9"/>
                </a:solidFill>
                <a:latin typeface="Trebuchet MS"/>
                <a:cs typeface="Trebuchet MS"/>
              </a:rPr>
              <a:t>on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historical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volatility, </a:t>
            </a:r>
            <a:r>
              <a:rPr dirty="0" sz="3100" spc="90">
                <a:solidFill>
                  <a:srgbClr val="F1EDE9"/>
                </a:solidFill>
                <a:latin typeface="Trebuchet MS"/>
                <a:cs typeface="Trebuchet MS"/>
              </a:rPr>
              <a:t>Beta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55">
                <a:solidFill>
                  <a:srgbClr val="F1EDE9"/>
                </a:solidFill>
                <a:latin typeface="Trebuchet MS"/>
                <a:cs typeface="Trebuchet MS"/>
              </a:rPr>
              <a:t>values,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F1EDE9"/>
                </a:solidFill>
                <a:latin typeface="Trebuchet MS"/>
                <a:cs typeface="Trebuchet MS"/>
              </a:rPr>
              <a:t>and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25">
                <a:solidFill>
                  <a:srgbClr val="F1EDE9"/>
                </a:solidFill>
                <a:latin typeface="Trebuchet MS"/>
                <a:cs typeface="Trebuchet MS"/>
              </a:rPr>
              <a:t>past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return</a:t>
            </a:r>
            <a:r>
              <a:rPr dirty="0" sz="31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F1EDE9"/>
                </a:solidFill>
                <a:latin typeface="Trebuchet MS"/>
                <a:cs typeface="Trebuchet MS"/>
              </a:rPr>
              <a:t>patterns.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3100">
              <a:latin typeface="Trebuchet MS"/>
              <a:cs typeface="Trebuchet MS"/>
            </a:endParaRPr>
          </a:p>
          <a:p>
            <a:pPr marL="681355">
              <a:lnSpc>
                <a:spcPct val="100000"/>
              </a:lnSpc>
            </a:pP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Model</a:t>
            </a:r>
            <a:r>
              <a:rPr dirty="0" sz="3100" spc="-19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F1EDE9"/>
                </a:solidFill>
                <a:latin typeface="Tahoma"/>
                <a:cs typeface="Tahoma"/>
              </a:rPr>
              <a:t>Used:</a:t>
            </a:r>
            <a:r>
              <a:rPr dirty="0" sz="3100" spc="-4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140">
                <a:solidFill>
                  <a:srgbClr val="F1EDE9"/>
                </a:solidFill>
                <a:latin typeface="Trebuchet MS"/>
                <a:cs typeface="Trebuchet MS"/>
              </a:rPr>
              <a:t>Random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14">
                <a:solidFill>
                  <a:srgbClr val="F1EDE9"/>
                </a:solidFill>
                <a:latin typeface="Trebuchet MS"/>
                <a:cs typeface="Trebuchet MS"/>
              </a:rPr>
              <a:t>Forest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75">
                <a:solidFill>
                  <a:srgbClr val="F1EDE9"/>
                </a:solidFill>
                <a:latin typeface="Trebuchet MS"/>
                <a:cs typeface="Trebuchet MS"/>
              </a:rPr>
              <a:t>Classifier</a:t>
            </a:r>
            <a:r>
              <a:rPr dirty="0" sz="3100" spc="-6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(for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25">
                <a:solidFill>
                  <a:srgbClr val="F1EDE9"/>
                </a:solidFill>
                <a:latin typeface="Trebuchet MS"/>
                <a:cs typeface="Trebuchet MS"/>
              </a:rPr>
              <a:t>accuracy</a:t>
            </a:r>
            <a:r>
              <a:rPr dirty="0" sz="3100" spc="-6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F1EDE9"/>
                </a:solidFill>
                <a:latin typeface="Trebuchet MS"/>
                <a:cs typeface="Trebuchet MS"/>
              </a:rPr>
              <a:t>and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F1EDE9"/>
                </a:solidFill>
                <a:latin typeface="Trebuchet MS"/>
                <a:cs typeface="Trebuchet MS"/>
              </a:rPr>
              <a:t>interpretability).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3100">
              <a:latin typeface="Trebuchet MS"/>
              <a:cs typeface="Trebuchet MS"/>
            </a:endParaRPr>
          </a:p>
          <a:p>
            <a:pPr marL="681355">
              <a:lnSpc>
                <a:spcPct val="100000"/>
              </a:lnSpc>
            </a:pPr>
            <a:r>
              <a:rPr dirty="0" sz="3100" spc="-30" b="1">
                <a:solidFill>
                  <a:srgbClr val="F1EDE9"/>
                </a:solidFill>
                <a:latin typeface="Tahoma"/>
                <a:cs typeface="Tahoma"/>
              </a:rPr>
              <a:t>Outcome:</a:t>
            </a:r>
            <a:r>
              <a:rPr dirty="0" sz="3100" spc="-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75">
                <a:solidFill>
                  <a:srgbClr val="F1EDE9"/>
                </a:solidFill>
                <a:latin typeface="Trebuchet MS"/>
                <a:cs typeface="Trebuchet MS"/>
              </a:rPr>
              <a:t>Clear</a:t>
            </a:r>
            <a:r>
              <a:rPr dirty="0" sz="31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90">
                <a:solidFill>
                  <a:srgbClr val="F1EDE9"/>
                </a:solidFill>
                <a:latin typeface="Trebuchet MS"/>
                <a:cs typeface="Trebuchet MS"/>
              </a:rPr>
              <a:t>segmentation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70">
                <a:solidFill>
                  <a:srgbClr val="F1EDE9"/>
                </a:solidFill>
                <a:latin typeface="Trebuchet MS"/>
                <a:cs typeface="Trebuchet MS"/>
              </a:rPr>
              <a:t>of</a:t>
            </a:r>
            <a:r>
              <a:rPr dirty="0" sz="31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75">
                <a:solidFill>
                  <a:srgbClr val="F1EDE9"/>
                </a:solidFill>
                <a:latin typeface="Trebuchet MS"/>
                <a:cs typeface="Trebuchet MS"/>
              </a:rPr>
              <a:t>stocks</a:t>
            </a:r>
            <a:r>
              <a:rPr dirty="0" sz="31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90">
                <a:solidFill>
                  <a:srgbClr val="F1EDE9"/>
                </a:solidFill>
                <a:latin typeface="Trebuchet MS"/>
                <a:cs typeface="Trebuchet MS"/>
              </a:rPr>
              <a:t>by</a:t>
            </a:r>
            <a:r>
              <a:rPr dirty="0" sz="31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70">
                <a:solidFill>
                  <a:srgbClr val="F1EDE9"/>
                </a:solidFill>
                <a:latin typeface="Trebuchet MS"/>
                <a:cs typeface="Trebuchet MS"/>
              </a:rPr>
              <a:t>risk</a:t>
            </a:r>
            <a:r>
              <a:rPr dirty="0" sz="31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F1EDE9"/>
                </a:solidFill>
                <a:latin typeface="Trebuchet MS"/>
                <a:cs typeface="Trebuchet MS"/>
              </a:rPr>
              <a:t>profile.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dirty="0" spc="-740">
                <a:solidFill>
                  <a:srgbClr val="F1EDE9"/>
                </a:solidFill>
              </a:rPr>
              <a:t>M</a:t>
            </a:r>
            <a:r>
              <a:rPr dirty="0" spc="-750">
                <a:solidFill>
                  <a:srgbClr val="F1EDE9"/>
                </a:solidFill>
              </a:rPr>
              <a:t>e</a:t>
            </a:r>
            <a:r>
              <a:rPr dirty="0" spc="-695">
                <a:solidFill>
                  <a:srgbClr val="F1EDE9"/>
                </a:solidFill>
              </a:rPr>
              <a:t>t</a:t>
            </a:r>
            <a:r>
              <a:rPr dirty="0" spc="-735">
                <a:solidFill>
                  <a:srgbClr val="F1EDE9"/>
                </a:solidFill>
              </a:rPr>
              <a:t>h</a:t>
            </a:r>
            <a:r>
              <a:rPr dirty="0" spc="-725">
                <a:solidFill>
                  <a:srgbClr val="F1EDE9"/>
                </a:solidFill>
              </a:rPr>
              <a:t>o</a:t>
            </a:r>
            <a:r>
              <a:rPr dirty="0" spc="-695">
                <a:solidFill>
                  <a:srgbClr val="F1EDE9"/>
                </a:solidFill>
              </a:rPr>
              <a:t>d</a:t>
            </a:r>
            <a:r>
              <a:rPr dirty="0" spc="-725">
                <a:solidFill>
                  <a:srgbClr val="F1EDE9"/>
                </a:solidFill>
              </a:rPr>
              <a:t>o</a:t>
            </a:r>
            <a:r>
              <a:rPr dirty="0" spc="-800">
                <a:solidFill>
                  <a:srgbClr val="F1EDE9"/>
                </a:solidFill>
              </a:rPr>
              <a:t>l</a:t>
            </a:r>
            <a:r>
              <a:rPr dirty="0" spc="-725">
                <a:solidFill>
                  <a:srgbClr val="F1EDE9"/>
                </a:solidFill>
              </a:rPr>
              <a:t>o</a:t>
            </a:r>
            <a:r>
              <a:rPr dirty="0" spc="-715">
                <a:solidFill>
                  <a:srgbClr val="F1EDE9"/>
                </a:solidFill>
              </a:rPr>
              <a:t>g</a:t>
            </a:r>
            <a:r>
              <a:rPr dirty="0" spc="-10">
                <a:solidFill>
                  <a:srgbClr val="F1EDE9"/>
                </a:solidFill>
              </a:rPr>
              <a:t>y</a:t>
            </a:r>
            <a:r>
              <a:rPr dirty="0" spc="-2490">
                <a:solidFill>
                  <a:srgbClr val="F1EDE9"/>
                </a:solidFill>
              </a:rPr>
              <a:t> </a:t>
            </a:r>
            <a:r>
              <a:rPr dirty="0" spc="-850">
                <a:solidFill>
                  <a:srgbClr val="F1EDE9"/>
                </a:solidFill>
              </a:rPr>
              <a:t>Ov</a:t>
            </a:r>
            <a:r>
              <a:rPr dirty="0" spc="-865">
                <a:solidFill>
                  <a:srgbClr val="F1EDE9"/>
                </a:solidFill>
              </a:rPr>
              <a:t>e</a:t>
            </a:r>
            <a:r>
              <a:rPr dirty="0" spc="-819">
                <a:solidFill>
                  <a:srgbClr val="F1EDE9"/>
                </a:solidFill>
              </a:rPr>
              <a:t>r</a:t>
            </a:r>
            <a:r>
              <a:rPr dirty="0" spc="-850">
                <a:solidFill>
                  <a:srgbClr val="F1EDE9"/>
                </a:solidFill>
              </a:rPr>
              <a:t>v</a:t>
            </a:r>
            <a:r>
              <a:rPr dirty="0" spc="-915">
                <a:solidFill>
                  <a:srgbClr val="F1EDE9"/>
                </a:solidFill>
              </a:rPr>
              <a:t>i</a:t>
            </a:r>
            <a:r>
              <a:rPr dirty="0" spc="-865">
                <a:solidFill>
                  <a:srgbClr val="F1EDE9"/>
                </a:solidFill>
              </a:rPr>
              <a:t>e</a:t>
            </a:r>
            <a:r>
              <a:rPr dirty="0" spc="-125">
                <a:solidFill>
                  <a:srgbClr val="F1EDE9"/>
                </a:solidFill>
              </a:rPr>
              <a:t>w</a:t>
            </a:r>
          </a:p>
        </p:txBody>
      </p:sp>
      <p:grpSp>
        <p:nvGrpSpPr>
          <p:cNvPr id="13" name="object 13" descr=""/>
          <p:cNvGrpSpPr/>
          <p:nvPr/>
        </p:nvGrpSpPr>
        <p:grpSpPr>
          <a:xfrm>
            <a:off x="11247833" y="7239537"/>
            <a:ext cx="7040245" cy="2991485"/>
            <a:chOff x="11247833" y="7239537"/>
            <a:chExt cx="7040245" cy="299148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66563" y="7641774"/>
              <a:ext cx="1584336" cy="258891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18808" y="7239537"/>
              <a:ext cx="4169191" cy="299115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47833" y="7641774"/>
              <a:ext cx="1584336" cy="258891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60242" y="7239537"/>
              <a:ext cx="1830504" cy="2991154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3688417" y="8045729"/>
            <a:ext cx="6289040" cy="2247265"/>
            <a:chOff x="3688417" y="8045729"/>
            <a:chExt cx="6289040" cy="2247265"/>
          </a:xfrm>
        </p:grpSpPr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8417" y="8045729"/>
              <a:ext cx="2844435" cy="224680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18865" y="8205460"/>
              <a:ext cx="3458521" cy="20815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" y="7260172"/>
            <a:ext cx="10601325" cy="3027045"/>
            <a:chOff x="-1" y="7260172"/>
            <a:chExt cx="10601325" cy="30270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6922" y="8846212"/>
              <a:ext cx="1601482" cy="144078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-1" y="7353818"/>
              <a:ext cx="3756025" cy="2921000"/>
            </a:xfrm>
            <a:custGeom>
              <a:avLst/>
              <a:gdLst/>
              <a:ahLst/>
              <a:cxnLst/>
              <a:rect l="l" t="t" r="r" b="b"/>
              <a:pathLst>
                <a:path w="3756025" h="2921000">
                  <a:moveTo>
                    <a:pt x="1987292" y="12699"/>
                  </a:moveTo>
                  <a:lnTo>
                    <a:pt x="1493871" y="12699"/>
                  </a:lnTo>
                  <a:lnTo>
                    <a:pt x="1518435" y="0"/>
                  </a:lnTo>
                  <a:lnTo>
                    <a:pt x="1962729" y="0"/>
                  </a:lnTo>
                  <a:lnTo>
                    <a:pt x="1987292" y="12699"/>
                  </a:lnTo>
                  <a:close/>
                </a:path>
                <a:path w="3756025" h="2921000">
                  <a:moveTo>
                    <a:pt x="2060751" y="25399"/>
                  </a:moveTo>
                  <a:lnTo>
                    <a:pt x="1420412" y="25399"/>
                  </a:lnTo>
                  <a:lnTo>
                    <a:pt x="1444857" y="12699"/>
                  </a:lnTo>
                  <a:lnTo>
                    <a:pt x="2036306" y="12699"/>
                  </a:lnTo>
                  <a:lnTo>
                    <a:pt x="2060751" y="25399"/>
                  </a:lnTo>
                  <a:close/>
                </a:path>
                <a:path w="3756025" h="2921000">
                  <a:moveTo>
                    <a:pt x="2133773" y="38099"/>
                  </a:moveTo>
                  <a:lnTo>
                    <a:pt x="1347390" y="38099"/>
                  </a:lnTo>
                  <a:lnTo>
                    <a:pt x="1371679" y="25399"/>
                  </a:lnTo>
                  <a:lnTo>
                    <a:pt x="2109485" y="25399"/>
                  </a:lnTo>
                  <a:lnTo>
                    <a:pt x="2133773" y="38099"/>
                  </a:lnTo>
                  <a:close/>
                </a:path>
                <a:path w="3756025" h="2921000">
                  <a:moveTo>
                    <a:pt x="2206260" y="50799"/>
                  </a:moveTo>
                  <a:lnTo>
                    <a:pt x="1274900" y="50799"/>
                  </a:lnTo>
                  <a:lnTo>
                    <a:pt x="1298996" y="38099"/>
                  </a:lnTo>
                  <a:lnTo>
                    <a:pt x="2182164" y="38099"/>
                  </a:lnTo>
                  <a:lnTo>
                    <a:pt x="2206260" y="50799"/>
                  </a:lnTo>
                  <a:close/>
                </a:path>
                <a:path w="3756025" h="2921000">
                  <a:moveTo>
                    <a:pt x="2254246" y="63499"/>
                  </a:moveTo>
                  <a:lnTo>
                    <a:pt x="1226916" y="63499"/>
                  </a:lnTo>
                  <a:lnTo>
                    <a:pt x="1250870" y="50799"/>
                  </a:lnTo>
                  <a:lnTo>
                    <a:pt x="2230290" y="50799"/>
                  </a:lnTo>
                  <a:lnTo>
                    <a:pt x="2254246" y="63499"/>
                  </a:lnTo>
                  <a:close/>
                </a:path>
                <a:path w="3756025" h="2921000">
                  <a:moveTo>
                    <a:pt x="2301916" y="76199"/>
                  </a:moveTo>
                  <a:lnTo>
                    <a:pt x="1179248" y="76199"/>
                  </a:lnTo>
                  <a:lnTo>
                    <a:pt x="1203041" y="63499"/>
                  </a:lnTo>
                  <a:lnTo>
                    <a:pt x="2278121" y="63499"/>
                  </a:lnTo>
                  <a:lnTo>
                    <a:pt x="2301916" y="76199"/>
                  </a:lnTo>
                  <a:close/>
                </a:path>
                <a:path w="3756025" h="2921000">
                  <a:moveTo>
                    <a:pt x="2372785" y="101599"/>
                  </a:moveTo>
                  <a:lnTo>
                    <a:pt x="1108380" y="101599"/>
                  </a:lnTo>
                  <a:lnTo>
                    <a:pt x="1155535" y="76199"/>
                  </a:lnTo>
                  <a:lnTo>
                    <a:pt x="2325629" y="76199"/>
                  </a:lnTo>
                  <a:lnTo>
                    <a:pt x="2372785" y="101599"/>
                  </a:lnTo>
                  <a:close/>
                </a:path>
                <a:path w="3756025" h="2921000">
                  <a:moveTo>
                    <a:pt x="2419560" y="114299"/>
                  </a:moveTo>
                  <a:lnTo>
                    <a:pt x="1061607" y="114299"/>
                  </a:lnTo>
                  <a:lnTo>
                    <a:pt x="1084946" y="101599"/>
                  </a:lnTo>
                  <a:lnTo>
                    <a:pt x="2396220" y="101599"/>
                  </a:lnTo>
                  <a:lnTo>
                    <a:pt x="2419560" y="114299"/>
                  </a:lnTo>
                  <a:close/>
                </a:path>
                <a:path w="3756025" h="2921000">
                  <a:moveTo>
                    <a:pt x="2511852" y="152399"/>
                  </a:moveTo>
                  <a:lnTo>
                    <a:pt x="969310" y="152399"/>
                  </a:lnTo>
                  <a:lnTo>
                    <a:pt x="1038369" y="114299"/>
                  </a:lnTo>
                  <a:lnTo>
                    <a:pt x="2442796" y="114299"/>
                  </a:lnTo>
                  <a:lnTo>
                    <a:pt x="2511852" y="152399"/>
                  </a:lnTo>
                  <a:close/>
                </a:path>
                <a:path w="3756025" h="2921000">
                  <a:moveTo>
                    <a:pt x="2624584" y="203199"/>
                  </a:moveTo>
                  <a:lnTo>
                    <a:pt x="856578" y="203199"/>
                  </a:lnTo>
                  <a:lnTo>
                    <a:pt x="946516" y="152399"/>
                  </a:lnTo>
                  <a:lnTo>
                    <a:pt x="2534646" y="152399"/>
                  </a:lnTo>
                  <a:lnTo>
                    <a:pt x="2624584" y="203199"/>
                  </a:lnTo>
                  <a:close/>
                </a:path>
                <a:path w="3756025" h="2921000">
                  <a:moveTo>
                    <a:pt x="3540812" y="2920999"/>
                  </a:moveTo>
                  <a:lnTo>
                    <a:pt x="0" y="2920999"/>
                  </a:lnTo>
                  <a:lnTo>
                    <a:pt x="0" y="990599"/>
                  </a:lnTo>
                  <a:lnTo>
                    <a:pt x="11888" y="977899"/>
                  </a:lnTo>
                  <a:lnTo>
                    <a:pt x="24735" y="952499"/>
                  </a:lnTo>
                  <a:lnTo>
                    <a:pt x="37838" y="927099"/>
                  </a:lnTo>
                  <a:lnTo>
                    <a:pt x="51197" y="914399"/>
                  </a:lnTo>
                  <a:lnTo>
                    <a:pt x="64812" y="888999"/>
                  </a:lnTo>
                  <a:lnTo>
                    <a:pt x="78680" y="863599"/>
                  </a:lnTo>
                  <a:lnTo>
                    <a:pt x="92795" y="850899"/>
                  </a:lnTo>
                  <a:lnTo>
                    <a:pt x="107159" y="825499"/>
                  </a:lnTo>
                  <a:lnTo>
                    <a:pt x="121771" y="812799"/>
                  </a:lnTo>
                  <a:lnTo>
                    <a:pt x="136628" y="787399"/>
                  </a:lnTo>
                  <a:lnTo>
                    <a:pt x="151724" y="774699"/>
                  </a:lnTo>
                  <a:lnTo>
                    <a:pt x="167059" y="749299"/>
                  </a:lnTo>
                  <a:lnTo>
                    <a:pt x="182633" y="736599"/>
                  </a:lnTo>
                  <a:lnTo>
                    <a:pt x="198442" y="711199"/>
                  </a:lnTo>
                  <a:lnTo>
                    <a:pt x="214480" y="698499"/>
                  </a:lnTo>
                  <a:lnTo>
                    <a:pt x="230748" y="673099"/>
                  </a:lnTo>
                  <a:lnTo>
                    <a:pt x="247246" y="660399"/>
                  </a:lnTo>
                  <a:lnTo>
                    <a:pt x="263968" y="634999"/>
                  </a:lnTo>
                  <a:lnTo>
                    <a:pt x="280912" y="622299"/>
                  </a:lnTo>
                  <a:lnTo>
                    <a:pt x="298075" y="596899"/>
                  </a:lnTo>
                  <a:lnTo>
                    <a:pt x="333055" y="571499"/>
                  </a:lnTo>
                  <a:lnTo>
                    <a:pt x="350862" y="546099"/>
                  </a:lnTo>
                  <a:lnTo>
                    <a:pt x="387102" y="520699"/>
                  </a:lnTo>
                  <a:lnTo>
                    <a:pt x="405532" y="495299"/>
                  </a:lnTo>
                  <a:lnTo>
                    <a:pt x="424159" y="482599"/>
                  </a:lnTo>
                  <a:lnTo>
                    <a:pt x="462007" y="457199"/>
                  </a:lnTo>
                  <a:lnTo>
                    <a:pt x="481222" y="431799"/>
                  </a:lnTo>
                  <a:lnTo>
                    <a:pt x="500625" y="419099"/>
                  </a:lnTo>
                  <a:lnTo>
                    <a:pt x="559947" y="380999"/>
                  </a:lnTo>
                  <a:lnTo>
                    <a:pt x="580079" y="355599"/>
                  </a:lnTo>
                  <a:lnTo>
                    <a:pt x="641518" y="317499"/>
                  </a:lnTo>
                  <a:lnTo>
                    <a:pt x="725734" y="266699"/>
                  </a:lnTo>
                  <a:lnTo>
                    <a:pt x="834420" y="203199"/>
                  </a:lnTo>
                  <a:lnTo>
                    <a:pt x="2646742" y="203199"/>
                  </a:lnTo>
                  <a:lnTo>
                    <a:pt x="2733984" y="253999"/>
                  </a:lnTo>
                  <a:lnTo>
                    <a:pt x="2818831" y="304799"/>
                  </a:lnTo>
                  <a:lnTo>
                    <a:pt x="2880775" y="342899"/>
                  </a:lnTo>
                  <a:lnTo>
                    <a:pt x="2921215" y="380999"/>
                  </a:lnTo>
                  <a:lnTo>
                    <a:pt x="2980540" y="419099"/>
                  </a:lnTo>
                  <a:lnTo>
                    <a:pt x="2999943" y="431799"/>
                  </a:lnTo>
                  <a:lnTo>
                    <a:pt x="3019158" y="457199"/>
                  </a:lnTo>
                  <a:lnTo>
                    <a:pt x="3057008" y="482599"/>
                  </a:lnTo>
                  <a:lnTo>
                    <a:pt x="3075634" y="495299"/>
                  </a:lnTo>
                  <a:lnTo>
                    <a:pt x="3094061" y="520699"/>
                  </a:lnTo>
                  <a:lnTo>
                    <a:pt x="3130304" y="546099"/>
                  </a:lnTo>
                  <a:lnTo>
                    <a:pt x="3148110" y="571499"/>
                  </a:lnTo>
                  <a:lnTo>
                    <a:pt x="3183089" y="596899"/>
                  </a:lnTo>
                  <a:lnTo>
                    <a:pt x="3200252" y="622299"/>
                  </a:lnTo>
                  <a:lnTo>
                    <a:pt x="3217196" y="634999"/>
                  </a:lnTo>
                  <a:lnTo>
                    <a:pt x="3233920" y="660399"/>
                  </a:lnTo>
                  <a:lnTo>
                    <a:pt x="3250418" y="673099"/>
                  </a:lnTo>
                  <a:lnTo>
                    <a:pt x="3266686" y="698499"/>
                  </a:lnTo>
                  <a:lnTo>
                    <a:pt x="3282725" y="711199"/>
                  </a:lnTo>
                  <a:lnTo>
                    <a:pt x="3298534" y="736599"/>
                  </a:lnTo>
                  <a:lnTo>
                    <a:pt x="3314106" y="749299"/>
                  </a:lnTo>
                  <a:lnTo>
                    <a:pt x="3329440" y="774699"/>
                  </a:lnTo>
                  <a:lnTo>
                    <a:pt x="3344534" y="787399"/>
                  </a:lnTo>
                  <a:lnTo>
                    <a:pt x="3359390" y="812799"/>
                  </a:lnTo>
                  <a:lnTo>
                    <a:pt x="3374002" y="825499"/>
                  </a:lnTo>
                  <a:lnTo>
                    <a:pt x="3388366" y="850899"/>
                  </a:lnTo>
                  <a:lnTo>
                    <a:pt x="3402481" y="863599"/>
                  </a:lnTo>
                  <a:lnTo>
                    <a:pt x="3416349" y="888999"/>
                  </a:lnTo>
                  <a:lnTo>
                    <a:pt x="3429965" y="914399"/>
                  </a:lnTo>
                  <a:lnTo>
                    <a:pt x="3443325" y="927099"/>
                  </a:lnTo>
                  <a:lnTo>
                    <a:pt x="3456427" y="952499"/>
                  </a:lnTo>
                  <a:lnTo>
                    <a:pt x="3469273" y="977899"/>
                  </a:lnTo>
                  <a:lnTo>
                    <a:pt x="3481859" y="990599"/>
                  </a:lnTo>
                  <a:lnTo>
                    <a:pt x="3494181" y="1015999"/>
                  </a:lnTo>
                  <a:lnTo>
                    <a:pt x="3506239" y="1041399"/>
                  </a:lnTo>
                  <a:lnTo>
                    <a:pt x="3518034" y="1054099"/>
                  </a:lnTo>
                  <a:lnTo>
                    <a:pt x="3529558" y="1079499"/>
                  </a:lnTo>
                  <a:lnTo>
                    <a:pt x="3540812" y="1104899"/>
                  </a:lnTo>
                  <a:lnTo>
                    <a:pt x="3551796" y="1130299"/>
                  </a:lnTo>
                  <a:lnTo>
                    <a:pt x="3562508" y="1142999"/>
                  </a:lnTo>
                  <a:lnTo>
                    <a:pt x="3572946" y="1168399"/>
                  </a:lnTo>
                  <a:lnTo>
                    <a:pt x="3583107" y="1193799"/>
                  </a:lnTo>
                  <a:lnTo>
                    <a:pt x="3592991" y="1219199"/>
                  </a:lnTo>
                  <a:lnTo>
                    <a:pt x="3602596" y="1231899"/>
                  </a:lnTo>
                  <a:lnTo>
                    <a:pt x="3620964" y="1282699"/>
                  </a:lnTo>
                  <a:lnTo>
                    <a:pt x="3638198" y="1333499"/>
                  </a:lnTo>
                  <a:lnTo>
                    <a:pt x="3646388" y="1358899"/>
                  </a:lnTo>
                  <a:lnTo>
                    <a:pt x="3654290" y="1371599"/>
                  </a:lnTo>
                  <a:lnTo>
                    <a:pt x="3669227" y="1422399"/>
                  </a:lnTo>
                  <a:lnTo>
                    <a:pt x="3683004" y="1473199"/>
                  </a:lnTo>
                  <a:lnTo>
                    <a:pt x="3695612" y="1523999"/>
                  </a:lnTo>
                  <a:lnTo>
                    <a:pt x="3701474" y="1549399"/>
                  </a:lnTo>
                  <a:lnTo>
                    <a:pt x="3707040" y="1562099"/>
                  </a:lnTo>
                  <a:lnTo>
                    <a:pt x="3717285" y="1612899"/>
                  </a:lnTo>
                  <a:lnTo>
                    <a:pt x="3726338" y="1663699"/>
                  </a:lnTo>
                  <a:lnTo>
                    <a:pt x="3734195" y="1714499"/>
                  </a:lnTo>
                  <a:lnTo>
                    <a:pt x="3740853" y="1765299"/>
                  </a:lnTo>
                  <a:lnTo>
                    <a:pt x="3746307" y="1816099"/>
                  </a:lnTo>
                  <a:lnTo>
                    <a:pt x="3750551" y="1866899"/>
                  </a:lnTo>
                  <a:lnTo>
                    <a:pt x="3752218" y="1879599"/>
                  </a:lnTo>
                  <a:lnTo>
                    <a:pt x="3754645" y="1930399"/>
                  </a:lnTo>
                  <a:lnTo>
                    <a:pt x="3755860" y="1981199"/>
                  </a:lnTo>
                  <a:lnTo>
                    <a:pt x="3756012" y="2006599"/>
                  </a:lnTo>
                  <a:lnTo>
                    <a:pt x="3755860" y="2031999"/>
                  </a:lnTo>
                  <a:lnTo>
                    <a:pt x="3754645" y="2082799"/>
                  </a:lnTo>
                  <a:lnTo>
                    <a:pt x="3752218" y="2133599"/>
                  </a:lnTo>
                  <a:lnTo>
                    <a:pt x="3748580" y="2184399"/>
                  </a:lnTo>
                  <a:lnTo>
                    <a:pt x="3743731" y="2235199"/>
                  </a:lnTo>
                  <a:lnTo>
                    <a:pt x="3737675" y="2285999"/>
                  </a:lnTo>
                  <a:lnTo>
                    <a:pt x="3734195" y="2298699"/>
                  </a:lnTo>
                  <a:lnTo>
                    <a:pt x="3730416" y="2324099"/>
                  </a:lnTo>
                  <a:lnTo>
                    <a:pt x="3721961" y="2374899"/>
                  </a:lnTo>
                  <a:lnTo>
                    <a:pt x="3712311" y="2425699"/>
                  </a:lnTo>
                  <a:lnTo>
                    <a:pt x="3701474" y="2476499"/>
                  </a:lnTo>
                  <a:lnTo>
                    <a:pt x="3689454" y="2527299"/>
                  </a:lnTo>
                  <a:lnTo>
                    <a:pt x="3676261" y="2565399"/>
                  </a:lnTo>
                  <a:lnTo>
                    <a:pt x="3669227" y="2590799"/>
                  </a:lnTo>
                  <a:lnTo>
                    <a:pt x="3654288" y="2641599"/>
                  </a:lnTo>
                  <a:lnTo>
                    <a:pt x="3638195" y="2692399"/>
                  </a:lnTo>
                  <a:lnTo>
                    <a:pt x="3629719" y="2705099"/>
                  </a:lnTo>
                  <a:lnTo>
                    <a:pt x="3620960" y="2730499"/>
                  </a:lnTo>
                  <a:lnTo>
                    <a:pt x="3602594" y="2781299"/>
                  </a:lnTo>
                  <a:lnTo>
                    <a:pt x="3583105" y="2832099"/>
                  </a:lnTo>
                  <a:lnTo>
                    <a:pt x="3572944" y="2844799"/>
                  </a:lnTo>
                  <a:lnTo>
                    <a:pt x="3562505" y="2870199"/>
                  </a:lnTo>
                  <a:lnTo>
                    <a:pt x="3551794" y="2895599"/>
                  </a:lnTo>
                  <a:lnTo>
                    <a:pt x="3540812" y="2920999"/>
                  </a:lnTo>
                  <a:close/>
                </a:path>
              </a:pathLst>
            </a:custGeom>
            <a:solidFill>
              <a:srgbClr val="171717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964" y="8396206"/>
              <a:ext cx="1975234" cy="189079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6130" y="7260172"/>
              <a:ext cx="7234974" cy="3026826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385" y="3354008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385" y="4401758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385" y="5449508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385" y="6497258"/>
            <a:ext cx="114300" cy="1142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87704" y="2023715"/>
            <a:ext cx="11506835" cy="473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90" b="1">
                <a:solidFill>
                  <a:srgbClr val="171717"/>
                </a:solidFill>
                <a:latin typeface="Tahoma"/>
                <a:cs typeface="Tahoma"/>
              </a:rPr>
              <a:t>Return</a:t>
            </a:r>
            <a:r>
              <a:rPr dirty="0" sz="3400" spc="-19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400" spc="-30" b="1">
                <a:solidFill>
                  <a:srgbClr val="171717"/>
                </a:solidFill>
                <a:latin typeface="Tahoma"/>
                <a:cs typeface="Tahoma"/>
              </a:rPr>
              <a:t>Prediction</a:t>
            </a:r>
            <a:r>
              <a:rPr dirty="0" sz="3400" spc="-18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171717"/>
                </a:solidFill>
                <a:latin typeface="Tahoma"/>
                <a:cs typeface="Tahoma"/>
              </a:rPr>
              <a:t>Phase</a:t>
            </a:r>
            <a:r>
              <a:rPr dirty="0" sz="3400" spc="-18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400" spc="-20" b="1">
                <a:solidFill>
                  <a:srgbClr val="171717"/>
                </a:solidFill>
                <a:latin typeface="Tahoma"/>
                <a:cs typeface="Tahoma"/>
              </a:rPr>
              <a:t>(Supervised</a:t>
            </a:r>
            <a:r>
              <a:rPr dirty="0" sz="3400" spc="-19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400" spc="-10" b="1">
                <a:solidFill>
                  <a:srgbClr val="171717"/>
                </a:solidFill>
                <a:latin typeface="Tahoma"/>
                <a:cs typeface="Tahoma"/>
              </a:rPr>
              <a:t>Regression)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400">
              <a:latin typeface="Tahoma"/>
              <a:cs typeface="Tahoma"/>
            </a:endParaRPr>
          </a:p>
          <a:p>
            <a:pPr marL="538480">
              <a:lnSpc>
                <a:spcPct val="100000"/>
              </a:lnSpc>
            </a:pPr>
            <a:r>
              <a:rPr dirty="0" sz="3000" spc="-40" b="1">
                <a:solidFill>
                  <a:srgbClr val="171717"/>
                </a:solidFill>
                <a:latin typeface="Tahoma"/>
                <a:cs typeface="Tahoma"/>
              </a:rPr>
              <a:t>Objective:</a:t>
            </a:r>
            <a:r>
              <a:rPr dirty="0" sz="3000" spc="-2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171717"/>
                </a:solidFill>
                <a:latin typeface="Trebuchet MS"/>
                <a:cs typeface="Trebuchet MS"/>
              </a:rPr>
              <a:t>Predict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95">
                <a:solidFill>
                  <a:srgbClr val="171717"/>
                </a:solidFill>
                <a:latin typeface="Trebuchet MS"/>
                <a:cs typeface="Trebuchet MS"/>
              </a:rPr>
              <a:t>expected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future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returns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25">
                <a:solidFill>
                  <a:srgbClr val="171717"/>
                </a:solidFill>
                <a:latin typeface="Trebuchet MS"/>
                <a:cs typeface="Trebuchet MS"/>
              </a:rPr>
              <a:t>each</a:t>
            </a:r>
            <a:r>
              <a:rPr dirty="0" sz="30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55">
                <a:solidFill>
                  <a:srgbClr val="171717"/>
                </a:solidFill>
                <a:latin typeface="Trebuchet MS"/>
                <a:cs typeface="Trebuchet MS"/>
              </a:rPr>
              <a:t>stock.</a:t>
            </a:r>
            <a:endParaRPr sz="3000">
              <a:latin typeface="Trebuchet MS"/>
              <a:cs typeface="Trebuchet MS"/>
            </a:endParaRPr>
          </a:p>
          <a:p>
            <a:pPr marL="538480" marR="5080">
              <a:lnSpc>
                <a:spcPts val="8250"/>
              </a:lnSpc>
              <a:spcBef>
                <a:spcPts val="850"/>
              </a:spcBef>
            </a:pPr>
            <a:r>
              <a:rPr dirty="0" sz="3000" spc="-130" b="1">
                <a:solidFill>
                  <a:srgbClr val="171717"/>
                </a:solidFill>
                <a:latin typeface="Tahoma"/>
                <a:cs typeface="Tahoma"/>
              </a:rPr>
              <a:t>Inputs:</a:t>
            </a:r>
            <a:r>
              <a:rPr dirty="0" sz="3000" spc="-2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90">
                <a:solidFill>
                  <a:srgbClr val="171717"/>
                </a:solidFill>
                <a:latin typeface="Trebuchet MS"/>
                <a:cs typeface="Trebuchet MS"/>
              </a:rPr>
              <a:t>Classified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30">
                <a:solidFill>
                  <a:srgbClr val="171717"/>
                </a:solidFill>
                <a:latin typeface="Trebuchet MS"/>
                <a:cs typeface="Trebuchet MS"/>
              </a:rPr>
              <a:t>stock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70">
                <a:solidFill>
                  <a:srgbClr val="171717"/>
                </a:solidFill>
                <a:latin typeface="Trebuchet MS"/>
                <a:cs typeface="Trebuchet MS"/>
              </a:rPr>
              <a:t>data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345">
                <a:solidFill>
                  <a:srgbClr val="171717"/>
                </a:solidFill>
                <a:latin typeface="Trebuchet MS"/>
                <a:cs typeface="Trebuchet MS"/>
              </a:rPr>
              <a:t>+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25">
                <a:solidFill>
                  <a:srgbClr val="171717"/>
                </a:solidFill>
                <a:latin typeface="Trebuchet MS"/>
                <a:cs typeface="Trebuchet MS"/>
              </a:rPr>
              <a:t>key</a:t>
            </a:r>
            <a:r>
              <a:rPr dirty="0" sz="30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financial</a:t>
            </a:r>
            <a:r>
              <a:rPr dirty="0" sz="3000" spc="-5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-10">
                <a:solidFill>
                  <a:srgbClr val="171717"/>
                </a:solidFill>
                <a:latin typeface="Trebuchet MS"/>
                <a:cs typeface="Trebuchet MS"/>
              </a:rPr>
              <a:t>indicators. </a:t>
            </a:r>
            <a:r>
              <a:rPr dirty="0" sz="3000" spc="-10" b="1">
                <a:solidFill>
                  <a:srgbClr val="171717"/>
                </a:solidFill>
                <a:latin typeface="Tahoma"/>
                <a:cs typeface="Tahoma"/>
              </a:rPr>
              <a:t>Model</a:t>
            </a:r>
            <a:r>
              <a:rPr dirty="0" sz="3000" spc="-16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171717"/>
                </a:solidFill>
                <a:latin typeface="Tahoma"/>
                <a:cs typeface="Tahoma"/>
              </a:rPr>
              <a:t>Used: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Linear</a:t>
            </a:r>
            <a:r>
              <a:rPr dirty="0" sz="300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40">
                <a:solidFill>
                  <a:srgbClr val="171717"/>
                </a:solidFill>
                <a:latin typeface="Trebuchet MS"/>
                <a:cs typeface="Trebuchet MS"/>
              </a:rPr>
              <a:t>Regression</a:t>
            </a:r>
            <a:r>
              <a:rPr dirty="0" sz="300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-520">
                <a:solidFill>
                  <a:srgbClr val="171717"/>
                </a:solidFill>
                <a:latin typeface="Trebuchet MS"/>
                <a:cs typeface="Trebuchet MS"/>
              </a:rPr>
              <a:t>/</a:t>
            </a:r>
            <a:r>
              <a:rPr dirty="0" sz="300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30">
                <a:solidFill>
                  <a:srgbClr val="171717"/>
                </a:solidFill>
                <a:latin typeface="Trebuchet MS"/>
                <a:cs typeface="Trebuchet MS"/>
              </a:rPr>
              <a:t>Random</a:t>
            </a:r>
            <a:r>
              <a:rPr dirty="0" sz="300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100">
                <a:solidFill>
                  <a:srgbClr val="171717"/>
                </a:solidFill>
                <a:latin typeface="Trebuchet MS"/>
                <a:cs typeface="Trebuchet MS"/>
              </a:rPr>
              <a:t>Forest</a:t>
            </a:r>
            <a:r>
              <a:rPr dirty="0" sz="3000" spc="-3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95">
                <a:solidFill>
                  <a:srgbClr val="171717"/>
                </a:solidFill>
                <a:latin typeface="Trebuchet MS"/>
                <a:cs typeface="Trebuchet MS"/>
              </a:rPr>
              <a:t>Regression. </a:t>
            </a:r>
            <a:r>
              <a:rPr dirty="0" sz="3000" spc="-50" b="1">
                <a:solidFill>
                  <a:srgbClr val="171717"/>
                </a:solidFill>
                <a:latin typeface="Tahoma"/>
                <a:cs typeface="Tahoma"/>
              </a:rPr>
              <a:t>Outcome:</a:t>
            </a:r>
            <a:r>
              <a:rPr dirty="0" sz="3000" spc="-14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Estimated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65">
                <a:solidFill>
                  <a:srgbClr val="171717"/>
                </a:solidFill>
                <a:latin typeface="Trebuchet MS"/>
                <a:cs typeface="Trebuchet MS"/>
              </a:rPr>
              <a:t>returns</a:t>
            </a:r>
            <a:r>
              <a:rPr dirty="0" sz="3000" spc="-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3000" spc="-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171717"/>
                </a:solidFill>
                <a:latin typeface="Trebuchet MS"/>
                <a:cs typeface="Trebuchet MS"/>
              </a:rPr>
              <a:t>portfolio</a:t>
            </a:r>
            <a:r>
              <a:rPr dirty="0" sz="3000" spc="-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3000" spc="-10">
                <a:solidFill>
                  <a:srgbClr val="171717"/>
                </a:solidFill>
                <a:latin typeface="Trebuchet MS"/>
                <a:cs typeface="Trebuchet MS"/>
              </a:rPr>
              <a:t>optimization.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dirty="0" spc="-740"/>
              <a:t>M</a:t>
            </a:r>
            <a:r>
              <a:rPr dirty="0" spc="-750"/>
              <a:t>e</a:t>
            </a:r>
            <a:r>
              <a:rPr dirty="0" spc="-695"/>
              <a:t>t</a:t>
            </a:r>
            <a:r>
              <a:rPr dirty="0" spc="-735"/>
              <a:t>h</a:t>
            </a:r>
            <a:r>
              <a:rPr dirty="0" spc="-725"/>
              <a:t>o</a:t>
            </a:r>
            <a:r>
              <a:rPr dirty="0" spc="-695"/>
              <a:t>d</a:t>
            </a:r>
            <a:r>
              <a:rPr dirty="0" spc="-725"/>
              <a:t>o</a:t>
            </a:r>
            <a:r>
              <a:rPr dirty="0" spc="-800"/>
              <a:t>l</a:t>
            </a:r>
            <a:r>
              <a:rPr dirty="0" spc="-725"/>
              <a:t>o</a:t>
            </a:r>
            <a:r>
              <a:rPr dirty="0" spc="-715"/>
              <a:t>g</a:t>
            </a:r>
            <a:r>
              <a:rPr dirty="0" spc="-10"/>
              <a:t>y</a:t>
            </a:r>
            <a:r>
              <a:rPr dirty="0" spc="-2490"/>
              <a:t> </a:t>
            </a:r>
            <a:r>
              <a:rPr dirty="0" spc="-850"/>
              <a:t>Ov</a:t>
            </a:r>
            <a:r>
              <a:rPr dirty="0" spc="-865"/>
              <a:t>e</a:t>
            </a:r>
            <a:r>
              <a:rPr dirty="0" spc="-819"/>
              <a:t>r</a:t>
            </a:r>
            <a:r>
              <a:rPr dirty="0" spc="-850"/>
              <a:t>v</a:t>
            </a:r>
            <a:r>
              <a:rPr dirty="0" spc="-915"/>
              <a:t>i</a:t>
            </a:r>
            <a:r>
              <a:rPr dirty="0" spc="-865"/>
              <a:t>e</a:t>
            </a:r>
            <a:r>
              <a:rPr dirty="0" spc="-125"/>
              <a:t>w</a:t>
            </a:r>
          </a:p>
        </p:txBody>
      </p:sp>
      <p:grpSp>
        <p:nvGrpSpPr>
          <p:cNvPr id="13" name="object 13" descr=""/>
          <p:cNvGrpSpPr/>
          <p:nvPr/>
        </p:nvGrpSpPr>
        <p:grpSpPr>
          <a:xfrm>
            <a:off x="10776201" y="7045411"/>
            <a:ext cx="7512050" cy="3185160"/>
            <a:chOff x="10776201" y="7045411"/>
            <a:chExt cx="7512050" cy="3185160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77678" y="7473727"/>
              <a:ext cx="1687054" cy="275676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33310" y="7045411"/>
              <a:ext cx="4454689" cy="318508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76201" y="7473727"/>
              <a:ext cx="1687054" cy="275676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73697" y="7045411"/>
              <a:ext cx="1949182" cy="31850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645398" y="2012609"/>
            <a:ext cx="2642870" cy="2933700"/>
            <a:chOff x="15645398" y="2012609"/>
            <a:chExt cx="2642870" cy="2933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45398" y="2453262"/>
              <a:ext cx="2493046" cy="249304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948127" y="2756001"/>
              <a:ext cx="1887855" cy="1887855"/>
            </a:xfrm>
            <a:custGeom>
              <a:avLst/>
              <a:gdLst/>
              <a:ahLst/>
              <a:cxnLst/>
              <a:rect l="l" t="t" r="r" b="b"/>
              <a:pathLst>
                <a:path w="1887855" h="1887854">
                  <a:moveTo>
                    <a:pt x="1175283" y="943787"/>
                  </a:moveTo>
                  <a:lnTo>
                    <a:pt x="1170571" y="897191"/>
                  </a:lnTo>
                  <a:lnTo>
                    <a:pt x="1157071" y="853770"/>
                  </a:lnTo>
                  <a:lnTo>
                    <a:pt x="1138250" y="819137"/>
                  </a:lnTo>
                  <a:lnTo>
                    <a:pt x="1107401" y="780173"/>
                  </a:lnTo>
                  <a:lnTo>
                    <a:pt x="1073137" y="751878"/>
                  </a:lnTo>
                  <a:lnTo>
                    <a:pt x="1068438" y="749325"/>
                  </a:lnTo>
                  <a:lnTo>
                    <a:pt x="1068438" y="943787"/>
                  </a:lnTo>
                  <a:lnTo>
                    <a:pt x="1058633" y="992263"/>
                  </a:lnTo>
                  <a:lnTo>
                    <a:pt x="1031887" y="1031887"/>
                  </a:lnTo>
                  <a:lnTo>
                    <a:pt x="992263" y="1058633"/>
                  </a:lnTo>
                  <a:lnTo>
                    <a:pt x="943787" y="1068438"/>
                  </a:lnTo>
                  <a:lnTo>
                    <a:pt x="895311" y="1058633"/>
                  </a:lnTo>
                  <a:lnTo>
                    <a:pt x="855687" y="1031887"/>
                  </a:lnTo>
                  <a:lnTo>
                    <a:pt x="828941" y="992263"/>
                  </a:lnTo>
                  <a:lnTo>
                    <a:pt x="819137" y="943787"/>
                  </a:lnTo>
                  <a:lnTo>
                    <a:pt x="828941" y="895311"/>
                  </a:lnTo>
                  <a:lnTo>
                    <a:pt x="855687" y="855687"/>
                  </a:lnTo>
                  <a:lnTo>
                    <a:pt x="895311" y="828954"/>
                  </a:lnTo>
                  <a:lnTo>
                    <a:pt x="943787" y="819137"/>
                  </a:lnTo>
                  <a:lnTo>
                    <a:pt x="992263" y="828954"/>
                  </a:lnTo>
                  <a:lnTo>
                    <a:pt x="1031887" y="855687"/>
                  </a:lnTo>
                  <a:lnTo>
                    <a:pt x="1058633" y="895311"/>
                  </a:lnTo>
                  <a:lnTo>
                    <a:pt x="1068438" y="943787"/>
                  </a:lnTo>
                  <a:lnTo>
                    <a:pt x="1068438" y="749325"/>
                  </a:lnTo>
                  <a:lnTo>
                    <a:pt x="1033818" y="730516"/>
                  </a:lnTo>
                  <a:lnTo>
                    <a:pt x="990384" y="717003"/>
                  </a:lnTo>
                  <a:lnTo>
                    <a:pt x="943787" y="712292"/>
                  </a:lnTo>
                  <a:lnTo>
                    <a:pt x="897191" y="717003"/>
                  </a:lnTo>
                  <a:lnTo>
                    <a:pt x="853770" y="730516"/>
                  </a:lnTo>
                  <a:lnTo>
                    <a:pt x="814451" y="751878"/>
                  </a:lnTo>
                  <a:lnTo>
                    <a:pt x="780173" y="780173"/>
                  </a:lnTo>
                  <a:lnTo>
                    <a:pt x="751878" y="814451"/>
                  </a:lnTo>
                  <a:lnTo>
                    <a:pt x="730516" y="853770"/>
                  </a:lnTo>
                  <a:lnTo>
                    <a:pt x="717003" y="897191"/>
                  </a:lnTo>
                  <a:lnTo>
                    <a:pt x="712292" y="943787"/>
                  </a:lnTo>
                  <a:lnTo>
                    <a:pt x="717003" y="990384"/>
                  </a:lnTo>
                  <a:lnTo>
                    <a:pt x="730516" y="1033818"/>
                  </a:lnTo>
                  <a:lnTo>
                    <a:pt x="751878" y="1073137"/>
                  </a:lnTo>
                  <a:lnTo>
                    <a:pt x="780173" y="1107414"/>
                  </a:lnTo>
                  <a:lnTo>
                    <a:pt x="814451" y="1135697"/>
                  </a:lnTo>
                  <a:lnTo>
                    <a:pt x="853770" y="1157071"/>
                  </a:lnTo>
                  <a:lnTo>
                    <a:pt x="897191" y="1170571"/>
                  </a:lnTo>
                  <a:lnTo>
                    <a:pt x="943787" y="1175283"/>
                  </a:lnTo>
                  <a:lnTo>
                    <a:pt x="990384" y="1170571"/>
                  </a:lnTo>
                  <a:lnTo>
                    <a:pt x="1033818" y="1157071"/>
                  </a:lnTo>
                  <a:lnTo>
                    <a:pt x="1073137" y="1135697"/>
                  </a:lnTo>
                  <a:lnTo>
                    <a:pt x="1107401" y="1107414"/>
                  </a:lnTo>
                  <a:lnTo>
                    <a:pt x="1135697" y="1073137"/>
                  </a:lnTo>
                  <a:lnTo>
                    <a:pt x="1138250" y="1068438"/>
                  </a:lnTo>
                  <a:lnTo>
                    <a:pt x="1157071" y="1033818"/>
                  </a:lnTo>
                  <a:lnTo>
                    <a:pt x="1170571" y="990384"/>
                  </a:lnTo>
                  <a:lnTo>
                    <a:pt x="1175283" y="943787"/>
                  </a:lnTo>
                  <a:close/>
                </a:path>
                <a:path w="1887855" h="1887854">
                  <a:moveTo>
                    <a:pt x="1531429" y="943787"/>
                  </a:moveTo>
                  <a:lnTo>
                    <a:pt x="1529473" y="895667"/>
                  </a:lnTo>
                  <a:lnTo>
                    <a:pt x="1523720" y="848601"/>
                  </a:lnTo>
                  <a:lnTo>
                    <a:pt x="1514322" y="802741"/>
                  </a:lnTo>
                  <a:lnTo>
                    <a:pt x="1501419" y="758253"/>
                  </a:lnTo>
                  <a:lnTo>
                    <a:pt x="1485176" y="715276"/>
                  </a:lnTo>
                  <a:lnTo>
                    <a:pt x="1465732" y="673963"/>
                  </a:lnTo>
                  <a:lnTo>
                    <a:pt x="1443266" y="634479"/>
                  </a:lnTo>
                  <a:lnTo>
                    <a:pt x="1424584" y="606869"/>
                  </a:lnTo>
                  <a:lnTo>
                    <a:pt x="1424584" y="943787"/>
                  </a:lnTo>
                  <a:lnTo>
                    <a:pt x="1422095" y="992873"/>
                  </a:lnTo>
                  <a:lnTo>
                    <a:pt x="1414805" y="1040561"/>
                  </a:lnTo>
                  <a:lnTo>
                    <a:pt x="1402930" y="1086612"/>
                  </a:lnTo>
                  <a:lnTo>
                    <a:pt x="1386751" y="1130757"/>
                  </a:lnTo>
                  <a:lnTo>
                    <a:pt x="1366469" y="1172781"/>
                  </a:lnTo>
                  <a:lnTo>
                    <a:pt x="1342364" y="1212418"/>
                  </a:lnTo>
                  <a:lnTo>
                    <a:pt x="1314665" y="1249451"/>
                  </a:lnTo>
                  <a:lnTo>
                    <a:pt x="1283601" y="1283614"/>
                  </a:lnTo>
                  <a:lnTo>
                    <a:pt x="1249451" y="1314665"/>
                  </a:lnTo>
                  <a:lnTo>
                    <a:pt x="1212418" y="1342364"/>
                  </a:lnTo>
                  <a:lnTo>
                    <a:pt x="1172781" y="1366481"/>
                  </a:lnTo>
                  <a:lnTo>
                    <a:pt x="1130757" y="1386751"/>
                  </a:lnTo>
                  <a:lnTo>
                    <a:pt x="1086612" y="1402943"/>
                  </a:lnTo>
                  <a:lnTo>
                    <a:pt x="1040561" y="1414805"/>
                  </a:lnTo>
                  <a:lnTo>
                    <a:pt x="992873" y="1422107"/>
                  </a:lnTo>
                  <a:lnTo>
                    <a:pt x="943787" y="1424597"/>
                  </a:lnTo>
                  <a:lnTo>
                    <a:pt x="894702" y="1422107"/>
                  </a:lnTo>
                  <a:lnTo>
                    <a:pt x="847013" y="1414805"/>
                  </a:lnTo>
                  <a:lnTo>
                    <a:pt x="800976" y="1402943"/>
                  </a:lnTo>
                  <a:lnTo>
                    <a:pt x="756818" y="1386751"/>
                  </a:lnTo>
                  <a:lnTo>
                    <a:pt x="714794" y="1366481"/>
                  </a:lnTo>
                  <a:lnTo>
                    <a:pt x="675157" y="1342364"/>
                  </a:lnTo>
                  <a:lnTo>
                    <a:pt x="638136" y="1314665"/>
                  </a:lnTo>
                  <a:lnTo>
                    <a:pt x="603973" y="1283614"/>
                  </a:lnTo>
                  <a:lnTo>
                    <a:pt x="572922" y="1249451"/>
                  </a:lnTo>
                  <a:lnTo>
                    <a:pt x="545211" y="1212418"/>
                  </a:lnTo>
                  <a:lnTo>
                    <a:pt x="521106" y="1172781"/>
                  </a:lnTo>
                  <a:lnTo>
                    <a:pt x="500837" y="1130757"/>
                  </a:lnTo>
                  <a:lnTo>
                    <a:pt x="484644" y="1086612"/>
                  </a:lnTo>
                  <a:lnTo>
                    <a:pt x="472770" y="1040561"/>
                  </a:lnTo>
                  <a:lnTo>
                    <a:pt x="465480" y="992873"/>
                  </a:lnTo>
                  <a:lnTo>
                    <a:pt x="462991" y="943787"/>
                  </a:lnTo>
                  <a:lnTo>
                    <a:pt x="465480" y="894702"/>
                  </a:lnTo>
                  <a:lnTo>
                    <a:pt x="472770" y="847013"/>
                  </a:lnTo>
                  <a:lnTo>
                    <a:pt x="484644" y="800976"/>
                  </a:lnTo>
                  <a:lnTo>
                    <a:pt x="500837" y="756818"/>
                  </a:lnTo>
                  <a:lnTo>
                    <a:pt x="521106" y="714794"/>
                  </a:lnTo>
                  <a:lnTo>
                    <a:pt x="545211" y="675157"/>
                  </a:lnTo>
                  <a:lnTo>
                    <a:pt x="572922" y="638136"/>
                  </a:lnTo>
                  <a:lnTo>
                    <a:pt x="603973" y="603973"/>
                  </a:lnTo>
                  <a:lnTo>
                    <a:pt x="638136" y="572922"/>
                  </a:lnTo>
                  <a:lnTo>
                    <a:pt x="675157" y="545211"/>
                  </a:lnTo>
                  <a:lnTo>
                    <a:pt x="714806" y="521106"/>
                  </a:lnTo>
                  <a:lnTo>
                    <a:pt x="756818" y="500837"/>
                  </a:lnTo>
                  <a:lnTo>
                    <a:pt x="800976" y="484644"/>
                  </a:lnTo>
                  <a:lnTo>
                    <a:pt x="847013" y="472782"/>
                  </a:lnTo>
                  <a:lnTo>
                    <a:pt x="894702" y="465480"/>
                  </a:lnTo>
                  <a:lnTo>
                    <a:pt x="943787" y="462991"/>
                  </a:lnTo>
                  <a:lnTo>
                    <a:pt x="992873" y="465480"/>
                  </a:lnTo>
                  <a:lnTo>
                    <a:pt x="1040561" y="472782"/>
                  </a:lnTo>
                  <a:lnTo>
                    <a:pt x="1086612" y="484644"/>
                  </a:lnTo>
                  <a:lnTo>
                    <a:pt x="1130757" y="500837"/>
                  </a:lnTo>
                  <a:lnTo>
                    <a:pt x="1172781" y="521106"/>
                  </a:lnTo>
                  <a:lnTo>
                    <a:pt x="1212418" y="545211"/>
                  </a:lnTo>
                  <a:lnTo>
                    <a:pt x="1249451" y="572922"/>
                  </a:lnTo>
                  <a:lnTo>
                    <a:pt x="1283601" y="603973"/>
                  </a:lnTo>
                  <a:lnTo>
                    <a:pt x="1314665" y="638136"/>
                  </a:lnTo>
                  <a:lnTo>
                    <a:pt x="1342364" y="675157"/>
                  </a:lnTo>
                  <a:lnTo>
                    <a:pt x="1366469" y="714794"/>
                  </a:lnTo>
                  <a:lnTo>
                    <a:pt x="1386738" y="756818"/>
                  </a:lnTo>
                  <a:lnTo>
                    <a:pt x="1402930" y="800976"/>
                  </a:lnTo>
                  <a:lnTo>
                    <a:pt x="1414805" y="847013"/>
                  </a:lnTo>
                  <a:lnTo>
                    <a:pt x="1422095" y="894702"/>
                  </a:lnTo>
                  <a:lnTo>
                    <a:pt x="1424584" y="943787"/>
                  </a:lnTo>
                  <a:lnTo>
                    <a:pt x="1424584" y="606869"/>
                  </a:lnTo>
                  <a:lnTo>
                    <a:pt x="1389799" y="561581"/>
                  </a:lnTo>
                  <a:lnTo>
                    <a:pt x="1359115" y="528459"/>
                  </a:lnTo>
                  <a:lnTo>
                    <a:pt x="1326007" y="497776"/>
                  </a:lnTo>
                  <a:lnTo>
                    <a:pt x="1290612" y="469684"/>
                  </a:lnTo>
                  <a:lnTo>
                    <a:pt x="1253096" y="444322"/>
                  </a:lnTo>
                  <a:lnTo>
                    <a:pt x="1213612" y="421843"/>
                  </a:lnTo>
                  <a:lnTo>
                    <a:pt x="1172298" y="402399"/>
                  </a:lnTo>
                  <a:lnTo>
                    <a:pt x="1129322" y="386156"/>
                  </a:lnTo>
                  <a:lnTo>
                    <a:pt x="1084834" y="373265"/>
                  </a:lnTo>
                  <a:lnTo>
                    <a:pt x="1038974" y="363855"/>
                  </a:lnTo>
                  <a:lnTo>
                    <a:pt x="991908" y="358101"/>
                  </a:lnTo>
                  <a:lnTo>
                    <a:pt x="943787" y="356146"/>
                  </a:lnTo>
                  <a:lnTo>
                    <a:pt x="895654" y="358101"/>
                  </a:lnTo>
                  <a:lnTo>
                    <a:pt x="848588" y="363855"/>
                  </a:lnTo>
                  <a:lnTo>
                    <a:pt x="802728" y="373265"/>
                  </a:lnTo>
                  <a:lnTo>
                    <a:pt x="758240" y="386156"/>
                  </a:lnTo>
                  <a:lnTo>
                    <a:pt x="715264" y="402399"/>
                  </a:lnTo>
                  <a:lnTo>
                    <a:pt x="673950" y="421843"/>
                  </a:lnTo>
                  <a:lnTo>
                    <a:pt x="634466" y="444322"/>
                  </a:lnTo>
                  <a:lnTo>
                    <a:pt x="596950" y="469684"/>
                  </a:lnTo>
                  <a:lnTo>
                    <a:pt x="561568" y="497776"/>
                  </a:lnTo>
                  <a:lnTo>
                    <a:pt x="528447" y="528459"/>
                  </a:lnTo>
                  <a:lnTo>
                    <a:pt x="497763" y="561581"/>
                  </a:lnTo>
                  <a:lnTo>
                    <a:pt x="469671" y="596963"/>
                  </a:lnTo>
                  <a:lnTo>
                    <a:pt x="444309" y="634479"/>
                  </a:lnTo>
                  <a:lnTo>
                    <a:pt x="421830" y="673963"/>
                  </a:lnTo>
                  <a:lnTo>
                    <a:pt x="402386" y="715276"/>
                  </a:lnTo>
                  <a:lnTo>
                    <a:pt x="386143" y="758253"/>
                  </a:lnTo>
                  <a:lnTo>
                    <a:pt x="373253" y="802741"/>
                  </a:lnTo>
                  <a:lnTo>
                    <a:pt x="363842" y="848601"/>
                  </a:lnTo>
                  <a:lnTo>
                    <a:pt x="358089" y="895667"/>
                  </a:lnTo>
                  <a:lnTo>
                    <a:pt x="356133" y="943787"/>
                  </a:lnTo>
                  <a:lnTo>
                    <a:pt x="358089" y="991920"/>
                  </a:lnTo>
                  <a:lnTo>
                    <a:pt x="363842" y="1038987"/>
                  </a:lnTo>
                  <a:lnTo>
                    <a:pt x="373253" y="1084846"/>
                  </a:lnTo>
                  <a:lnTo>
                    <a:pt x="386143" y="1129334"/>
                  </a:lnTo>
                  <a:lnTo>
                    <a:pt x="402386" y="1172311"/>
                  </a:lnTo>
                  <a:lnTo>
                    <a:pt x="421830" y="1213624"/>
                  </a:lnTo>
                  <a:lnTo>
                    <a:pt x="444309" y="1253109"/>
                  </a:lnTo>
                  <a:lnTo>
                    <a:pt x="469671" y="1290624"/>
                  </a:lnTo>
                  <a:lnTo>
                    <a:pt x="497763" y="1326019"/>
                  </a:lnTo>
                  <a:lnTo>
                    <a:pt x="528447" y="1359128"/>
                  </a:lnTo>
                  <a:lnTo>
                    <a:pt x="561568" y="1389811"/>
                  </a:lnTo>
                  <a:lnTo>
                    <a:pt x="596950" y="1417904"/>
                  </a:lnTo>
                  <a:lnTo>
                    <a:pt x="634466" y="1443266"/>
                  </a:lnTo>
                  <a:lnTo>
                    <a:pt x="673963" y="1465745"/>
                  </a:lnTo>
                  <a:lnTo>
                    <a:pt x="715264" y="1485188"/>
                  </a:lnTo>
                  <a:lnTo>
                    <a:pt x="758240" y="1501432"/>
                  </a:lnTo>
                  <a:lnTo>
                    <a:pt x="802741" y="1514335"/>
                  </a:lnTo>
                  <a:lnTo>
                    <a:pt x="848588" y="1523733"/>
                  </a:lnTo>
                  <a:lnTo>
                    <a:pt x="895667" y="1529486"/>
                  </a:lnTo>
                  <a:lnTo>
                    <a:pt x="943787" y="1531442"/>
                  </a:lnTo>
                  <a:lnTo>
                    <a:pt x="991920" y="1529486"/>
                  </a:lnTo>
                  <a:lnTo>
                    <a:pt x="1038987" y="1523733"/>
                  </a:lnTo>
                  <a:lnTo>
                    <a:pt x="1084834" y="1514335"/>
                  </a:lnTo>
                  <a:lnTo>
                    <a:pt x="1129334" y="1501432"/>
                  </a:lnTo>
                  <a:lnTo>
                    <a:pt x="1172311" y="1485188"/>
                  </a:lnTo>
                  <a:lnTo>
                    <a:pt x="1213612" y="1465745"/>
                  </a:lnTo>
                  <a:lnTo>
                    <a:pt x="1253109" y="1443266"/>
                  </a:lnTo>
                  <a:lnTo>
                    <a:pt x="1290624" y="1417904"/>
                  </a:lnTo>
                  <a:lnTo>
                    <a:pt x="1326007" y="1389811"/>
                  </a:lnTo>
                  <a:lnTo>
                    <a:pt x="1359128" y="1359128"/>
                  </a:lnTo>
                  <a:lnTo>
                    <a:pt x="1389799" y="1326019"/>
                  </a:lnTo>
                  <a:lnTo>
                    <a:pt x="1417904" y="1290624"/>
                  </a:lnTo>
                  <a:lnTo>
                    <a:pt x="1443266" y="1253109"/>
                  </a:lnTo>
                  <a:lnTo>
                    <a:pt x="1465745" y="1213624"/>
                  </a:lnTo>
                  <a:lnTo>
                    <a:pt x="1485176" y="1172311"/>
                  </a:lnTo>
                  <a:lnTo>
                    <a:pt x="1501419" y="1129334"/>
                  </a:lnTo>
                  <a:lnTo>
                    <a:pt x="1514322" y="1084846"/>
                  </a:lnTo>
                  <a:lnTo>
                    <a:pt x="1523720" y="1038987"/>
                  </a:lnTo>
                  <a:lnTo>
                    <a:pt x="1529473" y="991920"/>
                  </a:lnTo>
                  <a:lnTo>
                    <a:pt x="1531429" y="943787"/>
                  </a:lnTo>
                  <a:close/>
                </a:path>
                <a:path w="1887855" h="1887854">
                  <a:moveTo>
                    <a:pt x="1887588" y="943787"/>
                  </a:moveTo>
                  <a:lnTo>
                    <a:pt x="1886280" y="893584"/>
                  </a:lnTo>
                  <a:lnTo>
                    <a:pt x="1882394" y="843864"/>
                  </a:lnTo>
                  <a:lnTo>
                    <a:pt x="1875942" y="794689"/>
                  </a:lnTo>
                  <a:lnTo>
                    <a:pt x="1866976" y="746163"/>
                  </a:lnTo>
                  <a:lnTo>
                    <a:pt x="1855533" y="698334"/>
                  </a:lnTo>
                  <a:lnTo>
                    <a:pt x="1841614" y="651306"/>
                  </a:lnTo>
                  <a:lnTo>
                    <a:pt x="1825282" y="605142"/>
                  </a:lnTo>
                  <a:lnTo>
                    <a:pt x="1806549" y="559930"/>
                  </a:lnTo>
                  <a:lnTo>
                    <a:pt x="1785454" y="515747"/>
                  </a:lnTo>
                  <a:lnTo>
                    <a:pt x="1780743" y="507085"/>
                  </a:lnTo>
                  <a:lnTo>
                    <a:pt x="1780743" y="943787"/>
                  </a:lnTo>
                  <a:lnTo>
                    <a:pt x="1779409" y="991209"/>
                  </a:lnTo>
                  <a:lnTo>
                    <a:pt x="1775472" y="1037945"/>
                  </a:lnTo>
                  <a:lnTo>
                    <a:pt x="1769008" y="1083932"/>
                  </a:lnTo>
                  <a:lnTo>
                    <a:pt x="1760067" y="1129080"/>
                  </a:lnTo>
                  <a:lnTo>
                    <a:pt x="1748739" y="1173340"/>
                  </a:lnTo>
                  <a:lnTo>
                    <a:pt x="1735086" y="1216621"/>
                  </a:lnTo>
                  <a:lnTo>
                    <a:pt x="1719186" y="1258862"/>
                  </a:lnTo>
                  <a:lnTo>
                    <a:pt x="1701101" y="1299997"/>
                  </a:lnTo>
                  <a:lnTo>
                    <a:pt x="1680908" y="1339951"/>
                  </a:lnTo>
                  <a:lnTo>
                    <a:pt x="1658670" y="1378635"/>
                  </a:lnTo>
                  <a:lnTo>
                    <a:pt x="1634477" y="1416011"/>
                  </a:lnTo>
                  <a:lnTo>
                    <a:pt x="1608378" y="1451978"/>
                  </a:lnTo>
                  <a:lnTo>
                    <a:pt x="1580464" y="1486484"/>
                  </a:lnTo>
                  <a:lnTo>
                    <a:pt x="1550797" y="1519440"/>
                  </a:lnTo>
                  <a:lnTo>
                    <a:pt x="1519440" y="1550797"/>
                  </a:lnTo>
                  <a:lnTo>
                    <a:pt x="1486484" y="1580464"/>
                  </a:lnTo>
                  <a:lnTo>
                    <a:pt x="1451978" y="1608378"/>
                  </a:lnTo>
                  <a:lnTo>
                    <a:pt x="1416011" y="1634477"/>
                  </a:lnTo>
                  <a:lnTo>
                    <a:pt x="1378635" y="1658670"/>
                  </a:lnTo>
                  <a:lnTo>
                    <a:pt x="1339938" y="1680908"/>
                  </a:lnTo>
                  <a:lnTo>
                    <a:pt x="1299997" y="1701101"/>
                  </a:lnTo>
                  <a:lnTo>
                    <a:pt x="1258862" y="1719186"/>
                  </a:lnTo>
                  <a:lnTo>
                    <a:pt x="1216621" y="1735086"/>
                  </a:lnTo>
                  <a:lnTo>
                    <a:pt x="1173340" y="1748739"/>
                  </a:lnTo>
                  <a:lnTo>
                    <a:pt x="1129080" y="1760067"/>
                  </a:lnTo>
                  <a:lnTo>
                    <a:pt x="1083932" y="1769008"/>
                  </a:lnTo>
                  <a:lnTo>
                    <a:pt x="1037945" y="1775472"/>
                  </a:lnTo>
                  <a:lnTo>
                    <a:pt x="991209" y="1779409"/>
                  </a:lnTo>
                  <a:lnTo>
                    <a:pt x="943787" y="1780743"/>
                  </a:lnTo>
                  <a:lnTo>
                    <a:pt x="896366" y="1779409"/>
                  </a:lnTo>
                  <a:lnTo>
                    <a:pt x="849630" y="1775472"/>
                  </a:lnTo>
                  <a:lnTo>
                    <a:pt x="803643" y="1769008"/>
                  </a:lnTo>
                  <a:lnTo>
                    <a:pt x="758494" y="1760067"/>
                  </a:lnTo>
                  <a:lnTo>
                    <a:pt x="714235" y="1748739"/>
                  </a:lnTo>
                  <a:lnTo>
                    <a:pt x="670953" y="1735086"/>
                  </a:lnTo>
                  <a:lnTo>
                    <a:pt x="628713" y="1719186"/>
                  </a:lnTo>
                  <a:lnTo>
                    <a:pt x="587578" y="1701101"/>
                  </a:lnTo>
                  <a:lnTo>
                    <a:pt x="547636" y="1680908"/>
                  </a:lnTo>
                  <a:lnTo>
                    <a:pt x="508939" y="1658670"/>
                  </a:lnTo>
                  <a:lnTo>
                    <a:pt x="471576" y="1634477"/>
                  </a:lnTo>
                  <a:lnTo>
                    <a:pt x="435597" y="1608378"/>
                  </a:lnTo>
                  <a:lnTo>
                    <a:pt x="401104" y="1580464"/>
                  </a:lnTo>
                  <a:lnTo>
                    <a:pt x="368134" y="1550797"/>
                  </a:lnTo>
                  <a:lnTo>
                    <a:pt x="336778" y="1519440"/>
                  </a:lnTo>
                  <a:lnTo>
                    <a:pt x="307111" y="1486484"/>
                  </a:lnTo>
                  <a:lnTo>
                    <a:pt x="279196" y="1451978"/>
                  </a:lnTo>
                  <a:lnTo>
                    <a:pt x="253098" y="1416011"/>
                  </a:lnTo>
                  <a:lnTo>
                    <a:pt x="228904" y="1378635"/>
                  </a:lnTo>
                  <a:lnTo>
                    <a:pt x="206667" y="1339951"/>
                  </a:lnTo>
                  <a:lnTo>
                    <a:pt x="186474" y="1299997"/>
                  </a:lnTo>
                  <a:lnTo>
                    <a:pt x="168389" y="1258862"/>
                  </a:lnTo>
                  <a:lnTo>
                    <a:pt x="152488" y="1216621"/>
                  </a:lnTo>
                  <a:lnTo>
                    <a:pt x="138836" y="1173340"/>
                  </a:lnTo>
                  <a:lnTo>
                    <a:pt x="127508" y="1129080"/>
                  </a:lnTo>
                  <a:lnTo>
                    <a:pt x="118567" y="1083932"/>
                  </a:lnTo>
                  <a:lnTo>
                    <a:pt x="112102" y="1037945"/>
                  </a:lnTo>
                  <a:lnTo>
                    <a:pt x="108165" y="991209"/>
                  </a:lnTo>
                  <a:lnTo>
                    <a:pt x="106845" y="943787"/>
                  </a:lnTo>
                  <a:lnTo>
                    <a:pt x="108165" y="896366"/>
                  </a:lnTo>
                  <a:lnTo>
                    <a:pt x="112102" y="849630"/>
                  </a:lnTo>
                  <a:lnTo>
                    <a:pt x="118567" y="803656"/>
                  </a:lnTo>
                  <a:lnTo>
                    <a:pt x="127508" y="758494"/>
                  </a:lnTo>
                  <a:lnTo>
                    <a:pt x="138836" y="714248"/>
                  </a:lnTo>
                  <a:lnTo>
                    <a:pt x="152488" y="670953"/>
                  </a:lnTo>
                  <a:lnTo>
                    <a:pt x="168389" y="628713"/>
                  </a:lnTo>
                  <a:lnTo>
                    <a:pt x="186474" y="587578"/>
                  </a:lnTo>
                  <a:lnTo>
                    <a:pt x="206667" y="547636"/>
                  </a:lnTo>
                  <a:lnTo>
                    <a:pt x="228904" y="508939"/>
                  </a:lnTo>
                  <a:lnTo>
                    <a:pt x="253098" y="471576"/>
                  </a:lnTo>
                  <a:lnTo>
                    <a:pt x="279196" y="435597"/>
                  </a:lnTo>
                  <a:lnTo>
                    <a:pt x="307111" y="401104"/>
                  </a:lnTo>
                  <a:lnTo>
                    <a:pt x="336778" y="368134"/>
                  </a:lnTo>
                  <a:lnTo>
                    <a:pt x="368134" y="336778"/>
                  </a:lnTo>
                  <a:lnTo>
                    <a:pt x="401091" y="307111"/>
                  </a:lnTo>
                  <a:lnTo>
                    <a:pt x="435597" y="279196"/>
                  </a:lnTo>
                  <a:lnTo>
                    <a:pt x="471563" y="253098"/>
                  </a:lnTo>
                  <a:lnTo>
                    <a:pt x="508939" y="228904"/>
                  </a:lnTo>
                  <a:lnTo>
                    <a:pt x="547624" y="206679"/>
                  </a:lnTo>
                  <a:lnTo>
                    <a:pt x="587578" y="186486"/>
                  </a:lnTo>
                  <a:lnTo>
                    <a:pt x="628713" y="168402"/>
                  </a:lnTo>
                  <a:lnTo>
                    <a:pt x="670953" y="152488"/>
                  </a:lnTo>
                  <a:lnTo>
                    <a:pt x="714235" y="138836"/>
                  </a:lnTo>
                  <a:lnTo>
                    <a:pt x="758494" y="127508"/>
                  </a:lnTo>
                  <a:lnTo>
                    <a:pt x="803643" y="118579"/>
                  </a:lnTo>
                  <a:lnTo>
                    <a:pt x="849630" y="112102"/>
                  </a:lnTo>
                  <a:lnTo>
                    <a:pt x="896366" y="108165"/>
                  </a:lnTo>
                  <a:lnTo>
                    <a:pt x="943787" y="106845"/>
                  </a:lnTo>
                  <a:lnTo>
                    <a:pt x="991209" y="108165"/>
                  </a:lnTo>
                  <a:lnTo>
                    <a:pt x="1037945" y="112102"/>
                  </a:lnTo>
                  <a:lnTo>
                    <a:pt x="1083932" y="118579"/>
                  </a:lnTo>
                  <a:lnTo>
                    <a:pt x="1129080" y="127508"/>
                  </a:lnTo>
                  <a:lnTo>
                    <a:pt x="1173340" y="138836"/>
                  </a:lnTo>
                  <a:lnTo>
                    <a:pt x="1216621" y="152488"/>
                  </a:lnTo>
                  <a:lnTo>
                    <a:pt x="1258862" y="168402"/>
                  </a:lnTo>
                  <a:lnTo>
                    <a:pt x="1299997" y="186486"/>
                  </a:lnTo>
                  <a:lnTo>
                    <a:pt x="1339938" y="206679"/>
                  </a:lnTo>
                  <a:lnTo>
                    <a:pt x="1378635" y="228904"/>
                  </a:lnTo>
                  <a:lnTo>
                    <a:pt x="1416011" y="253098"/>
                  </a:lnTo>
                  <a:lnTo>
                    <a:pt x="1451978" y="279196"/>
                  </a:lnTo>
                  <a:lnTo>
                    <a:pt x="1486484" y="307111"/>
                  </a:lnTo>
                  <a:lnTo>
                    <a:pt x="1519440" y="336778"/>
                  </a:lnTo>
                  <a:lnTo>
                    <a:pt x="1550797" y="368134"/>
                  </a:lnTo>
                  <a:lnTo>
                    <a:pt x="1580464" y="401104"/>
                  </a:lnTo>
                  <a:lnTo>
                    <a:pt x="1608378" y="435597"/>
                  </a:lnTo>
                  <a:lnTo>
                    <a:pt x="1634477" y="471576"/>
                  </a:lnTo>
                  <a:lnTo>
                    <a:pt x="1658670" y="508939"/>
                  </a:lnTo>
                  <a:lnTo>
                    <a:pt x="1680908" y="547636"/>
                  </a:lnTo>
                  <a:lnTo>
                    <a:pt x="1701101" y="587578"/>
                  </a:lnTo>
                  <a:lnTo>
                    <a:pt x="1719186" y="628713"/>
                  </a:lnTo>
                  <a:lnTo>
                    <a:pt x="1735086" y="670953"/>
                  </a:lnTo>
                  <a:lnTo>
                    <a:pt x="1748739" y="714248"/>
                  </a:lnTo>
                  <a:lnTo>
                    <a:pt x="1760067" y="758494"/>
                  </a:lnTo>
                  <a:lnTo>
                    <a:pt x="1769008" y="803656"/>
                  </a:lnTo>
                  <a:lnTo>
                    <a:pt x="1775472" y="849630"/>
                  </a:lnTo>
                  <a:lnTo>
                    <a:pt x="1779409" y="896366"/>
                  </a:lnTo>
                  <a:lnTo>
                    <a:pt x="1780743" y="943787"/>
                  </a:lnTo>
                  <a:lnTo>
                    <a:pt x="1780743" y="507085"/>
                  </a:lnTo>
                  <a:lnTo>
                    <a:pt x="1762036" y="472655"/>
                  </a:lnTo>
                  <a:lnTo>
                    <a:pt x="1736331" y="430733"/>
                  </a:lnTo>
                  <a:lnTo>
                    <a:pt x="1708353" y="390080"/>
                  </a:lnTo>
                  <a:lnTo>
                    <a:pt x="1678139" y="350761"/>
                  </a:lnTo>
                  <a:lnTo>
                    <a:pt x="1645729" y="312851"/>
                  </a:lnTo>
                  <a:lnTo>
                    <a:pt x="1611147" y="276428"/>
                  </a:lnTo>
                  <a:lnTo>
                    <a:pt x="1574723" y="241846"/>
                  </a:lnTo>
                  <a:lnTo>
                    <a:pt x="1536814" y="209435"/>
                  </a:lnTo>
                  <a:lnTo>
                    <a:pt x="1497495" y="179222"/>
                  </a:lnTo>
                  <a:lnTo>
                    <a:pt x="1456842" y="151244"/>
                  </a:lnTo>
                  <a:lnTo>
                    <a:pt x="1414932" y="125526"/>
                  </a:lnTo>
                  <a:lnTo>
                    <a:pt x="1380540" y="106845"/>
                  </a:lnTo>
                  <a:lnTo>
                    <a:pt x="1371841" y="102108"/>
                  </a:lnTo>
                  <a:lnTo>
                    <a:pt x="1327645" y="81026"/>
                  </a:lnTo>
                  <a:lnTo>
                    <a:pt x="1282433" y="62293"/>
                  </a:lnTo>
                  <a:lnTo>
                    <a:pt x="1236268" y="45961"/>
                  </a:lnTo>
                  <a:lnTo>
                    <a:pt x="1189240" y="32054"/>
                  </a:lnTo>
                  <a:lnTo>
                    <a:pt x="1141425" y="20599"/>
                  </a:lnTo>
                  <a:lnTo>
                    <a:pt x="1092885" y="11633"/>
                  </a:lnTo>
                  <a:lnTo>
                    <a:pt x="1043724" y="5194"/>
                  </a:lnTo>
                  <a:lnTo>
                    <a:pt x="993990" y="1295"/>
                  </a:lnTo>
                  <a:lnTo>
                    <a:pt x="943787" y="0"/>
                  </a:lnTo>
                  <a:lnTo>
                    <a:pt x="893584" y="1295"/>
                  </a:lnTo>
                  <a:lnTo>
                    <a:pt x="843851" y="5194"/>
                  </a:lnTo>
                  <a:lnTo>
                    <a:pt x="794689" y="11633"/>
                  </a:lnTo>
                  <a:lnTo>
                    <a:pt x="746150" y="20599"/>
                  </a:lnTo>
                  <a:lnTo>
                    <a:pt x="698334" y="32054"/>
                  </a:lnTo>
                  <a:lnTo>
                    <a:pt x="651306" y="45961"/>
                  </a:lnTo>
                  <a:lnTo>
                    <a:pt x="605142" y="62293"/>
                  </a:lnTo>
                  <a:lnTo>
                    <a:pt x="559930" y="81026"/>
                  </a:lnTo>
                  <a:lnTo>
                    <a:pt x="515734" y="102108"/>
                  </a:lnTo>
                  <a:lnTo>
                    <a:pt x="472643" y="125526"/>
                  </a:lnTo>
                  <a:lnTo>
                    <a:pt x="430733" y="151244"/>
                  </a:lnTo>
                  <a:lnTo>
                    <a:pt x="390080" y="179222"/>
                  </a:lnTo>
                  <a:lnTo>
                    <a:pt x="350761" y="209435"/>
                  </a:lnTo>
                  <a:lnTo>
                    <a:pt x="312851" y="241846"/>
                  </a:lnTo>
                  <a:lnTo>
                    <a:pt x="276428" y="276428"/>
                  </a:lnTo>
                  <a:lnTo>
                    <a:pt x="241846" y="312851"/>
                  </a:lnTo>
                  <a:lnTo>
                    <a:pt x="209435" y="350761"/>
                  </a:lnTo>
                  <a:lnTo>
                    <a:pt x="179222" y="390080"/>
                  </a:lnTo>
                  <a:lnTo>
                    <a:pt x="151244" y="430733"/>
                  </a:lnTo>
                  <a:lnTo>
                    <a:pt x="125526" y="472655"/>
                  </a:lnTo>
                  <a:lnTo>
                    <a:pt x="102120" y="515747"/>
                  </a:lnTo>
                  <a:lnTo>
                    <a:pt x="81026" y="559930"/>
                  </a:lnTo>
                  <a:lnTo>
                    <a:pt x="62293" y="605142"/>
                  </a:lnTo>
                  <a:lnTo>
                    <a:pt x="45961" y="651306"/>
                  </a:lnTo>
                  <a:lnTo>
                    <a:pt x="32054" y="698334"/>
                  </a:lnTo>
                  <a:lnTo>
                    <a:pt x="20599" y="746163"/>
                  </a:lnTo>
                  <a:lnTo>
                    <a:pt x="11633" y="794689"/>
                  </a:lnTo>
                  <a:lnTo>
                    <a:pt x="5181" y="843864"/>
                  </a:lnTo>
                  <a:lnTo>
                    <a:pt x="1295" y="893584"/>
                  </a:lnTo>
                  <a:lnTo>
                    <a:pt x="0" y="943787"/>
                  </a:lnTo>
                  <a:lnTo>
                    <a:pt x="1295" y="993990"/>
                  </a:lnTo>
                  <a:lnTo>
                    <a:pt x="5181" y="1043724"/>
                  </a:lnTo>
                  <a:lnTo>
                    <a:pt x="11633" y="1092885"/>
                  </a:lnTo>
                  <a:lnTo>
                    <a:pt x="20599" y="1141412"/>
                  </a:lnTo>
                  <a:lnTo>
                    <a:pt x="32042" y="1189240"/>
                  </a:lnTo>
                  <a:lnTo>
                    <a:pt x="45961" y="1236268"/>
                  </a:lnTo>
                  <a:lnTo>
                    <a:pt x="62293" y="1282433"/>
                  </a:lnTo>
                  <a:lnTo>
                    <a:pt x="81026" y="1327645"/>
                  </a:lnTo>
                  <a:lnTo>
                    <a:pt x="102108" y="1371828"/>
                  </a:lnTo>
                  <a:lnTo>
                    <a:pt x="125526" y="1414919"/>
                  </a:lnTo>
                  <a:lnTo>
                    <a:pt x="151244" y="1456842"/>
                  </a:lnTo>
                  <a:lnTo>
                    <a:pt x="179222" y="1497495"/>
                  </a:lnTo>
                  <a:lnTo>
                    <a:pt x="209435" y="1536814"/>
                  </a:lnTo>
                  <a:lnTo>
                    <a:pt x="241846" y="1574736"/>
                  </a:lnTo>
                  <a:lnTo>
                    <a:pt x="276428" y="1611147"/>
                  </a:lnTo>
                  <a:lnTo>
                    <a:pt x="312851" y="1645729"/>
                  </a:lnTo>
                  <a:lnTo>
                    <a:pt x="350761" y="1678139"/>
                  </a:lnTo>
                  <a:lnTo>
                    <a:pt x="390080" y="1708353"/>
                  </a:lnTo>
                  <a:lnTo>
                    <a:pt x="430733" y="1736331"/>
                  </a:lnTo>
                  <a:lnTo>
                    <a:pt x="472643" y="1762048"/>
                  </a:lnTo>
                  <a:lnTo>
                    <a:pt x="515734" y="1785467"/>
                  </a:lnTo>
                  <a:lnTo>
                    <a:pt x="559930" y="1806562"/>
                  </a:lnTo>
                  <a:lnTo>
                    <a:pt x="605142" y="1825282"/>
                  </a:lnTo>
                  <a:lnTo>
                    <a:pt x="651306" y="1841627"/>
                  </a:lnTo>
                  <a:lnTo>
                    <a:pt x="698334" y="1855533"/>
                  </a:lnTo>
                  <a:lnTo>
                    <a:pt x="746150" y="1866988"/>
                  </a:lnTo>
                  <a:lnTo>
                    <a:pt x="794689" y="1875955"/>
                  </a:lnTo>
                  <a:lnTo>
                    <a:pt x="843851" y="1882394"/>
                  </a:lnTo>
                  <a:lnTo>
                    <a:pt x="893584" y="1886280"/>
                  </a:lnTo>
                  <a:lnTo>
                    <a:pt x="943787" y="1887588"/>
                  </a:lnTo>
                  <a:lnTo>
                    <a:pt x="993990" y="1886280"/>
                  </a:lnTo>
                  <a:lnTo>
                    <a:pt x="1043724" y="1882394"/>
                  </a:lnTo>
                  <a:lnTo>
                    <a:pt x="1092885" y="1875955"/>
                  </a:lnTo>
                  <a:lnTo>
                    <a:pt x="1141425" y="1866988"/>
                  </a:lnTo>
                  <a:lnTo>
                    <a:pt x="1189240" y="1855533"/>
                  </a:lnTo>
                  <a:lnTo>
                    <a:pt x="1236268" y="1841627"/>
                  </a:lnTo>
                  <a:lnTo>
                    <a:pt x="1282433" y="1825282"/>
                  </a:lnTo>
                  <a:lnTo>
                    <a:pt x="1327645" y="1806562"/>
                  </a:lnTo>
                  <a:lnTo>
                    <a:pt x="1371841" y="1785467"/>
                  </a:lnTo>
                  <a:lnTo>
                    <a:pt x="1414932" y="1762048"/>
                  </a:lnTo>
                  <a:lnTo>
                    <a:pt x="1456842" y="1736331"/>
                  </a:lnTo>
                  <a:lnTo>
                    <a:pt x="1497495" y="1708353"/>
                  </a:lnTo>
                  <a:lnTo>
                    <a:pt x="1536814" y="1678139"/>
                  </a:lnTo>
                  <a:lnTo>
                    <a:pt x="1574723" y="1645729"/>
                  </a:lnTo>
                  <a:lnTo>
                    <a:pt x="1611147" y="1611147"/>
                  </a:lnTo>
                  <a:lnTo>
                    <a:pt x="1645729" y="1574736"/>
                  </a:lnTo>
                  <a:lnTo>
                    <a:pt x="1678139" y="1536814"/>
                  </a:lnTo>
                  <a:lnTo>
                    <a:pt x="1708353" y="1497495"/>
                  </a:lnTo>
                  <a:lnTo>
                    <a:pt x="1736331" y="1456842"/>
                  </a:lnTo>
                  <a:lnTo>
                    <a:pt x="1762048" y="1414919"/>
                  </a:lnTo>
                  <a:lnTo>
                    <a:pt x="1785467" y="1371828"/>
                  </a:lnTo>
                  <a:lnTo>
                    <a:pt x="1806549" y="1327645"/>
                  </a:lnTo>
                  <a:lnTo>
                    <a:pt x="1825282" y="1282433"/>
                  </a:lnTo>
                  <a:lnTo>
                    <a:pt x="1841614" y="1236268"/>
                  </a:lnTo>
                  <a:lnTo>
                    <a:pt x="1855533" y="1189240"/>
                  </a:lnTo>
                  <a:lnTo>
                    <a:pt x="1866976" y="1141412"/>
                  </a:lnTo>
                  <a:lnTo>
                    <a:pt x="1875942" y="1092885"/>
                  </a:lnTo>
                  <a:lnTo>
                    <a:pt x="1882394" y="1043724"/>
                  </a:lnTo>
                  <a:lnTo>
                    <a:pt x="1886280" y="993990"/>
                  </a:lnTo>
                  <a:lnTo>
                    <a:pt x="1886356" y="991209"/>
                  </a:lnTo>
                  <a:lnTo>
                    <a:pt x="1887588" y="943787"/>
                  </a:lnTo>
                  <a:close/>
                </a:path>
              </a:pathLst>
            </a:custGeom>
            <a:solidFill>
              <a:srgbClr val="4018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859864" y="2413596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59" h="1318260">
                  <a:moveTo>
                    <a:pt x="40259" y="1318242"/>
                  </a:moveTo>
                  <a:lnTo>
                    <a:pt x="32056" y="1318242"/>
                  </a:lnTo>
                  <a:lnTo>
                    <a:pt x="23849" y="1318242"/>
                  </a:lnTo>
                  <a:lnTo>
                    <a:pt x="15652" y="1315108"/>
                  </a:lnTo>
                  <a:lnTo>
                    <a:pt x="9391" y="1308854"/>
                  </a:lnTo>
                  <a:lnTo>
                    <a:pt x="2347" y="1298249"/>
                  </a:lnTo>
                  <a:lnTo>
                    <a:pt x="0" y="1286186"/>
                  </a:lnTo>
                  <a:lnTo>
                    <a:pt x="2347" y="1274125"/>
                  </a:lnTo>
                  <a:lnTo>
                    <a:pt x="9391" y="1263523"/>
                  </a:lnTo>
                  <a:lnTo>
                    <a:pt x="1263530" y="9384"/>
                  </a:lnTo>
                  <a:lnTo>
                    <a:pt x="1274133" y="2345"/>
                  </a:lnTo>
                  <a:lnTo>
                    <a:pt x="1286196" y="0"/>
                  </a:lnTo>
                  <a:lnTo>
                    <a:pt x="1298259" y="2346"/>
                  </a:lnTo>
                  <a:lnTo>
                    <a:pt x="1308862" y="9384"/>
                  </a:lnTo>
                  <a:lnTo>
                    <a:pt x="1315905" y="19989"/>
                  </a:lnTo>
                  <a:lnTo>
                    <a:pt x="1318253" y="32052"/>
                  </a:lnTo>
                  <a:lnTo>
                    <a:pt x="1315905" y="44113"/>
                  </a:lnTo>
                  <a:lnTo>
                    <a:pt x="1308862" y="54715"/>
                  </a:lnTo>
                  <a:lnTo>
                    <a:pt x="48461" y="1315115"/>
                  </a:lnTo>
                  <a:lnTo>
                    <a:pt x="40259" y="13182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28083" y="2012609"/>
              <a:ext cx="459917" cy="751015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98452" y="147162"/>
            <a:ext cx="2685936" cy="271420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623" y="3756024"/>
            <a:ext cx="123825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623" y="4841874"/>
            <a:ext cx="123825" cy="123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623" y="5927724"/>
            <a:ext cx="123825" cy="123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1135" y="6465887"/>
            <a:ext cx="133350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1135" y="7008811"/>
            <a:ext cx="133350" cy="1333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1135" y="7551736"/>
            <a:ext cx="133350" cy="133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1135" y="8094661"/>
            <a:ext cx="133350" cy="13334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893778" y="5631808"/>
            <a:ext cx="8928735" cy="27400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3100" spc="60">
                <a:solidFill>
                  <a:srgbClr val="F1EDE9"/>
                </a:solidFill>
                <a:latin typeface="Trebuchet MS"/>
                <a:cs typeface="Trebuchet MS"/>
              </a:rPr>
              <a:t>Portfolios</a:t>
            </a:r>
            <a:r>
              <a:rPr dirty="0" sz="31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45">
                <a:solidFill>
                  <a:srgbClr val="F1EDE9"/>
                </a:solidFill>
                <a:latin typeface="Trebuchet MS"/>
                <a:cs typeface="Trebuchet MS"/>
              </a:rPr>
              <a:t>designed</a:t>
            </a:r>
            <a:r>
              <a:rPr dirty="0" sz="31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35">
                <a:solidFill>
                  <a:srgbClr val="F1EDE9"/>
                </a:solidFill>
                <a:latin typeface="Trebuchet MS"/>
                <a:cs typeface="Trebuchet MS"/>
              </a:rPr>
              <a:t>as:</a:t>
            </a:r>
            <a:endParaRPr sz="3100">
              <a:latin typeface="Trebuchet MS"/>
              <a:cs typeface="Trebuchet MS"/>
            </a:endParaRPr>
          </a:p>
          <a:p>
            <a:pPr marL="681355" marR="764540">
              <a:lnSpc>
                <a:spcPct val="114900"/>
              </a:lnSpc>
            </a:pPr>
            <a:r>
              <a:rPr dirty="0" sz="3100" spc="-20" b="1">
                <a:solidFill>
                  <a:srgbClr val="F1EDE9"/>
                </a:solidFill>
                <a:latin typeface="Tahoma"/>
                <a:cs typeface="Tahoma"/>
              </a:rPr>
              <a:t>Conservative:</a:t>
            </a:r>
            <a:r>
              <a:rPr dirty="0" sz="3100" spc="-18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70" b="1">
                <a:solidFill>
                  <a:srgbClr val="F1EDE9"/>
                </a:solidFill>
                <a:latin typeface="Tahoma"/>
                <a:cs typeface="Tahoma"/>
              </a:rPr>
              <a:t>Low</a:t>
            </a:r>
            <a:r>
              <a:rPr dirty="0" sz="31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25" b="1">
                <a:solidFill>
                  <a:srgbClr val="F1EDE9"/>
                </a:solidFill>
                <a:latin typeface="Tahoma"/>
                <a:cs typeface="Tahoma"/>
              </a:rPr>
              <a:t>risk,</a:t>
            </a:r>
            <a:r>
              <a:rPr dirty="0" sz="31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F1EDE9"/>
                </a:solidFill>
                <a:latin typeface="Tahoma"/>
                <a:cs typeface="Tahoma"/>
              </a:rPr>
              <a:t>steady</a:t>
            </a:r>
            <a:r>
              <a:rPr dirty="0" sz="31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returns </a:t>
            </a:r>
            <a:r>
              <a:rPr dirty="0" sz="3100" spc="-40" b="1">
                <a:solidFill>
                  <a:srgbClr val="F1EDE9"/>
                </a:solidFill>
                <a:latin typeface="Tahoma"/>
                <a:cs typeface="Tahoma"/>
              </a:rPr>
              <a:t>Moderate:</a:t>
            </a:r>
            <a:r>
              <a:rPr dirty="0" sz="3100" spc="-17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30" b="1">
                <a:solidFill>
                  <a:srgbClr val="F1EDE9"/>
                </a:solidFill>
                <a:latin typeface="Tahoma"/>
                <a:cs typeface="Tahoma"/>
              </a:rPr>
              <a:t>Balanced</a:t>
            </a:r>
            <a:r>
              <a:rPr dirty="0" sz="3100" spc="-17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b="1">
                <a:solidFill>
                  <a:srgbClr val="F1EDE9"/>
                </a:solidFill>
                <a:latin typeface="Tahoma"/>
                <a:cs typeface="Tahoma"/>
              </a:rPr>
              <a:t>risk-</a:t>
            </a: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reward </a:t>
            </a:r>
            <a:r>
              <a:rPr dirty="0" sz="3100" b="1">
                <a:solidFill>
                  <a:srgbClr val="F1EDE9"/>
                </a:solidFill>
                <a:latin typeface="Tahoma"/>
                <a:cs typeface="Tahoma"/>
              </a:rPr>
              <a:t>Aggressive:</a:t>
            </a:r>
            <a:r>
              <a:rPr dirty="0" sz="3100" spc="-1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70" b="1">
                <a:solidFill>
                  <a:srgbClr val="F1EDE9"/>
                </a:solidFill>
                <a:latin typeface="Tahoma"/>
                <a:cs typeface="Tahoma"/>
              </a:rPr>
              <a:t>High</a:t>
            </a:r>
            <a:r>
              <a:rPr dirty="0" sz="3100" spc="-1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60" b="1">
                <a:solidFill>
                  <a:srgbClr val="F1EDE9"/>
                </a:solidFill>
                <a:latin typeface="Tahoma"/>
                <a:cs typeface="Tahoma"/>
              </a:rPr>
              <a:t>growth</a:t>
            </a:r>
            <a:r>
              <a:rPr dirty="0" sz="3100" spc="-1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focus</a:t>
            </a:r>
            <a:endParaRPr sz="3100">
              <a:latin typeface="Tahoma"/>
              <a:cs typeface="Tahoma"/>
            </a:endParaRPr>
          </a:p>
          <a:p>
            <a:pPr marL="681355">
              <a:lnSpc>
                <a:spcPct val="100000"/>
              </a:lnSpc>
              <a:spcBef>
                <a:spcPts val="555"/>
              </a:spcBef>
            </a:pPr>
            <a:r>
              <a:rPr dirty="0" sz="3100" spc="-35" b="1">
                <a:solidFill>
                  <a:srgbClr val="F1EDE9"/>
                </a:solidFill>
                <a:latin typeface="Tahoma"/>
                <a:cs typeface="Tahoma"/>
              </a:rPr>
              <a:t>High-</a:t>
            </a:r>
            <a:r>
              <a:rPr dirty="0" sz="3100" spc="-100" b="1">
                <a:solidFill>
                  <a:srgbClr val="F1EDE9"/>
                </a:solidFill>
                <a:latin typeface="Tahoma"/>
                <a:cs typeface="Tahoma"/>
              </a:rPr>
              <a:t>Risk:</a:t>
            </a:r>
            <a:r>
              <a:rPr dirty="0" sz="3100" spc="-16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25" b="1">
                <a:solidFill>
                  <a:srgbClr val="F1EDE9"/>
                </a:solidFill>
                <a:latin typeface="Tahoma"/>
                <a:cs typeface="Tahoma"/>
              </a:rPr>
              <a:t>Speculative,</a:t>
            </a:r>
            <a:r>
              <a:rPr dirty="0" sz="31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120" b="1">
                <a:solidFill>
                  <a:srgbClr val="F1EDE9"/>
                </a:solidFill>
                <a:latin typeface="Tahoma"/>
                <a:cs typeface="Tahoma"/>
              </a:rPr>
              <a:t>maximum</a:t>
            </a:r>
            <a:r>
              <a:rPr dirty="0" sz="3100" spc="-16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100" spc="-10" b="1">
                <a:solidFill>
                  <a:srgbClr val="F1EDE9"/>
                </a:solidFill>
                <a:latin typeface="Tahoma"/>
                <a:cs typeface="Tahoma"/>
              </a:rPr>
              <a:t>volatility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1603977" y="5801250"/>
            <a:ext cx="6684645" cy="4486275"/>
          </a:xfrm>
          <a:custGeom>
            <a:avLst/>
            <a:gdLst/>
            <a:ahLst/>
            <a:cxnLst/>
            <a:rect l="l" t="t" r="r" b="b"/>
            <a:pathLst>
              <a:path w="6684644" h="4486275">
                <a:moveTo>
                  <a:pt x="6684022" y="4485749"/>
                </a:moveTo>
                <a:lnTo>
                  <a:pt x="0" y="4485749"/>
                </a:lnTo>
                <a:lnTo>
                  <a:pt x="0" y="666750"/>
                </a:lnTo>
                <a:lnTo>
                  <a:pt x="1730" y="618730"/>
                </a:lnTo>
                <a:lnTo>
                  <a:pt x="6873" y="571238"/>
                </a:lnTo>
                <a:lnTo>
                  <a:pt x="15361" y="524441"/>
                </a:lnTo>
                <a:lnTo>
                  <a:pt x="27123" y="478508"/>
                </a:lnTo>
                <a:lnTo>
                  <a:pt x="42090" y="433607"/>
                </a:lnTo>
                <a:lnTo>
                  <a:pt x="60191" y="389906"/>
                </a:lnTo>
                <a:lnTo>
                  <a:pt x="81358" y="347573"/>
                </a:lnTo>
                <a:lnTo>
                  <a:pt x="105521" y="306776"/>
                </a:lnTo>
                <a:lnTo>
                  <a:pt x="132610" y="267684"/>
                </a:lnTo>
                <a:lnTo>
                  <a:pt x="162554" y="230465"/>
                </a:lnTo>
                <a:lnTo>
                  <a:pt x="195286" y="195286"/>
                </a:lnTo>
                <a:lnTo>
                  <a:pt x="230464" y="162555"/>
                </a:lnTo>
                <a:lnTo>
                  <a:pt x="267684" y="132610"/>
                </a:lnTo>
                <a:lnTo>
                  <a:pt x="306776" y="105521"/>
                </a:lnTo>
                <a:lnTo>
                  <a:pt x="347572" y="81358"/>
                </a:lnTo>
                <a:lnTo>
                  <a:pt x="389905" y="60191"/>
                </a:lnTo>
                <a:lnTo>
                  <a:pt x="433606" y="42090"/>
                </a:lnTo>
                <a:lnTo>
                  <a:pt x="478508" y="27123"/>
                </a:lnTo>
                <a:lnTo>
                  <a:pt x="524441" y="15361"/>
                </a:lnTo>
                <a:lnTo>
                  <a:pt x="571238" y="6873"/>
                </a:lnTo>
                <a:lnTo>
                  <a:pt x="618730" y="1730"/>
                </a:lnTo>
                <a:lnTo>
                  <a:pt x="666749" y="0"/>
                </a:lnTo>
                <a:lnTo>
                  <a:pt x="6017272" y="0"/>
                </a:lnTo>
                <a:lnTo>
                  <a:pt x="6065291" y="1730"/>
                </a:lnTo>
                <a:lnTo>
                  <a:pt x="6112784" y="6873"/>
                </a:lnTo>
                <a:lnTo>
                  <a:pt x="6159580" y="15361"/>
                </a:lnTo>
                <a:lnTo>
                  <a:pt x="6205514" y="27123"/>
                </a:lnTo>
                <a:lnTo>
                  <a:pt x="6250415" y="42090"/>
                </a:lnTo>
                <a:lnTo>
                  <a:pt x="6294116" y="60191"/>
                </a:lnTo>
                <a:lnTo>
                  <a:pt x="6336449" y="81358"/>
                </a:lnTo>
                <a:lnTo>
                  <a:pt x="6377246" y="105521"/>
                </a:lnTo>
                <a:lnTo>
                  <a:pt x="6416338" y="132610"/>
                </a:lnTo>
                <a:lnTo>
                  <a:pt x="6453557" y="162555"/>
                </a:lnTo>
                <a:lnTo>
                  <a:pt x="6488735" y="195286"/>
                </a:lnTo>
                <a:lnTo>
                  <a:pt x="6521467" y="230465"/>
                </a:lnTo>
                <a:lnTo>
                  <a:pt x="6551412" y="267684"/>
                </a:lnTo>
                <a:lnTo>
                  <a:pt x="6578500" y="306776"/>
                </a:lnTo>
                <a:lnTo>
                  <a:pt x="6602663" y="347573"/>
                </a:lnTo>
                <a:lnTo>
                  <a:pt x="6623830" y="389906"/>
                </a:lnTo>
                <a:lnTo>
                  <a:pt x="6641932" y="433607"/>
                </a:lnTo>
                <a:lnTo>
                  <a:pt x="6656898" y="478508"/>
                </a:lnTo>
                <a:lnTo>
                  <a:pt x="6668660" y="524441"/>
                </a:lnTo>
                <a:lnTo>
                  <a:pt x="6677148" y="571238"/>
                </a:lnTo>
                <a:lnTo>
                  <a:pt x="6682292" y="618730"/>
                </a:lnTo>
                <a:lnTo>
                  <a:pt x="6684022" y="666750"/>
                </a:lnTo>
                <a:lnTo>
                  <a:pt x="6684022" y="4485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907983" y="5869861"/>
            <a:ext cx="371411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204">
                <a:solidFill>
                  <a:srgbClr val="FFFFFF"/>
                </a:solidFill>
                <a:latin typeface="Arial Black"/>
                <a:cs typeface="Arial Black"/>
              </a:rPr>
              <a:t>Metrics</a:t>
            </a:r>
            <a:r>
              <a:rPr dirty="0" sz="3100" spc="-2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40">
                <a:solidFill>
                  <a:srgbClr val="FFFFFF"/>
                </a:solidFill>
                <a:latin typeface="Arial Black"/>
                <a:cs typeface="Arial Black"/>
              </a:rPr>
              <a:t>Computed:</a:t>
            </a:r>
            <a:endParaRPr sz="3100">
              <a:latin typeface="Arial Black"/>
              <a:cs typeface="Arial Black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1927826" y="7152530"/>
            <a:ext cx="123825" cy="2105025"/>
            <a:chOff x="11927826" y="7152530"/>
            <a:chExt cx="123825" cy="2105025"/>
          </a:xfrm>
        </p:grpSpPr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27826" y="7152530"/>
              <a:ext cx="123825" cy="1238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27826" y="8143129"/>
              <a:ext cx="123825" cy="1238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27826" y="9133729"/>
              <a:ext cx="123825" cy="123824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2233767" y="6896618"/>
            <a:ext cx="5371465" cy="299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34365">
              <a:lnSpc>
                <a:spcPct val="116100"/>
              </a:lnSpc>
              <a:spcBef>
                <a:spcPts val="100"/>
              </a:spcBef>
            </a:pPr>
            <a:r>
              <a:rPr dirty="0" sz="2800" spc="-229">
                <a:solidFill>
                  <a:srgbClr val="FFFFFF"/>
                </a:solidFill>
                <a:latin typeface="Arial Black"/>
                <a:cs typeface="Arial Black"/>
              </a:rPr>
              <a:t>Expected</a:t>
            </a:r>
            <a:r>
              <a:rPr dirty="0" sz="2800" spc="-2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75">
                <a:solidFill>
                  <a:srgbClr val="FFFFFF"/>
                </a:solidFill>
                <a:latin typeface="Arial Black"/>
                <a:cs typeface="Arial Black"/>
              </a:rPr>
              <a:t>Return:</a:t>
            </a:r>
            <a:r>
              <a:rPr dirty="0" sz="2800" spc="-2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55">
                <a:solidFill>
                  <a:srgbClr val="FFFFFF"/>
                </a:solidFill>
                <a:latin typeface="Arial Black"/>
                <a:cs typeface="Arial Black"/>
              </a:rPr>
              <a:t>Weighted </a:t>
            </a:r>
            <a:r>
              <a:rPr dirty="0" sz="2800" spc="-235">
                <a:solidFill>
                  <a:srgbClr val="FFFFFF"/>
                </a:solidFill>
                <a:latin typeface="Arial Black"/>
                <a:cs typeface="Arial Black"/>
              </a:rPr>
              <a:t>average</a:t>
            </a:r>
            <a:r>
              <a:rPr dirty="0" sz="2800" spc="-2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Black"/>
                <a:cs typeface="Arial Black"/>
              </a:rPr>
              <a:t>returns</a:t>
            </a:r>
            <a:endParaRPr sz="2800">
              <a:latin typeface="Arial Black"/>
              <a:cs typeface="Arial Black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-114">
                <a:solidFill>
                  <a:srgbClr val="FFFFFF"/>
                </a:solidFill>
                <a:latin typeface="Arial Black"/>
                <a:cs typeface="Arial Black"/>
              </a:rPr>
              <a:t>Portfolio</a:t>
            </a:r>
            <a:r>
              <a:rPr dirty="0" sz="2800" spc="-20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60">
                <a:solidFill>
                  <a:srgbClr val="FFFFFF"/>
                </a:solidFill>
                <a:latin typeface="Arial Black"/>
                <a:cs typeface="Arial Black"/>
              </a:rPr>
              <a:t>Volatility:</a:t>
            </a:r>
            <a:r>
              <a:rPr dirty="0" sz="2800" spc="-2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60">
                <a:solidFill>
                  <a:srgbClr val="FFFFFF"/>
                </a:solidFill>
                <a:latin typeface="Arial Black"/>
                <a:cs typeface="Arial Black"/>
              </a:rPr>
              <a:t>Overall</a:t>
            </a:r>
            <a:r>
              <a:rPr dirty="0" sz="2800" spc="-2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85">
                <a:solidFill>
                  <a:srgbClr val="FFFFFF"/>
                </a:solidFill>
                <a:latin typeface="Arial Black"/>
                <a:cs typeface="Arial Black"/>
              </a:rPr>
              <a:t>risk </a:t>
            </a:r>
            <a:r>
              <a:rPr dirty="0" sz="2800" spc="-80">
                <a:solidFill>
                  <a:srgbClr val="FFFFFF"/>
                </a:solidFill>
                <a:latin typeface="Arial Black"/>
                <a:cs typeface="Arial Black"/>
              </a:rPr>
              <a:t>measure</a:t>
            </a:r>
            <a:endParaRPr sz="2800">
              <a:latin typeface="Arial Black"/>
              <a:cs typeface="Arial Black"/>
            </a:endParaRPr>
          </a:p>
          <a:p>
            <a:pPr marL="12700" marR="596900">
              <a:lnSpc>
                <a:spcPct val="116100"/>
              </a:lnSpc>
            </a:pPr>
            <a:r>
              <a:rPr dirty="0" sz="2800" spc="-190">
                <a:solidFill>
                  <a:srgbClr val="FFFFFF"/>
                </a:solidFill>
                <a:latin typeface="Arial Black"/>
                <a:cs typeface="Arial Black"/>
              </a:rPr>
              <a:t>Sharpe</a:t>
            </a:r>
            <a:r>
              <a:rPr dirty="0" sz="2800" spc="-2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195">
                <a:solidFill>
                  <a:srgbClr val="FFFFFF"/>
                </a:solidFill>
                <a:latin typeface="Arial Black"/>
                <a:cs typeface="Arial Black"/>
              </a:rPr>
              <a:t>Ratio:</a:t>
            </a:r>
            <a:r>
              <a:rPr dirty="0" sz="2800" spc="-2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240">
                <a:solidFill>
                  <a:srgbClr val="FFFFFF"/>
                </a:solidFill>
                <a:latin typeface="Arial Black"/>
                <a:cs typeface="Arial Black"/>
              </a:rPr>
              <a:t>Risk-</a:t>
            </a:r>
            <a:r>
              <a:rPr dirty="0" sz="2800" spc="-145">
                <a:solidFill>
                  <a:srgbClr val="FFFFFF"/>
                </a:solidFill>
                <a:latin typeface="Arial Black"/>
                <a:cs typeface="Arial Black"/>
              </a:rPr>
              <a:t>adjusted </a:t>
            </a:r>
            <a:r>
              <a:rPr dirty="0" sz="2800" spc="-160">
                <a:solidFill>
                  <a:srgbClr val="FFFFFF"/>
                </a:solidFill>
                <a:latin typeface="Arial Black"/>
                <a:cs typeface="Arial Black"/>
              </a:rPr>
              <a:t>performance</a:t>
            </a:r>
            <a:r>
              <a:rPr dirty="0" sz="28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Arial Black"/>
                <a:cs typeface="Arial Black"/>
              </a:rPr>
              <a:t>indicator</a:t>
            </a:r>
            <a:endParaRPr sz="2800">
              <a:latin typeface="Arial Black"/>
              <a:cs typeface="Arial Black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145257" y="5143500"/>
            <a:ext cx="7142741" cy="5143499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24498" y="175602"/>
            <a:ext cx="12252325" cy="1416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100" spc="-670">
                <a:solidFill>
                  <a:srgbClr val="F1EDE9"/>
                </a:solidFill>
              </a:rPr>
              <a:t>P</a:t>
            </a:r>
            <a:r>
              <a:rPr dirty="0" sz="9100" spc="-615">
                <a:solidFill>
                  <a:srgbClr val="F1EDE9"/>
                </a:solidFill>
              </a:rPr>
              <a:t>o</a:t>
            </a:r>
            <a:r>
              <a:rPr dirty="0" sz="9100" spc="-600">
                <a:solidFill>
                  <a:srgbClr val="F1EDE9"/>
                </a:solidFill>
              </a:rPr>
              <a:t>r</a:t>
            </a:r>
            <a:r>
              <a:rPr dirty="0" sz="9100" spc="-590">
                <a:solidFill>
                  <a:srgbClr val="F1EDE9"/>
                </a:solidFill>
              </a:rPr>
              <a:t>t</a:t>
            </a:r>
            <a:r>
              <a:rPr dirty="0" sz="9100" spc="-540">
                <a:solidFill>
                  <a:srgbClr val="F1EDE9"/>
                </a:solidFill>
              </a:rPr>
              <a:t>f</a:t>
            </a:r>
            <a:r>
              <a:rPr dirty="0" sz="9100" spc="-615">
                <a:solidFill>
                  <a:srgbClr val="F1EDE9"/>
                </a:solidFill>
              </a:rPr>
              <a:t>o</a:t>
            </a:r>
            <a:r>
              <a:rPr dirty="0" sz="9100" spc="-675">
                <a:solidFill>
                  <a:srgbClr val="F1EDE9"/>
                </a:solidFill>
              </a:rPr>
              <a:t>li</a:t>
            </a:r>
            <a:r>
              <a:rPr dirty="0" sz="9100" spc="-20">
                <a:solidFill>
                  <a:srgbClr val="F1EDE9"/>
                </a:solidFill>
              </a:rPr>
              <a:t>o</a:t>
            </a:r>
            <a:r>
              <a:rPr dirty="0" sz="9100" spc="-2065">
                <a:solidFill>
                  <a:srgbClr val="F1EDE9"/>
                </a:solidFill>
              </a:rPr>
              <a:t> </a:t>
            </a:r>
            <a:r>
              <a:rPr dirty="0" sz="9100" spc="-605">
                <a:solidFill>
                  <a:srgbClr val="F1EDE9"/>
                </a:solidFill>
              </a:rPr>
              <a:t>C</a:t>
            </a:r>
            <a:r>
              <a:rPr dirty="0" sz="9100" spc="-625">
                <a:solidFill>
                  <a:srgbClr val="F1EDE9"/>
                </a:solidFill>
              </a:rPr>
              <a:t>on</a:t>
            </a:r>
            <a:r>
              <a:rPr dirty="0" sz="9100" spc="-700">
                <a:solidFill>
                  <a:srgbClr val="F1EDE9"/>
                </a:solidFill>
              </a:rPr>
              <a:t>s</a:t>
            </a:r>
            <a:r>
              <a:rPr dirty="0" sz="9100" spc="-600">
                <a:solidFill>
                  <a:srgbClr val="F1EDE9"/>
                </a:solidFill>
              </a:rPr>
              <a:t>t</a:t>
            </a:r>
            <a:r>
              <a:rPr dirty="0" sz="9100" spc="-610">
                <a:solidFill>
                  <a:srgbClr val="F1EDE9"/>
                </a:solidFill>
              </a:rPr>
              <a:t>r</a:t>
            </a:r>
            <a:r>
              <a:rPr dirty="0" sz="9100" spc="-635">
                <a:solidFill>
                  <a:srgbClr val="F1EDE9"/>
                </a:solidFill>
              </a:rPr>
              <a:t>u</a:t>
            </a:r>
            <a:r>
              <a:rPr dirty="0" sz="9100" spc="-645">
                <a:solidFill>
                  <a:srgbClr val="F1EDE9"/>
                </a:solidFill>
              </a:rPr>
              <a:t>c</a:t>
            </a:r>
            <a:r>
              <a:rPr dirty="0" sz="9100" spc="-600">
                <a:solidFill>
                  <a:srgbClr val="F1EDE9"/>
                </a:solidFill>
              </a:rPr>
              <a:t>t</a:t>
            </a:r>
            <a:r>
              <a:rPr dirty="0" sz="9100" spc="-685">
                <a:solidFill>
                  <a:srgbClr val="F1EDE9"/>
                </a:solidFill>
              </a:rPr>
              <a:t>i</a:t>
            </a:r>
            <a:r>
              <a:rPr dirty="0" sz="9100" spc="-625">
                <a:solidFill>
                  <a:srgbClr val="F1EDE9"/>
                </a:solidFill>
              </a:rPr>
              <a:t>o</a:t>
            </a:r>
            <a:r>
              <a:rPr dirty="0" sz="9100" spc="-30">
                <a:solidFill>
                  <a:srgbClr val="F1EDE9"/>
                </a:solidFill>
              </a:rPr>
              <a:t>n</a:t>
            </a:r>
            <a:endParaRPr sz="9100"/>
          </a:p>
        </p:txBody>
      </p:sp>
      <p:sp>
        <p:nvSpPr>
          <p:cNvPr id="26" name="object 26" descr=""/>
          <p:cNvSpPr txBox="1"/>
          <p:nvPr/>
        </p:nvSpPr>
        <p:spPr>
          <a:xfrm>
            <a:off x="224498" y="1275095"/>
            <a:ext cx="13524230" cy="3839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100" spc="-610">
                <a:solidFill>
                  <a:srgbClr val="F1EDE9"/>
                </a:solidFill>
                <a:latin typeface="Arial Black"/>
                <a:cs typeface="Arial Black"/>
              </a:rPr>
              <a:t>M</a:t>
            </a:r>
            <a:r>
              <a:rPr dirty="0" sz="9100" spc="-620">
                <a:solidFill>
                  <a:srgbClr val="F1EDE9"/>
                </a:solidFill>
                <a:latin typeface="Arial Black"/>
                <a:cs typeface="Arial Black"/>
              </a:rPr>
              <a:t>e</a:t>
            </a:r>
            <a:r>
              <a:rPr dirty="0" sz="9100" spc="-575">
                <a:solidFill>
                  <a:srgbClr val="F1EDE9"/>
                </a:solidFill>
                <a:latin typeface="Arial Black"/>
                <a:cs typeface="Arial Black"/>
              </a:rPr>
              <a:t>t</a:t>
            </a:r>
            <a:r>
              <a:rPr dirty="0" sz="9100" spc="-600">
                <a:solidFill>
                  <a:srgbClr val="F1EDE9"/>
                </a:solidFill>
                <a:latin typeface="Arial Black"/>
                <a:cs typeface="Arial Black"/>
              </a:rPr>
              <a:t>ho</a:t>
            </a:r>
            <a:r>
              <a:rPr dirty="0" sz="9100" spc="-575">
                <a:solidFill>
                  <a:srgbClr val="F1EDE9"/>
                </a:solidFill>
                <a:latin typeface="Arial Black"/>
                <a:cs typeface="Arial Black"/>
              </a:rPr>
              <a:t>d</a:t>
            </a:r>
            <a:r>
              <a:rPr dirty="0" sz="9100" spc="-600">
                <a:solidFill>
                  <a:srgbClr val="F1EDE9"/>
                </a:solidFill>
                <a:latin typeface="Arial Black"/>
                <a:cs typeface="Arial Black"/>
              </a:rPr>
              <a:t>o</a:t>
            </a:r>
            <a:r>
              <a:rPr dirty="0" sz="9100" spc="-660">
                <a:solidFill>
                  <a:srgbClr val="F1EDE9"/>
                </a:solidFill>
                <a:latin typeface="Arial Black"/>
                <a:cs typeface="Arial Black"/>
              </a:rPr>
              <a:t>l</a:t>
            </a:r>
            <a:r>
              <a:rPr dirty="0" sz="9100" spc="-600">
                <a:solidFill>
                  <a:srgbClr val="F1EDE9"/>
                </a:solidFill>
                <a:latin typeface="Arial Black"/>
                <a:cs typeface="Arial Black"/>
              </a:rPr>
              <a:t>o</a:t>
            </a:r>
            <a:r>
              <a:rPr dirty="0" sz="9100" spc="-590">
                <a:solidFill>
                  <a:srgbClr val="F1EDE9"/>
                </a:solidFill>
                <a:latin typeface="Arial Black"/>
                <a:cs typeface="Arial Black"/>
              </a:rPr>
              <a:t>g</a:t>
            </a:r>
            <a:r>
              <a:rPr dirty="0" sz="9100" spc="-5">
                <a:solidFill>
                  <a:srgbClr val="F1EDE9"/>
                </a:solidFill>
                <a:latin typeface="Arial Black"/>
                <a:cs typeface="Arial Black"/>
              </a:rPr>
              <a:t>y</a:t>
            </a:r>
            <a:endParaRPr sz="9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3200" spc="-10" b="1">
                <a:solidFill>
                  <a:srgbClr val="F1EDE9"/>
                </a:solidFill>
                <a:latin typeface="Tahoma"/>
                <a:cs typeface="Tahoma"/>
              </a:rPr>
              <a:t>Approach:</a:t>
            </a:r>
            <a:endParaRPr sz="3200">
              <a:latin typeface="Tahoma"/>
              <a:cs typeface="Tahoma"/>
            </a:endParaRPr>
          </a:p>
          <a:p>
            <a:pPr marL="681355">
              <a:lnSpc>
                <a:spcPct val="100000"/>
              </a:lnSpc>
              <a:spcBef>
                <a:spcPts val="535"/>
              </a:spcBef>
            </a:pPr>
            <a:r>
              <a:rPr dirty="0" sz="3100" spc="195">
                <a:solidFill>
                  <a:srgbClr val="F1EDE9"/>
                </a:solidFill>
                <a:latin typeface="Trebuchet MS"/>
                <a:cs typeface="Trebuchet MS"/>
              </a:rPr>
              <a:t>Stocks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70">
                <a:solidFill>
                  <a:srgbClr val="F1EDE9"/>
                </a:solidFill>
                <a:latin typeface="Trebuchet MS"/>
                <a:cs typeface="Trebuchet MS"/>
              </a:rPr>
              <a:t>classified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90">
                <a:solidFill>
                  <a:srgbClr val="F1EDE9"/>
                </a:solidFill>
                <a:latin typeface="Trebuchet MS"/>
                <a:cs typeface="Trebuchet MS"/>
              </a:rPr>
              <a:t>by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65">
                <a:solidFill>
                  <a:srgbClr val="F1EDE9"/>
                </a:solidFill>
                <a:latin typeface="Trebuchet MS"/>
                <a:cs typeface="Trebuchet MS"/>
              </a:rPr>
              <a:t>predicted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70">
                <a:solidFill>
                  <a:srgbClr val="F1EDE9"/>
                </a:solidFill>
                <a:latin typeface="Trebuchet MS"/>
                <a:cs typeface="Trebuchet MS"/>
              </a:rPr>
              <a:t>risk</a:t>
            </a:r>
            <a:r>
              <a:rPr dirty="0" sz="3100" spc="-2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(Low,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95">
                <a:solidFill>
                  <a:srgbClr val="F1EDE9"/>
                </a:solidFill>
                <a:latin typeface="Trebuchet MS"/>
                <a:cs typeface="Trebuchet MS"/>
              </a:rPr>
              <a:t>Moderate,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50">
                <a:solidFill>
                  <a:srgbClr val="F1EDE9"/>
                </a:solidFill>
                <a:latin typeface="Trebuchet MS"/>
                <a:cs typeface="Trebuchet MS"/>
              </a:rPr>
              <a:t>High,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30">
                <a:solidFill>
                  <a:srgbClr val="F1EDE9"/>
                </a:solidFill>
                <a:latin typeface="Trebuchet MS"/>
                <a:cs typeface="Trebuchet MS"/>
              </a:rPr>
              <a:t>Very</a:t>
            </a:r>
            <a:r>
              <a:rPr dirty="0" sz="3100" spc="-2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F1EDE9"/>
                </a:solidFill>
                <a:latin typeface="Trebuchet MS"/>
                <a:cs typeface="Trebuchet MS"/>
              </a:rPr>
              <a:t>High).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3100">
              <a:latin typeface="Trebuchet MS"/>
              <a:cs typeface="Trebuchet MS"/>
            </a:endParaRPr>
          </a:p>
          <a:p>
            <a:pPr marL="681355">
              <a:lnSpc>
                <a:spcPct val="100000"/>
              </a:lnSpc>
            </a:pPr>
            <a:r>
              <a:rPr dirty="0" sz="3100" spc="65">
                <a:solidFill>
                  <a:srgbClr val="F1EDE9"/>
                </a:solidFill>
                <a:latin typeface="Trebuchet MS"/>
                <a:cs typeface="Trebuchet MS"/>
              </a:rPr>
              <a:t>Diversified</a:t>
            </a:r>
            <a:r>
              <a:rPr dirty="0" sz="3100" spc="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allocation</a:t>
            </a:r>
            <a:r>
              <a:rPr dirty="0" sz="3100" spc="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40">
                <a:solidFill>
                  <a:srgbClr val="F1EDE9"/>
                </a:solidFill>
                <a:latin typeface="Trebuchet MS"/>
                <a:cs typeface="Trebuchet MS"/>
              </a:rPr>
              <a:t>using</a:t>
            </a:r>
            <a:r>
              <a:rPr dirty="0" sz="3100" spc="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F1EDE9"/>
                </a:solidFill>
                <a:latin typeface="Trebuchet MS"/>
                <a:cs typeface="Trebuchet MS"/>
              </a:rPr>
              <a:t>Dirichlet-</a:t>
            </a:r>
            <a:r>
              <a:rPr dirty="0" sz="3100" spc="50">
                <a:solidFill>
                  <a:srgbClr val="F1EDE9"/>
                </a:solidFill>
                <a:latin typeface="Trebuchet MS"/>
                <a:cs typeface="Trebuchet MS"/>
              </a:rPr>
              <a:t>distributed</a:t>
            </a:r>
            <a:r>
              <a:rPr dirty="0" sz="3100" spc="6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105">
                <a:solidFill>
                  <a:srgbClr val="F1EDE9"/>
                </a:solidFill>
                <a:latin typeface="Trebuchet MS"/>
                <a:cs typeface="Trebuchet MS"/>
              </a:rPr>
              <a:t>random</a:t>
            </a:r>
            <a:r>
              <a:rPr dirty="0" sz="3100" spc="6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100" spc="55">
                <a:solidFill>
                  <a:srgbClr val="F1EDE9"/>
                </a:solidFill>
                <a:latin typeface="Trebuchet MS"/>
                <a:cs typeface="Trebuchet MS"/>
              </a:rPr>
              <a:t>weights.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9611" y="323260"/>
            <a:ext cx="2318388" cy="26561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225391" y="7352104"/>
            <a:ext cx="8456295" cy="287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1220"/>
              </a:lnSpc>
              <a:spcBef>
                <a:spcPts val="100"/>
              </a:spcBef>
            </a:pPr>
            <a:r>
              <a:rPr dirty="0" sz="10450" spc="-785">
                <a:solidFill>
                  <a:srgbClr val="171717"/>
                </a:solidFill>
                <a:latin typeface="Arial Black"/>
                <a:cs typeface="Arial Black"/>
              </a:rPr>
              <a:t>P</a:t>
            </a:r>
            <a:r>
              <a:rPr dirty="0" sz="10450" spc="-750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10450" spc="-710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sz="10450" spc="-640">
                <a:solidFill>
                  <a:srgbClr val="171717"/>
                </a:solidFill>
                <a:latin typeface="Arial Black"/>
                <a:cs typeface="Arial Black"/>
              </a:rPr>
              <a:t>f</a:t>
            </a:r>
            <a:r>
              <a:rPr dirty="0" sz="10450" spc="-4770">
                <a:solidFill>
                  <a:srgbClr val="171717"/>
                </a:solidFill>
                <a:latin typeface="Arial Black"/>
                <a:cs typeface="Arial Black"/>
              </a:rPr>
              <a:t>o</a:t>
            </a:r>
            <a:r>
              <a:rPr dirty="0" baseline="52631" sz="15675" spc="-4897">
                <a:solidFill>
                  <a:srgbClr val="171717"/>
                </a:solidFill>
                <a:latin typeface="Arial Black"/>
                <a:cs typeface="Arial Black"/>
              </a:rPr>
              <a:t>P</a:t>
            </a:r>
            <a:r>
              <a:rPr dirty="0" sz="10450" spc="-2505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baseline="52631" sz="15675" spc="-7837">
                <a:solidFill>
                  <a:srgbClr val="171717"/>
                </a:solidFill>
                <a:latin typeface="Arial Black"/>
                <a:cs typeface="Arial Black"/>
              </a:rPr>
              <a:t>o</a:t>
            </a:r>
            <a:r>
              <a:rPr dirty="0" sz="10450" spc="-6145">
                <a:solidFill>
                  <a:srgbClr val="171717"/>
                </a:solidFill>
                <a:latin typeface="Arial Black"/>
                <a:cs typeface="Arial Black"/>
              </a:rPr>
              <a:t>m</a:t>
            </a:r>
            <a:r>
              <a:rPr dirty="0" baseline="52631" sz="15675" spc="-1064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baseline="52631" sz="15675" spc="-5122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10450" spc="-4020">
                <a:solidFill>
                  <a:srgbClr val="171717"/>
                </a:solidFill>
                <a:latin typeface="Arial Black"/>
                <a:cs typeface="Arial Black"/>
              </a:rPr>
              <a:t>a</a:t>
            </a:r>
            <a:r>
              <a:rPr dirty="0" baseline="52631" sz="15675" spc="-2160">
                <a:solidFill>
                  <a:srgbClr val="171717"/>
                </a:solidFill>
                <a:latin typeface="Arial Black"/>
                <a:cs typeface="Arial Black"/>
              </a:rPr>
              <a:t>f</a:t>
            </a:r>
            <a:r>
              <a:rPr dirty="0" sz="10450" spc="-6155">
                <a:solidFill>
                  <a:srgbClr val="171717"/>
                </a:solidFill>
                <a:latin typeface="Arial Black"/>
                <a:cs typeface="Arial Black"/>
              </a:rPr>
              <a:t>n</a:t>
            </a:r>
            <a:r>
              <a:rPr dirty="0" baseline="52631" sz="15675" spc="-2520">
                <a:solidFill>
                  <a:srgbClr val="171717"/>
                </a:solidFill>
                <a:latin typeface="Arial Black"/>
                <a:cs typeface="Arial Black"/>
              </a:rPr>
              <a:t>o</a:t>
            </a:r>
            <a:r>
              <a:rPr dirty="0" sz="10450" spc="-6095">
                <a:solidFill>
                  <a:srgbClr val="171717"/>
                </a:solidFill>
                <a:latin typeface="Arial Black"/>
                <a:cs typeface="Arial Black"/>
              </a:rPr>
              <a:t>c</a:t>
            </a:r>
            <a:r>
              <a:rPr dirty="0" baseline="52631" sz="15675" spc="-1192">
                <a:solidFill>
                  <a:srgbClr val="171717"/>
                </a:solidFill>
                <a:latin typeface="Arial Black"/>
                <a:cs typeface="Arial Black"/>
              </a:rPr>
              <a:t>li</a:t>
            </a:r>
            <a:r>
              <a:rPr dirty="0" baseline="52631" sz="15675" spc="-10350">
                <a:solidFill>
                  <a:srgbClr val="171717"/>
                </a:solidFill>
                <a:latin typeface="Arial Black"/>
                <a:cs typeface="Arial Black"/>
              </a:rPr>
              <a:t>o</a:t>
            </a:r>
            <a:r>
              <a:rPr dirty="0" sz="10450" spc="-45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endParaRPr sz="10450">
              <a:latin typeface="Arial Black"/>
              <a:cs typeface="Arial Black"/>
            </a:endParaRPr>
          </a:p>
          <a:p>
            <a:pPr algn="ctr" marL="3745229">
              <a:lnSpc>
                <a:spcPts val="11220"/>
              </a:lnSpc>
            </a:pPr>
            <a:r>
              <a:rPr dirty="0" sz="10450" spc="-1105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sz="10450" spc="-1050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10450" spc="-1110">
                <a:solidFill>
                  <a:srgbClr val="171717"/>
                </a:solidFill>
                <a:latin typeface="Arial Black"/>
                <a:cs typeface="Arial Black"/>
              </a:rPr>
              <a:t>s</a:t>
            </a:r>
            <a:r>
              <a:rPr dirty="0" sz="10450" spc="-1035">
                <a:solidFill>
                  <a:srgbClr val="171717"/>
                </a:solidFill>
                <a:latin typeface="Arial Black"/>
                <a:cs typeface="Arial Black"/>
              </a:rPr>
              <a:t>u</a:t>
            </a:r>
            <a:r>
              <a:rPr dirty="0" sz="10450" spc="-1095">
                <a:solidFill>
                  <a:srgbClr val="171717"/>
                </a:solidFill>
                <a:latin typeface="Arial Black"/>
                <a:cs typeface="Arial Black"/>
              </a:rPr>
              <a:t>l</a:t>
            </a:r>
            <a:r>
              <a:rPr dirty="0" sz="10450" spc="-994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10450" spc="-345">
                <a:solidFill>
                  <a:srgbClr val="171717"/>
                </a:solidFill>
                <a:latin typeface="Arial Black"/>
                <a:cs typeface="Arial Black"/>
              </a:rPr>
              <a:t>s</a:t>
            </a:r>
            <a:endParaRPr sz="10450">
              <a:latin typeface="Arial Black"/>
              <a:cs typeface="Arial Blac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437" y="8535510"/>
            <a:ext cx="3209590" cy="175148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195" y="290251"/>
            <a:ext cx="7467599" cy="79438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7782" y="1728683"/>
            <a:ext cx="114300" cy="1142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7782" y="3328883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7782" y="4929083"/>
            <a:ext cx="114300" cy="1142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770357" y="3030433"/>
            <a:ext cx="7053580" cy="2692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11530">
              <a:lnSpc>
                <a:spcPct val="116700"/>
              </a:lnSpc>
              <a:spcBef>
                <a:spcPts val="95"/>
              </a:spcBef>
            </a:pPr>
            <a:r>
              <a:rPr dirty="0" sz="3000" spc="-30" b="1">
                <a:solidFill>
                  <a:srgbClr val="171717"/>
                </a:solidFill>
                <a:latin typeface="Tahoma"/>
                <a:cs typeface="Tahoma"/>
              </a:rPr>
              <a:t>High-</a:t>
            </a:r>
            <a:r>
              <a:rPr dirty="0" sz="3000" spc="-20" b="1">
                <a:solidFill>
                  <a:srgbClr val="171717"/>
                </a:solidFill>
                <a:latin typeface="Tahoma"/>
                <a:cs typeface="Tahoma"/>
              </a:rPr>
              <a:t>risk</a:t>
            </a:r>
            <a:r>
              <a:rPr dirty="0" sz="3000" spc="-14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25" b="1">
                <a:solidFill>
                  <a:srgbClr val="171717"/>
                </a:solidFill>
                <a:latin typeface="Tahoma"/>
                <a:cs typeface="Tahoma"/>
              </a:rPr>
              <a:t>portfolios</a:t>
            </a:r>
            <a:r>
              <a:rPr dirty="0" sz="3000" spc="-14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25" b="1">
                <a:solidFill>
                  <a:srgbClr val="171717"/>
                </a:solidFill>
                <a:latin typeface="Tahoma"/>
                <a:cs typeface="Tahoma"/>
              </a:rPr>
              <a:t>delivered</a:t>
            </a:r>
            <a:r>
              <a:rPr dirty="0" sz="3000" spc="-14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25" b="1">
                <a:solidFill>
                  <a:srgbClr val="171717"/>
                </a:solidFill>
                <a:latin typeface="Tahoma"/>
                <a:cs typeface="Tahoma"/>
              </a:rPr>
              <a:t>top returns</a:t>
            </a:r>
            <a:r>
              <a:rPr dirty="0" sz="3000" spc="-18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60" b="1">
                <a:solidFill>
                  <a:srgbClr val="171717"/>
                </a:solidFill>
                <a:latin typeface="Tahoma"/>
                <a:cs typeface="Tahoma"/>
              </a:rPr>
              <a:t>but</a:t>
            </a:r>
            <a:r>
              <a:rPr dirty="0" sz="3000" spc="-17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10" b="1">
                <a:solidFill>
                  <a:srgbClr val="171717"/>
                </a:solidFill>
                <a:latin typeface="Tahoma"/>
                <a:cs typeface="Tahoma"/>
              </a:rPr>
              <a:t>also</a:t>
            </a:r>
            <a:r>
              <a:rPr dirty="0" sz="3000" spc="-17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60" b="1">
                <a:solidFill>
                  <a:srgbClr val="171717"/>
                </a:solidFill>
                <a:latin typeface="Tahoma"/>
                <a:cs typeface="Tahoma"/>
              </a:rPr>
              <a:t>high</a:t>
            </a:r>
            <a:r>
              <a:rPr dirty="0" sz="3000" spc="-17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10" b="1">
                <a:solidFill>
                  <a:srgbClr val="171717"/>
                </a:solidFill>
                <a:latin typeface="Tahoma"/>
                <a:cs typeface="Tahoma"/>
              </a:rPr>
              <a:t>volatility.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16700"/>
              </a:lnSpc>
            </a:pPr>
            <a:r>
              <a:rPr dirty="0" sz="3000" b="1">
                <a:solidFill>
                  <a:srgbClr val="171717"/>
                </a:solidFill>
                <a:latin typeface="Tahoma"/>
                <a:cs typeface="Tahoma"/>
              </a:rPr>
              <a:t>Conservative</a:t>
            </a:r>
            <a:r>
              <a:rPr dirty="0" sz="3000" spc="-13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40" b="1">
                <a:solidFill>
                  <a:srgbClr val="171717"/>
                </a:solidFill>
                <a:latin typeface="Tahoma"/>
                <a:cs typeface="Tahoma"/>
              </a:rPr>
              <a:t>portfolio</a:t>
            </a:r>
            <a:r>
              <a:rPr dirty="0" sz="3000" spc="-13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171717"/>
                </a:solidFill>
                <a:latin typeface="Tahoma"/>
                <a:cs typeface="Tahoma"/>
              </a:rPr>
              <a:t>offers</a:t>
            </a:r>
            <a:r>
              <a:rPr dirty="0" sz="3000" spc="-13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10" b="1">
                <a:solidFill>
                  <a:srgbClr val="171717"/>
                </a:solidFill>
                <a:latin typeface="Tahoma"/>
                <a:cs typeface="Tahoma"/>
              </a:rPr>
              <a:t>stability </a:t>
            </a:r>
            <a:r>
              <a:rPr dirty="0" sz="3000" b="1">
                <a:solidFill>
                  <a:srgbClr val="171717"/>
                </a:solidFill>
                <a:latin typeface="Tahoma"/>
                <a:cs typeface="Tahoma"/>
              </a:rPr>
              <a:t>for</a:t>
            </a:r>
            <a:r>
              <a:rPr dirty="0" sz="3000" spc="-15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171717"/>
                </a:solidFill>
                <a:latin typeface="Tahoma"/>
                <a:cs typeface="Tahoma"/>
              </a:rPr>
              <a:t>risk-averse</a:t>
            </a:r>
            <a:r>
              <a:rPr dirty="0" sz="3000" spc="-15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3000" spc="-10" b="1">
                <a:solidFill>
                  <a:srgbClr val="171717"/>
                </a:solidFill>
                <a:latin typeface="Tahoma"/>
                <a:cs typeface="Tahoma"/>
              </a:rPr>
              <a:t>investors.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467834" y="418294"/>
            <a:ext cx="7473950" cy="2104390"/>
          </a:xfrm>
          <a:prstGeom prst="rect"/>
        </p:spPr>
        <p:txBody>
          <a:bodyPr wrap="square" lIns="0" tIns="2800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4100" spc="-70" b="1">
                <a:latin typeface="Tahoma"/>
                <a:cs typeface="Tahoma"/>
              </a:rPr>
              <a:t>Key</a:t>
            </a:r>
            <a:r>
              <a:rPr dirty="0" sz="4100" spc="-254" b="1">
                <a:latin typeface="Tahoma"/>
                <a:cs typeface="Tahoma"/>
              </a:rPr>
              <a:t> </a:t>
            </a:r>
            <a:r>
              <a:rPr dirty="0" sz="4100" spc="-10" b="1">
                <a:latin typeface="Tahoma"/>
                <a:cs typeface="Tahoma"/>
              </a:rPr>
              <a:t>Insights</a:t>
            </a:r>
            <a:endParaRPr sz="4100">
              <a:latin typeface="Tahoma"/>
              <a:cs typeface="Tahoma"/>
            </a:endParaRPr>
          </a:p>
          <a:p>
            <a:pPr marL="314960" marR="5080">
              <a:lnSpc>
                <a:spcPct val="116700"/>
              </a:lnSpc>
              <a:spcBef>
                <a:spcPts val="940"/>
              </a:spcBef>
            </a:pPr>
            <a:r>
              <a:rPr dirty="0" sz="3000" spc="-50" b="1">
                <a:latin typeface="Tahoma"/>
                <a:cs typeface="Tahoma"/>
              </a:rPr>
              <a:t>Higher</a:t>
            </a:r>
            <a:r>
              <a:rPr dirty="0" sz="3000" spc="-160" b="1">
                <a:latin typeface="Tahoma"/>
                <a:cs typeface="Tahoma"/>
              </a:rPr>
              <a:t> </a:t>
            </a:r>
            <a:r>
              <a:rPr dirty="0" sz="3000" spc="-20" b="1">
                <a:latin typeface="Tahoma"/>
                <a:cs typeface="Tahoma"/>
              </a:rPr>
              <a:t>risk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445" b="1">
                <a:latin typeface="Tahoma"/>
                <a:cs typeface="Tahoma"/>
              </a:rPr>
              <a:t>=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50" b="1">
                <a:latin typeface="Tahoma"/>
                <a:cs typeface="Tahoma"/>
              </a:rPr>
              <a:t>Higher</a:t>
            </a:r>
            <a:r>
              <a:rPr dirty="0" sz="3000" spc="-155" b="1">
                <a:latin typeface="Tahoma"/>
                <a:cs typeface="Tahoma"/>
              </a:rPr>
              <a:t> </a:t>
            </a:r>
            <a:r>
              <a:rPr dirty="0" sz="3000" spc="-50" b="1">
                <a:latin typeface="Tahoma"/>
                <a:cs typeface="Tahoma"/>
              </a:rPr>
              <a:t>return</a:t>
            </a:r>
            <a:r>
              <a:rPr dirty="0" sz="3000" spc="-160" b="1">
                <a:latin typeface="Tahoma"/>
                <a:cs typeface="Tahoma"/>
              </a:rPr>
              <a:t> </a:t>
            </a:r>
            <a:r>
              <a:rPr dirty="0" sz="3000" spc="90">
                <a:latin typeface="Trebuchet MS"/>
                <a:cs typeface="Trebuchet MS"/>
              </a:rPr>
              <a:t>(risk-</a:t>
            </a:r>
            <a:r>
              <a:rPr dirty="0" sz="3000" spc="-10">
                <a:latin typeface="Trebuchet MS"/>
                <a:cs typeface="Trebuchet MS"/>
              </a:rPr>
              <a:t>return </a:t>
            </a:r>
            <a:r>
              <a:rPr dirty="0" sz="3000">
                <a:latin typeface="Trebuchet MS"/>
                <a:cs typeface="Trebuchet MS"/>
              </a:rPr>
              <a:t>tradeoff</a:t>
            </a:r>
            <a:r>
              <a:rPr dirty="0" sz="3000" spc="290">
                <a:latin typeface="Trebuchet MS"/>
                <a:cs typeface="Trebuchet MS"/>
              </a:rPr>
              <a:t> </a:t>
            </a:r>
            <a:r>
              <a:rPr dirty="0" sz="3000" spc="-10">
                <a:latin typeface="Trebuchet MS"/>
                <a:cs typeface="Trebuchet MS"/>
              </a:rPr>
              <a:t>confirmed).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4570505"/>
            <a:ext cx="2325269" cy="46249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99378" y="371207"/>
            <a:ext cx="2588621" cy="419275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21" y="0"/>
            <a:ext cx="2768937" cy="30003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80249" y="6143931"/>
            <a:ext cx="2607748" cy="403841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28457" y="221740"/>
            <a:ext cx="10939145" cy="1649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650" spc="-760">
                <a:solidFill>
                  <a:srgbClr val="F1EDE9"/>
                </a:solidFill>
              </a:rPr>
              <a:t>M</a:t>
            </a:r>
            <a:r>
              <a:rPr dirty="0" sz="10650" spc="-750">
                <a:solidFill>
                  <a:srgbClr val="F1EDE9"/>
                </a:solidFill>
              </a:rPr>
              <a:t>o</a:t>
            </a:r>
            <a:r>
              <a:rPr dirty="0" sz="10650" spc="-720">
                <a:solidFill>
                  <a:srgbClr val="F1EDE9"/>
                </a:solidFill>
              </a:rPr>
              <a:t>d</a:t>
            </a:r>
            <a:r>
              <a:rPr dirty="0" sz="10650" spc="-775">
                <a:solidFill>
                  <a:srgbClr val="F1EDE9"/>
                </a:solidFill>
              </a:rPr>
              <a:t>e</a:t>
            </a:r>
            <a:r>
              <a:rPr dirty="0" sz="10650" spc="-55">
                <a:solidFill>
                  <a:srgbClr val="F1EDE9"/>
                </a:solidFill>
              </a:rPr>
              <a:t>l</a:t>
            </a:r>
            <a:r>
              <a:rPr dirty="0" sz="10650" spc="-2440">
                <a:solidFill>
                  <a:srgbClr val="F1EDE9"/>
                </a:solidFill>
              </a:rPr>
              <a:t> </a:t>
            </a:r>
            <a:r>
              <a:rPr dirty="0" sz="10650" spc="-1080">
                <a:solidFill>
                  <a:srgbClr val="F1EDE9"/>
                </a:solidFill>
              </a:rPr>
              <a:t>E</a:t>
            </a:r>
            <a:r>
              <a:rPr dirty="0" sz="10650" spc="-944">
                <a:solidFill>
                  <a:srgbClr val="F1EDE9"/>
                </a:solidFill>
              </a:rPr>
              <a:t>v</a:t>
            </a:r>
            <a:r>
              <a:rPr dirty="0" sz="10650" spc="-975">
                <a:solidFill>
                  <a:srgbClr val="F1EDE9"/>
                </a:solidFill>
              </a:rPr>
              <a:t>a</a:t>
            </a:r>
            <a:r>
              <a:rPr dirty="0" sz="10650" spc="-1005">
                <a:solidFill>
                  <a:srgbClr val="F1EDE9"/>
                </a:solidFill>
              </a:rPr>
              <a:t>l</a:t>
            </a:r>
            <a:r>
              <a:rPr dirty="0" sz="10650" spc="-944">
                <a:solidFill>
                  <a:srgbClr val="F1EDE9"/>
                </a:solidFill>
              </a:rPr>
              <a:t>u</a:t>
            </a:r>
            <a:r>
              <a:rPr dirty="0" sz="10650" spc="-975">
                <a:solidFill>
                  <a:srgbClr val="F1EDE9"/>
                </a:solidFill>
              </a:rPr>
              <a:t>a</a:t>
            </a:r>
            <a:r>
              <a:rPr dirty="0" sz="10650" spc="-905">
                <a:solidFill>
                  <a:srgbClr val="F1EDE9"/>
                </a:solidFill>
              </a:rPr>
              <a:t>t</a:t>
            </a:r>
            <a:r>
              <a:rPr dirty="0" sz="10650" spc="-1005">
                <a:solidFill>
                  <a:srgbClr val="F1EDE9"/>
                </a:solidFill>
              </a:rPr>
              <a:t>i</a:t>
            </a:r>
            <a:r>
              <a:rPr dirty="0" sz="10650" spc="-935">
                <a:solidFill>
                  <a:srgbClr val="F1EDE9"/>
                </a:solidFill>
              </a:rPr>
              <a:t>o</a:t>
            </a:r>
            <a:r>
              <a:rPr dirty="0" sz="10650" spc="-240">
                <a:solidFill>
                  <a:srgbClr val="F1EDE9"/>
                </a:solidFill>
              </a:rPr>
              <a:t>n</a:t>
            </a:r>
            <a:endParaRPr sz="10650"/>
          </a:p>
        </p:txBody>
      </p:sp>
      <p:sp>
        <p:nvSpPr>
          <p:cNvPr id="8" name="object 8" descr=""/>
          <p:cNvSpPr txBox="1"/>
          <p:nvPr/>
        </p:nvSpPr>
        <p:spPr>
          <a:xfrm>
            <a:off x="2440784" y="1498089"/>
            <a:ext cx="10110470" cy="291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03650">
              <a:lnSpc>
                <a:spcPct val="100000"/>
              </a:lnSpc>
              <a:spcBef>
                <a:spcPts val="100"/>
              </a:spcBef>
            </a:pPr>
            <a:r>
              <a:rPr dirty="0" sz="10650" spc="-935">
                <a:solidFill>
                  <a:srgbClr val="F1EDE9"/>
                </a:solidFill>
                <a:latin typeface="Arial Black"/>
                <a:cs typeface="Arial Black"/>
              </a:rPr>
              <a:t>S</a:t>
            </a:r>
            <a:r>
              <a:rPr dirty="0" sz="10650" spc="-850">
                <a:solidFill>
                  <a:srgbClr val="F1EDE9"/>
                </a:solidFill>
                <a:latin typeface="Arial Black"/>
                <a:cs typeface="Arial Black"/>
              </a:rPr>
              <a:t>u</a:t>
            </a:r>
            <a:r>
              <a:rPr dirty="0" sz="10650" spc="-835">
                <a:solidFill>
                  <a:srgbClr val="F1EDE9"/>
                </a:solidFill>
                <a:latin typeface="Arial Black"/>
                <a:cs typeface="Arial Black"/>
              </a:rPr>
              <a:t>mm</a:t>
            </a:r>
            <a:r>
              <a:rPr dirty="0" sz="10650" spc="-880">
                <a:solidFill>
                  <a:srgbClr val="F1EDE9"/>
                </a:solidFill>
                <a:latin typeface="Arial Black"/>
                <a:cs typeface="Arial Black"/>
              </a:rPr>
              <a:t>a</a:t>
            </a:r>
            <a:r>
              <a:rPr dirty="0" sz="10650" spc="-819">
                <a:solidFill>
                  <a:srgbClr val="F1EDE9"/>
                </a:solidFill>
                <a:latin typeface="Arial Black"/>
                <a:cs typeface="Arial Black"/>
              </a:rPr>
              <a:t>r</a:t>
            </a:r>
            <a:r>
              <a:rPr dirty="0" sz="10650" spc="-145">
                <a:solidFill>
                  <a:srgbClr val="F1EDE9"/>
                </a:solidFill>
                <a:latin typeface="Arial Black"/>
                <a:cs typeface="Arial Black"/>
              </a:rPr>
              <a:t>y</a:t>
            </a:r>
            <a:endParaRPr sz="10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150"/>
              </a:spcBef>
            </a:pPr>
            <a:r>
              <a:rPr dirty="0" sz="4000" spc="-10" b="1">
                <a:solidFill>
                  <a:srgbClr val="F1EDE9"/>
                </a:solidFill>
                <a:latin typeface="Tahoma"/>
                <a:cs typeface="Tahoma"/>
              </a:rPr>
              <a:t>Classification</a:t>
            </a:r>
            <a:r>
              <a:rPr dirty="0" sz="4000" spc="-17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F1EDE9"/>
                </a:solidFill>
                <a:latin typeface="Tahoma"/>
                <a:cs typeface="Tahoma"/>
              </a:rPr>
              <a:t>Models: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959" y="5153369"/>
            <a:ext cx="133350" cy="1333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959" y="7401269"/>
            <a:ext cx="133350" cy="1333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131644" y="4850462"/>
            <a:ext cx="11971655" cy="339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3200" spc="-90" b="1">
                <a:solidFill>
                  <a:srgbClr val="F1EDE9"/>
                </a:solidFill>
                <a:latin typeface="Tahoma"/>
                <a:cs typeface="Tahoma"/>
              </a:rPr>
              <a:t>Random</a:t>
            </a:r>
            <a:r>
              <a:rPr dirty="0" sz="32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200" b="1">
                <a:solidFill>
                  <a:srgbClr val="F1EDE9"/>
                </a:solidFill>
                <a:latin typeface="Tahoma"/>
                <a:cs typeface="Tahoma"/>
              </a:rPr>
              <a:t>Forest</a:t>
            </a:r>
            <a:r>
              <a:rPr dirty="0" sz="3200" spc="-17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200" b="1">
                <a:solidFill>
                  <a:srgbClr val="F1EDE9"/>
                </a:solidFill>
                <a:latin typeface="Tahoma"/>
                <a:cs typeface="Tahoma"/>
              </a:rPr>
              <a:t>Classifier</a:t>
            </a:r>
            <a:r>
              <a:rPr dirty="0" sz="3200" spc="-1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F1EDE9"/>
                </a:solidFill>
                <a:latin typeface="Trebuchet MS"/>
                <a:cs typeface="Trebuchet MS"/>
              </a:rPr>
              <a:t>achieved</a:t>
            </a:r>
            <a:r>
              <a:rPr dirty="0" sz="32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420">
                <a:solidFill>
                  <a:srgbClr val="F1EDE9"/>
                </a:solidFill>
                <a:latin typeface="Trebuchet MS"/>
                <a:cs typeface="Trebuchet MS"/>
              </a:rPr>
              <a:t>80%</a:t>
            </a:r>
            <a:r>
              <a:rPr dirty="0" sz="32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80">
                <a:solidFill>
                  <a:srgbClr val="F1EDE9"/>
                </a:solidFill>
                <a:latin typeface="Trebuchet MS"/>
                <a:cs typeface="Trebuchet MS"/>
              </a:rPr>
              <a:t>accuracy,</a:t>
            </a:r>
            <a:r>
              <a:rPr dirty="0" sz="32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-10">
                <a:solidFill>
                  <a:srgbClr val="F1EDE9"/>
                </a:solidFill>
                <a:latin typeface="Trebuchet MS"/>
                <a:cs typeface="Trebuchet MS"/>
              </a:rPr>
              <a:t>effectively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identifying</a:t>
            </a:r>
            <a:r>
              <a:rPr dirty="0" sz="3200" spc="10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40">
                <a:solidFill>
                  <a:srgbClr val="F1EDE9"/>
                </a:solidFill>
                <a:latin typeface="Trebuchet MS"/>
                <a:cs typeface="Trebuchet MS"/>
              </a:rPr>
              <a:t>stock</a:t>
            </a:r>
            <a:r>
              <a:rPr dirty="0" sz="3200" spc="10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70">
                <a:solidFill>
                  <a:srgbClr val="F1EDE9"/>
                </a:solidFill>
                <a:latin typeface="Trebuchet MS"/>
                <a:cs typeface="Trebuchet MS"/>
              </a:rPr>
              <a:t>risk</a:t>
            </a:r>
            <a:r>
              <a:rPr dirty="0" sz="3200" spc="10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00">
                <a:solidFill>
                  <a:srgbClr val="F1EDE9"/>
                </a:solidFill>
                <a:latin typeface="Trebuchet MS"/>
                <a:cs typeface="Trebuchet MS"/>
              </a:rPr>
              <a:t>categories </a:t>
            </a:r>
            <a:r>
              <a:rPr dirty="0" sz="3200" spc="195">
                <a:solidFill>
                  <a:srgbClr val="F1EDE9"/>
                </a:solidFill>
                <a:latin typeface="Trebuchet MS"/>
                <a:cs typeface="Trebuchet MS"/>
              </a:rPr>
              <a:t>by</a:t>
            </a:r>
            <a:r>
              <a:rPr dirty="0" sz="3200" spc="10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learning</a:t>
            </a:r>
            <a:r>
              <a:rPr dirty="0" sz="3200" spc="10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complex,</a:t>
            </a:r>
            <a:r>
              <a:rPr dirty="0" sz="3200" spc="10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55">
                <a:solidFill>
                  <a:srgbClr val="F1EDE9"/>
                </a:solidFill>
                <a:latin typeface="Trebuchet MS"/>
                <a:cs typeface="Trebuchet MS"/>
              </a:rPr>
              <a:t>non-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linear</a:t>
            </a:r>
            <a:r>
              <a:rPr dirty="0" sz="3200" spc="-1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-10">
                <a:solidFill>
                  <a:srgbClr val="F1EDE9"/>
                </a:solidFill>
                <a:latin typeface="Trebuchet MS"/>
                <a:cs typeface="Trebuchet MS"/>
              </a:rPr>
              <a:t>relationships.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429259">
              <a:lnSpc>
                <a:spcPct val="115199"/>
              </a:lnSpc>
            </a:pPr>
            <a:r>
              <a:rPr dirty="0" sz="3200" spc="-10" b="1">
                <a:solidFill>
                  <a:srgbClr val="F1EDE9"/>
                </a:solidFill>
                <a:latin typeface="Tahoma"/>
                <a:cs typeface="Tahoma"/>
              </a:rPr>
              <a:t>Logistic</a:t>
            </a:r>
            <a:r>
              <a:rPr dirty="0" sz="3200" spc="-21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200" spc="-10" b="1">
                <a:solidFill>
                  <a:srgbClr val="F1EDE9"/>
                </a:solidFill>
                <a:latin typeface="Tahoma"/>
                <a:cs typeface="Tahoma"/>
              </a:rPr>
              <a:t>Regression</a:t>
            </a:r>
            <a:r>
              <a:rPr dirty="0" sz="3200" spc="-4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3200" spc="110">
                <a:solidFill>
                  <a:srgbClr val="F1EDE9"/>
                </a:solidFill>
                <a:latin typeface="Trebuchet MS"/>
                <a:cs typeface="Trebuchet MS"/>
              </a:rPr>
              <a:t>reached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375">
                <a:solidFill>
                  <a:srgbClr val="F1EDE9"/>
                </a:solidFill>
                <a:latin typeface="Trebuchet MS"/>
                <a:cs typeface="Trebuchet MS"/>
              </a:rPr>
              <a:t>70%</a:t>
            </a:r>
            <a:r>
              <a:rPr dirty="0" sz="32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80">
                <a:solidFill>
                  <a:srgbClr val="F1EDE9"/>
                </a:solidFill>
                <a:latin typeface="Trebuchet MS"/>
                <a:cs typeface="Trebuchet MS"/>
              </a:rPr>
              <a:t>accuracy,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30">
                <a:solidFill>
                  <a:srgbClr val="F1EDE9"/>
                </a:solidFill>
                <a:latin typeface="Trebuchet MS"/>
                <a:cs typeface="Trebuchet MS"/>
              </a:rPr>
              <a:t>serving</a:t>
            </a:r>
            <a:r>
              <a:rPr dirty="0" sz="32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229">
                <a:solidFill>
                  <a:srgbClr val="F1EDE9"/>
                </a:solidFill>
                <a:latin typeface="Trebuchet MS"/>
                <a:cs typeface="Trebuchet MS"/>
              </a:rPr>
              <a:t>as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50">
                <a:solidFill>
                  <a:srgbClr val="F1EDE9"/>
                </a:solidFill>
                <a:latin typeface="Trebuchet MS"/>
                <a:cs typeface="Trebuchet MS"/>
              </a:rPr>
              <a:t>a </a:t>
            </a:r>
            <a:r>
              <a:rPr dirty="0" sz="3200" spc="135">
                <a:solidFill>
                  <a:srgbClr val="F1EDE9"/>
                </a:solidFill>
                <a:latin typeface="Trebuchet MS"/>
                <a:cs typeface="Trebuchet MS"/>
              </a:rPr>
              <a:t>strong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75">
                <a:solidFill>
                  <a:srgbClr val="F1EDE9"/>
                </a:solidFill>
                <a:latin typeface="Trebuchet MS"/>
                <a:cs typeface="Trebuchet MS"/>
              </a:rPr>
              <a:t>baseline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55">
                <a:solidFill>
                  <a:srgbClr val="F1EDE9"/>
                </a:solidFill>
                <a:latin typeface="Trebuchet MS"/>
                <a:cs typeface="Trebuchet MS"/>
              </a:rPr>
              <a:t>but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-20">
                <a:solidFill>
                  <a:srgbClr val="F1EDE9"/>
                </a:solidFill>
                <a:latin typeface="Trebuchet MS"/>
                <a:cs typeface="Trebuchet MS"/>
              </a:rPr>
              <a:t>limited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95">
                <a:solidFill>
                  <a:srgbClr val="F1EDE9"/>
                </a:solidFill>
                <a:latin typeface="Trebuchet MS"/>
                <a:cs typeface="Trebuchet MS"/>
              </a:rPr>
              <a:t>by</a:t>
            </a:r>
            <a:r>
              <a:rPr dirty="0" sz="3200" spc="-6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its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F1EDE9"/>
                </a:solidFill>
                <a:latin typeface="Trebuchet MS"/>
                <a:cs typeface="Trebuchet MS"/>
              </a:rPr>
              <a:t>linear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100">
                <a:solidFill>
                  <a:srgbClr val="F1EDE9"/>
                </a:solidFill>
                <a:latin typeface="Trebuchet MS"/>
                <a:cs typeface="Trebuchet MS"/>
              </a:rPr>
              <a:t>decision</a:t>
            </a:r>
            <a:r>
              <a:rPr dirty="0" sz="3200" spc="-7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3200" spc="65">
                <a:solidFill>
                  <a:srgbClr val="F1EDE9"/>
                </a:solidFill>
                <a:latin typeface="Trebuchet MS"/>
                <a:cs typeface="Trebuchet MS"/>
              </a:rPr>
              <a:t>boundaries.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005" y="1537193"/>
            <a:ext cx="17837988" cy="66389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4570343"/>
            <a:ext cx="2326140" cy="462477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99226" y="371204"/>
            <a:ext cx="2588775" cy="419504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488" y="0"/>
            <a:ext cx="2768352" cy="299541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80245" y="6143931"/>
            <a:ext cx="2607751" cy="40367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28457" y="221740"/>
            <a:ext cx="10939145" cy="1649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650" spc="-760">
                <a:solidFill>
                  <a:srgbClr val="000000"/>
                </a:solidFill>
              </a:rPr>
              <a:t>M</a:t>
            </a:r>
            <a:r>
              <a:rPr dirty="0" sz="10650" spc="-750">
                <a:solidFill>
                  <a:srgbClr val="000000"/>
                </a:solidFill>
              </a:rPr>
              <a:t>o</a:t>
            </a:r>
            <a:r>
              <a:rPr dirty="0" sz="10650" spc="-720">
                <a:solidFill>
                  <a:srgbClr val="000000"/>
                </a:solidFill>
              </a:rPr>
              <a:t>d</a:t>
            </a:r>
            <a:r>
              <a:rPr dirty="0" sz="10650" spc="-775">
                <a:solidFill>
                  <a:srgbClr val="000000"/>
                </a:solidFill>
              </a:rPr>
              <a:t>e</a:t>
            </a:r>
            <a:r>
              <a:rPr dirty="0" sz="10650" spc="-55">
                <a:solidFill>
                  <a:srgbClr val="000000"/>
                </a:solidFill>
              </a:rPr>
              <a:t>l</a:t>
            </a:r>
            <a:r>
              <a:rPr dirty="0" sz="10650" spc="-2440">
                <a:solidFill>
                  <a:srgbClr val="000000"/>
                </a:solidFill>
              </a:rPr>
              <a:t> </a:t>
            </a:r>
            <a:r>
              <a:rPr dirty="0" sz="10650" spc="-1080">
                <a:solidFill>
                  <a:srgbClr val="000000"/>
                </a:solidFill>
              </a:rPr>
              <a:t>E</a:t>
            </a:r>
            <a:r>
              <a:rPr dirty="0" sz="10650" spc="-944">
                <a:solidFill>
                  <a:srgbClr val="000000"/>
                </a:solidFill>
              </a:rPr>
              <a:t>v</a:t>
            </a:r>
            <a:r>
              <a:rPr dirty="0" sz="10650" spc="-975">
                <a:solidFill>
                  <a:srgbClr val="000000"/>
                </a:solidFill>
              </a:rPr>
              <a:t>a</a:t>
            </a:r>
            <a:r>
              <a:rPr dirty="0" sz="10650" spc="-1005">
                <a:solidFill>
                  <a:srgbClr val="000000"/>
                </a:solidFill>
              </a:rPr>
              <a:t>l</a:t>
            </a:r>
            <a:r>
              <a:rPr dirty="0" sz="10650" spc="-944">
                <a:solidFill>
                  <a:srgbClr val="000000"/>
                </a:solidFill>
              </a:rPr>
              <a:t>u</a:t>
            </a:r>
            <a:r>
              <a:rPr dirty="0" sz="10650" spc="-975">
                <a:solidFill>
                  <a:srgbClr val="000000"/>
                </a:solidFill>
              </a:rPr>
              <a:t>a</a:t>
            </a:r>
            <a:r>
              <a:rPr dirty="0" sz="10650" spc="-905">
                <a:solidFill>
                  <a:srgbClr val="000000"/>
                </a:solidFill>
              </a:rPr>
              <a:t>t</a:t>
            </a:r>
            <a:r>
              <a:rPr dirty="0" sz="10650" spc="-1005">
                <a:solidFill>
                  <a:srgbClr val="000000"/>
                </a:solidFill>
              </a:rPr>
              <a:t>i</a:t>
            </a:r>
            <a:r>
              <a:rPr dirty="0" sz="10650" spc="-935">
                <a:solidFill>
                  <a:srgbClr val="000000"/>
                </a:solidFill>
              </a:rPr>
              <a:t>o</a:t>
            </a:r>
            <a:r>
              <a:rPr dirty="0" sz="10650" spc="-240">
                <a:solidFill>
                  <a:srgbClr val="000000"/>
                </a:solidFill>
              </a:rPr>
              <a:t>n</a:t>
            </a:r>
            <a:endParaRPr sz="10650"/>
          </a:p>
        </p:txBody>
      </p:sp>
      <p:sp>
        <p:nvSpPr>
          <p:cNvPr id="7" name="object 7" descr=""/>
          <p:cNvSpPr txBox="1"/>
          <p:nvPr/>
        </p:nvSpPr>
        <p:spPr>
          <a:xfrm>
            <a:off x="2440784" y="1498089"/>
            <a:ext cx="10110470" cy="291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03650">
              <a:lnSpc>
                <a:spcPct val="100000"/>
              </a:lnSpc>
              <a:spcBef>
                <a:spcPts val="100"/>
              </a:spcBef>
            </a:pPr>
            <a:r>
              <a:rPr dirty="0" sz="10650" spc="-935">
                <a:latin typeface="Arial Black"/>
                <a:cs typeface="Arial Black"/>
              </a:rPr>
              <a:t>S</a:t>
            </a:r>
            <a:r>
              <a:rPr dirty="0" sz="10650" spc="-850">
                <a:latin typeface="Arial Black"/>
                <a:cs typeface="Arial Black"/>
              </a:rPr>
              <a:t>u</a:t>
            </a:r>
            <a:r>
              <a:rPr dirty="0" sz="10650" spc="-835">
                <a:latin typeface="Arial Black"/>
                <a:cs typeface="Arial Black"/>
              </a:rPr>
              <a:t>mm</a:t>
            </a:r>
            <a:r>
              <a:rPr dirty="0" sz="10650" spc="-880">
                <a:latin typeface="Arial Black"/>
                <a:cs typeface="Arial Black"/>
              </a:rPr>
              <a:t>a</a:t>
            </a:r>
            <a:r>
              <a:rPr dirty="0" sz="10650" spc="-819">
                <a:latin typeface="Arial Black"/>
                <a:cs typeface="Arial Black"/>
              </a:rPr>
              <a:t>r</a:t>
            </a:r>
            <a:r>
              <a:rPr dirty="0" sz="10650" spc="-145">
                <a:latin typeface="Arial Black"/>
                <a:cs typeface="Arial Black"/>
              </a:rPr>
              <a:t>y</a:t>
            </a:r>
            <a:endParaRPr sz="10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150"/>
              </a:spcBef>
            </a:pPr>
            <a:r>
              <a:rPr dirty="0" sz="4000" spc="-30" b="1">
                <a:latin typeface="Tahoma"/>
                <a:cs typeface="Tahoma"/>
              </a:rPr>
              <a:t>Regression</a:t>
            </a:r>
            <a:r>
              <a:rPr dirty="0" sz="4000" spc="-215" b="1">
                <a:latin typeface="Tahoma"/>
                <a:cs typeface="Tahoma"/>
              </a:rPr>
              <a:t> </a:t>
            </a:r>
            <a:r>
              <a:rPr dirty="0" sz="4000" spc="-10" b="1">
                <a:latin typeface="Tahoma"/>
                <a:cs typeface="Tahoma"/>
              </a:rPr>
              <a:t>Models:</a:t>
            </a:r>
            <a:endParaRPr sz="40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959" y="5420069"/>
            <a:ext cx="133350" cy="1333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959" y="7105994"/>
            <a:ext cx="133350" cy="1333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31644" y="5117161"/>
            <a:ext cx="11797665" cy="283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8595">
              <a:lnSpc>
                <a:spcPct val="115199"/>
              </a:lnSpc>
              <a:spcBef>
                <a:spcPts val="100"/>
              </a:spcBef>
            </a:pPr>
            <a:r>
              <a:rPr dirty="0" sz="3200" spc="-90" b="1">
                <a:latin typeface="Tahoma"/>
                <a:cs typeface="Tahoma"/>
              </a:rPr>
              <a:t>Random</a:t>
            </a:r>
            <a:r>
              <a:rPr dirty="0" sz="3200" spc="-200" b="1">
                <a:latin typeface="Tahoma"/>
                <a:cs typeface="Tahoma"/>
              </a:rPr>
              <a:t> </a:t>
            </a:r>
            <a:r>
              <a:rPr dirty="0" sz="3200" b="1">
                <a:latin typeface="Tahoma"/>
                <a:cs typeface="Tahoma"/>
              </a:rPr>
              <a:t>Forest</a:t>
            </a:r>
            <a:r>
              <a:rPr dirty="0" sz="3200" spc="-210" b="1">
                <a:latin typeface="Tahoma"/>
                <a:cs typeface="Tahoma"/>
              </a:rPr>
              <a:t> </a:t>
            </a:r>
            <a:r>
              <a:rPr dirty="0" sz="3200" b="1">
                <a:latin typeface="Tahoma"/>
                <a:cs typeface="Tahoma"/>
              </a:rPr>
              <a:t>Regressor</a:t>
            </a:r>
            <a:r>
              <a:rPr dirty="0" sz="3200" spc="-40" b="1">
                <a:latin typeface="Tahoma"/>
                <a:cs typeface="Tahoma"/>
              </a:rPr>
              <a:t> </a:t>
            </a:r>
            <a:r>
              <a:rPr dirty="0" sz="3200" spc="55">
                <a:latin typeface="Trebuchet MS"/>
                <a:cs typeface="Trebuchet MS"/>
              </a:rPr>
              <a:t>delivered</a:t>
            </a:r>
            <a:r>
              <a:rPr dirty="0" sz="3200" spc="-70">
                <a:latin typeface="Trebuchet MS"/>
                <a:cs typeface="Trebuchet MS"/>
              </a:rPr>
              <a:t> </a:t>
            </a:r>
            <a:r>
              <a:rPr dirty="0" sz="3200" spc="105">
                <a:latin typeface="Trebuchet MS"/>
                <a:cs typeface="Trebuchet MS"/>
              </a:rPr>
              <a:t>an</a:t>
            </a:r>
            <a:r>
              <a:rPr dirty="0" sz="3200" spc="-7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R²</a:t>
            </a:r>
            <a:r>
              <a:rPr dirty="0" sz="3200" spc="-65">
                <a:latin typeface="Trebuchet MS"/>
                <a:cs typeface="Trebuchet MS"/>
              </a:rPr>
              <a:t> </a:t>
            </a:r>
            <a:r>
              <a:rPr dirty="0" sz="3200" spc="160">
                <a:latin typeface="Trebuchet MS"/>
                <a:cs typeface="Trebuchet MS"/>
              </a:rPr>
              <a:t>score</a:t>
            </a:r>
            <a:r>
              <a:rPr dirty="0" sz="3200" spc="-70">
                <a:latin typeface="Trebuchet MS"/>
                <a:cs typeface="Trebuchet MS"/>
              </a:rPr>
              <a:t> </a:t>
            </a:r>
            <a:r>
              <a:rPr dirty="0" sz="3200" spc="70">
                <a:latin typeface="Trebuchet MS"/>
                <a:cs typeface="Trebuchet MS"/>
              </a:rPr>
              <a:t>of</a:t>
            </a:r>
            <a:r>
              <a:rPr dirty="0" sz="3200" spc="-70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0.87, </a:t>
            </a:r>
            <a:r>
              <a:rPr dirty="0" sz="3200" spc="160">
                <a:latin typeface="Trebuchet MS"/>
                <a:cs typeface="Trebuchet MS"/>
              </a:rPr>
              <a:t>showing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105">
                <a:latin typeface="Trebuchet MS"/>
                <a:cs typeface="Trebuchet MS"/>
              </a:rPr>
              <a:t>high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-30">
                <a:latin typeface="Trebuchet MS"/>
                <a:cs typeface="Trebuchet MS"/>
              </a:rPr>
              <a:t>reliability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in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60">
                <a:latin typeface="Trebuchet MS"/>
                <a:cs typeface="Trebuchet MS"/>
              </a:rPr>
              <a:t>predicting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100">
                <a:latin typeface="Trebuchet MS"/>
                <a:cs typeface="Trebuchet MS"/>
              </a:rPr>
              <a:t>expected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140">
                <a:latin typeface="Trebuchet MS"/>
                <a:cs typeface="Trebuchet MS"/>
              </a:rPr>
              <a:t>stock</a:t>
            </a:r>
            <a:r>
              <a:rPr dirty="0" sz="3200" spc="-75">
                <a:latin typeface="Trebuchet MS"/>
                <a:cs typeface="Trebuchet MS"/>
              </a:rPr>
              <a:t> </a:t>
            </a:r>
            <a:r>
              <a:rPr dirty="0" sz="3200" spc="-10">
                <a:latin typeface="Trebuchet MS"/>
                <a:cs typeface="Trebuchet MS"/>
              </a:rPr>
              <a:t>returns.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dirty="0" sz="3200" spc="-55" b="1">
                <a:latin typeface="Tahoma"/>
                <a:cs typeface="Tahoma"/>
              </a:rPr>
              <a:t>Linear</a:t>
            </a:r>
            <a:r>
              <a:rPr dirty="0" sz="3200" spc="-185" b="1">
                <a:latin typeface="Tahoma"/>
                <a:cs typeface="Tahoma"/>
              </a:rPr>
              <a:t> </a:t>
            </a:r>
            <a:r>
              <a:rPr dirty="0" sz="3200" spc="-25" b="1">
                <a:latin typeface="Tahoma"/>
                <a:cs typeface="Tahoma"/>
              </a:rPr>
              <a:t>Regression</a:t>
            </a:r>
            <a:r>
              <a:rPr dirty="0" sz="3200" spc="-185" b="1">
                <a:latin typeface="Tahoma"/>
                <a:cs typeface="Tahoma"/>
              </a:rPr>
              <a:t> </a:t>
            </a:r>
            <a:r>
              <a:rPr dirty="0" sz="3200" spc="105">
                <a:latin typeface="Trebuchet MS"/>
                <a:cs typeface="Trebuchet MS"/>
              </a:rPr>
              <a:t>achieved</a:t>
            </a:r>
            <a:r>
              <a:rPr dirty="0" sz="3200" spc="-45">
                <a:latin typeface="Trebuchet MS"/>
                <a:cs typeface="Trebuchet MS"/>
              </a:rPr>
              <a:t> </a:t>
            </a:r>
            <a:r>
              <a:rPr dirty="0" sz="3200" spc="105">
                <a:latin typeface="Trebuchet MS"/>
                <a:cs typeface="Trebuchet MS"/>
              </a:rPr>
              <a:t>an</a:t>
            </a:r>
            <a:r>
              <a:rPr dirty="0" sz="3200" spc="-40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R²</a:t>
            </a:r>
            <a:r>
              <a:rPr dirty="0" sz="3200" spc="-45">
                <a:latin typeface="Trebuchet MS"/>
                <a:cs typeface="Trebuchet MS"/>
              </a:rPr>
              <a:t> </a:t>
            </a:r>
            <a:r>
              <a:rPr dirty="0" sz="3200" spc="160">
                <a:latin typeface="Trebuchet MS"/>
                <a:cs typeface="Trebuchet MS"/>
              </a:rPr>
              <a:t>score</a:t>
            </a:r>
            <a:r>
              <a:rPr dirty="0" sz="3200" spc="-45">
                <a:latin typeface="Trebuchet MS"/>
                <a:cs typeface="Trebuchet MS"/>
              </a:rPr>
              <a:t> </a:t>
            </a:r>
            <a:r>
              <a:rPr dirty="0" sz="3200" spc="70">
                <a:latin typeface="Trebuchet MS"/>
                <a:cs typeface="Trebuchet MS"/>
              </a:rPr>
              <a:t>of</a:t>
            </a:r>
            <a:r>
              <a:rPr dirty="0" sz="3200" spc="-45">
                <a:latin typeface="Trebuchet MS"/>
                <a:cs typeface="Trebuchet MS"/>
              </a:rPr>
              <a:t> </a:t>
            </a:r>
            <a:r>
              <a:rPr dirty="0" sz="3200" spc="80">
                <a:latin typeface="Trebuchet MS"/>
                <a:cs typeface="Trebuchet MS"/>
              </a:rPr>
              <a:t>0.64,</a:t>
            </a:r>
            <a:r>
              <a:rPr dirty="0" sz="3200" spc="-45">
                <a:latin typeface="Trebuchet MS"/>
                <a:cs typeface="Trebuchet MS"/>
              </a:rPr>
              <a:t> </a:t>
            </a:r>
            <a:r>
              <a:rPr dirty="0" sz="3200" spc="60">
                <a:latin typeface="Trebuchet MS"/>
                <a:cs typeface="Trebuchet MS"/>
              </a:rPr>
              <a:t>performing </a:t>
            </a:r>
            <a:r>
              <a:rPr dirty="0" sz="3200">
                <a:latin typeface="Trebuchet MS"/>
                <a:cs typeface="Trebuchet MS"/>
              </a:rPr>
              <a:t>well</a:t>
            </a:r>
            <a:r>
              <a:rPr dirty="0" sz="3200" spc="-30">
                <a:latin typeface="Trebuchet MS"/>
                <a:cs typeface="Trebuchet MS"/>
              </a:rPr>
              <a:t> </a:t>
            </a:r>
            <a:r>
              <a:rPr dirty="0" sz="3200" spc="55">
                <a:latin typeface="Trebuchet MS"/>
                <a:cs typeface="Trebuchet MS"/>
              </a:rPr>
              <a:t>but</a:t>
            </a:r>
            <a:r>
              <a:rPr dirty="0" sz="3200" spc="-25">
                <a:latin typeface="Trebuchet MS"/>
                <a:cs typeface="Trebuchet MS"/>
              </a:rPr>
              <a:t> </a:t>
            </a:r>
            <a:r>
              <a:rPr dirty="0" sz="3200" spc="150">
                <a:latin typeface="Trebuchet MS"/>
                <a:cs typeface="Trebuchet MS"/>
              </a:rPr>
              <a:t>less</a:t>
            </a:r>
            <a:r>
              <a:rPr dirty="0" sz="3200" spc="-25">
                <a:latin typeface="Trebuchet MS"/>
                <a:cs typeface="Trebuchet MS"/>
              </a:rPr>
              <a:t> </a:t>
            </a:r>
            <a:r>
              <a:rPr dirty="0" sz="3200" spc="85">
                <a:latin typeface="Trebuchet MS"/>
                <a:cs typeface="Trebuchet MS"/>
              </a:rPr>
              <a:t>capable</a:t>
            </a:r>
            <a:r>
              <a:rPr dirty="0" sz="3200" spc="-25">
                <a:latin typeface="Trebuchet MS"/>
                <a:cs typeface="Trebuchet MS"/>
              </a:rPr>
              <a:t> </a:t>
            </a:r>
            <a:r>
              <a:rPr dirty="0" sz="3200" spc="70">
                <a:latin typeface="Trebuchet MS"/>
                <a:cs typeface="Trebuchet MS"/>
              </a:rPr>
              <a:t>of</a:t>
            </a:r>
            <a:r>
              <a:rPr dirty="0" sz="3200" spc="-25">
                <a:latin typeface="Trebuchet MS"/>
                <a:cs typeface="Trebuchet MS"/>
              </a:rPr>
              <a:t> </a:t>
            </a:r>
            <a:r>
              <a:rPr dirty="0" sz="3200" spc="70">
                <a:latin typeface="Trebuchet MS"/>
                <a:cs typeface="Trebuchet MS"/>
              </a:rPr>
              <a:t>capturing</a:t>
            </a:r>
            <a:r>
              <a:rPr dirty="0" sz="3200" spc="-25">
                <a:latin typeface="Trebuchet MS"/>
                <a:cs typeface="Trebuchet MS"/>
              </a:rPr>
              <a:t> </a:t>
            </a:r>
            <a:r>
              <a:rPr dirty="0" sz="3200">
                <a:latin typeface="Trebuchet MS"/>
                <a:cs typeface="Trebuchet MS"/>
              </a:rPr>
              <a:t>multi-factor</a:t>
            </a:r>
            <a:r>
              <a:rPr dirty="0" sz="3200" spc="-30">
                <a:latin typeface="Trebuchet MS"/>
                <a:cs typeface="Trebuchet MS"/>
              </a:rPr>
              <a:t> </a:t>
            </a:r>
            <a:r>
              <a:rPr dirty="0" sz="3200" spc="85">
                <a:latin typeface="Trebuchet MS"/>
                <a:cs typeface="Trebuchet MS"/>
              </a:rPr>
              <a:t>dependencies.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76388"/>
            <a:ext cx="3309802" cy="181061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080" y="872254"/>
            <a:ext cx="17449799" cy="74199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72420" y="2840110"/>
            <a:ext cx="3268271" cy="291554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4383508" y="6216906"/>
            <a:ext cx="3904615" cy="4070350"/>
            <a:chOff x="14383508" y="6216906"/>
            <a:chExt cx="3904615" cy="407035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48375" y="7880163"/>
              <a:ext cx="1439623" cy="235837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383508" y="6216906"/>
              <a:ext cx="3904615" cy="4064000"/>
            </a:xfrm>
            <a:custGeom>
              <a:avLst/>
              <a:gdLst/>
              <a:ahLst/>
              <a:cxnLst/>
              <a:rect l="l" t="t" r="r" b="b"/>
              <a:pathLst>
                <a:path w="3904615" h="4064000">
                  <a:moveTo>
                    <a:pt x="2493731" y="12699"/>
                  </a:moveTo>
                  <a:lnTo>
                    <a:pt x="1998574" y="12699"/>
                  </a:lnTo>
                  <a:lnTo>
                    <a:pt x="2025992" y="0"/>
                  </a:lnTo>
                  <a:lnTo>
                    <a:pt x="2466315" y="0"/>
                  </a:lnTo>
                  <a:lnTo>
                    <a:pt x="2493731" y="12699"/>
                  </a:lnTo>
                  <a:close/>
                </a:path>
                <a:path w="3904615" h="4064000">
                  <a:moveTo>
                    <a:pt x="2602975" y="25399"/>
                  </a:moveTo>
                  <a:lnTo>
                    <a:pt x="1889331" y="25399"/>
                  </a:lnTo>
                  <a:lnTo>
                    <a:pt x="1916574" y="12699"/>
                  </a:lnTo>
                  <a:lnTo>
                    <a:pt x="2575731" y="12699"/>
                  </a:lnTo>
                  <a:lnTo>
                    <a:pt x="2602975" y="25399"/>
                  </a:lnTo>
                  <a:close/>
                </a:path>
                <a:path w="3904615" h="4064000">
                  <a:moveTo>
                    <a:pt x="2684356" y="38099"/>
                  </a:moveTo>
                  <a:lnTo>
                    <a:pt x="1807949" y="38099"/>
                  </a:lnTo>
                  <a:lnTo>
                    <a:pt x="1835018" y="25399"/>
                  </a:lnTo>
                  <a:lnTo>
                    <a:pt x="2657288" y="25399"/>
                  </a:lnTo>
                  <a:lnTo>
                    <a:pt x="2684356" y="38099"/>
                  </a:lnTo>
                  <a:close/>
                </a:path>
                <a:path w="3904615" h="4064000">
                  <a:moveTo>
                    <a:pt x="2738287" y="50799"/>
                  </a:moveTo>
                  <a:lnTo>
                    <a:pt x="1754015" y="50799"/>
                  </a:lnTo>
                  <a:lnTo>
                    <a:pt x="1780945" y="38099"/>
                  </a:lnTo>
                  <a:lnTo>
                    <a:pt x="2711358" y="38099"/>
                  </a:lnTo>
                  <a:lnTo>
                    <a:pt x="2738287" y="50799"/>
                  </a:lnTo>
                  <a:close/>
                </a:path>
                <a:path w="3904615" h="4064000">
                  <a:moveTo>
                    <a:pt x="2791922" y="63499"/>
                  </a:moveTo>
                  <a:lnTo>
                    <a:pt x="1700380" y="63499"/>
                  </a:lnTo>
                  <a:lnTo>
                    <a:pt x="1727160" y="50799"/>
                  </a:lnTo>
                  <a:lnTo>
                    <a:pt x="2765142" y="50799"/>
                  </a:lnTo>
                  <a:lnTo>
                    <a:pt x="2791922" y="63499"/>
                  </a:lnTo>
                  <a:close/>
                </a:path>
                <a:path w="3904615" h="4064000">
                  <a:moveTo>
                    <a:pt x="2845230" y="76199"/>
                  </a:moveTo>
                  <a:lnTo>
                    <a:pt x="1647075" y="76199"/>
                  </a:lnTo>
                  <a:lnTo>
                    <a:pt x="1673683" y="63499"/>
                  </a:lnTo>
                  <a:lnTo>
                    <a:pt x="2818621" y="63499"/>
                  </a:lnTo>
                  <a:lnTo>
                    <a:pt x="2845230" y="76199"/>
                  </a:lnTo>
                  <a:close/>
                </a:path>
                <a:path w="3904615" h="4064000">
                  <a:moveTo>
                    <a:pt x="2924507" y="101599"/>
                  </a:moveTo>
                  <a:lnTo>
                    <a:pt x="1567800" y="101599"/>
                  </a:lnTo>
                  <a:lnTo>
                    <a:pt x="1620558" y="76199"/>
                  </a:lnTo>
                  <a:lnTo>
                    <a:pt x="2871748" y="76199"/>
                  </a:lnTo>
                  <a:lnTo>
                    <a:pt x="2924507" y="101599"/>
                  </a:lnTo>
                  <a:close/>
                </a:path>
                <a:path w="3904615" h="4064000">
                  <a:moveTo>
                    <a:pt x="3028756" y="139699"/>
                  </a:moveTo>
                  <a:lnTo>
                    <a:pt x="1463552" y="139699"/>
                  </a:lnTo>
                  <a:lnTo>
                    <a:pt x="1541577" y="101599"/>
                  </a:lnTo>
                  <a:lnTo>
                    <a:pt x="2950731" y="101599"/>
                  </a:lnTo>
                  <a:lnTo>
                    <a:pt x="3028756" y="139699"/>
                  </a:lnTo>
                  <a:close/>
                </a:path>
                <a:path w="3904615" h="4064000">
                  <a:moveTo>
                    <a:pt x="3181515" y="203199"/>
                  </a:moveTo>
                  <a:lnTo>
                    <a:pt x="1310788" y="203199"/>
                  </a:lnTo>
                  <a:lnTo>
                    <a:pt x="1437775" y="139699"/>
                  </a:lnTo>
                  <a:lnTo>
                    <a:pt x="3054532" y="139699"/>
                  </a:lnTo>
                  <a:lnTo>
                    <a:pt x="3181515" y="203199"/>
                  </a:lnTo>
                  <a:close/>
                </a:path>
                <a:path w="3904615" h="4064000">
                  <a:moveTo>
                    <a:pt x="3561944" y="4063999"/>
                  </a:moveTo>
                  <a:lnTo>
                    <a:pt x="930360" y="4063999"/>
                  </a:lnTo>
                  <a:lnTo>
                    <a:pt x="908118" y="4038599"/>
                  </a:lnTo>
                  <a:lnTo>
                    <a:pt x="864246" y="4013199"/>
                  </a:lnTo>
                  <a:lnTo>
                    <a:pt x="842623" y="3987799"/>
                  </a:lnTo>
                  <a:lnTo>
                    <a:pt x="800006" y="3962399"/>
                  </a:lnTo>
                  <a:lnTo>
                    <a:pt x="779025" y="3936999"/>
                  </a:lnTo>
                  <a:lnTo>
                    <a:pt x="758266" y="3924299"/>
                  </a:lnTo>
                  <a:lnTo>
                    <a:pt x="737728" y="3898899"/>
                  </a:lnTo>
                  <a:lnTo>
                    <a:pt x="717417" y="3886199"/>
                  </a:lnTo>
                  <a:lnTo>
                    <a:pt x="697339" y="3860799"/>
                  </a:lnTo>
                  <a:lnTo>
                    <a:pt x="677494" y="3848099"/>
                  </a:lnTo>
                  <a:lnTo>
                    <a:pt x="657882" y="3822699"/>
                  </a:lnTo>
                  <a:lnTo>
                    <a:pt x="638509" y="3809999"/>
                  </a:lnTo>
                  <a:lnTo>
                    <a:pt x="619381" y="3784599"/>
                  </a:lnTo>
                  <a:lnTo>
                    <a:pt x="600499" y="3771899"/>
                  </a:lnTo>
                  <a:lnTo>
                    <a:pt x="581862" y="3746499"/>
                  </a:lnTo>
                  <a:lnTo>
                    <a:pt x="563475" y="3733799"/>
                  </a:lnTo>
                  <a:lnTo>
                    <a:pt x="545344" y="3708399"/>
                  </a:lnTo>
                  <a:lnTo>
                    <a:pt x="527470" y="3682999"/>
                  </a:lnTo>
                  <a:lnTo>
                    <a:pt x="509852" y="3670299"/>
                  </a:lnTo>
                  <a:lnTo>
                    <a:pt x="492494" y="3644899"/>
                  </a:lnTo>
                  <a:lnTo>
                    <a:pt x="475404" y="3619499"/>
                  </a:lnTo>
                  <a:lnTo>
                    <a:pt x="458580" y="3594099"/>
                  </a:lnTo>
                  <a:lnTo>
                    <a:pt x="442023" y="3581399"/>
                  </a:lnTo>
                  <a:lnTo>
                    <a:pt x="425738" y="3555999"/>
                  </a:lnTo>
                  <a:lnTo>
                    <a:pt x="409730" y="3530599"/>
                  </a:lnTo>
                  <a:lnTo>
                    <a:pt x="393997" y="3505199"/>
                  </a:lnTo>
                  <a:lnTo>
                    <a:pt x="378542" y="3492499"/>
                  </a:lnTo>
                  <a:lnTo>
                    <a:pt x="348479" y="3441699"/>
                  </a:lnTo>
                  <a:lnTo>
                    <a:pt x="319560" y="3390899"/>
                  </a:lnTo>
                  <a:lnTo>
                    <a:pt x="305534" y="3365499"/>
                  </a:lnTo>
                  <a:lnTo>
                    <a:pt x="291803" y="3352799"/>
                  </a:lnTo>
                  <a:lnTo>
                    <a:pt x="265222" y="3301999"/>
                  </a:lnTo>
                  <a:lnTo>
                    <a:pt x="239834" y="3251199"/>
                  </a:lnTo>
                  <a:lnTo>
                    <a:pt x="215653" y="3200399"/>
                  </a:lnTo>
                  <a:lnTo>
                    <a:pt x="192696" y="3149599"/>
                  </a:lnTo>
                  <a:lnTo>
                    <a:pt x="170976" y="3098799"/>
                  </a:lnTo>
                  <a:lnTo>
                    <a:pt x="150505" y="3047999"/>
                  </a:lnTo>
                  <a:lnTo>
                    <a:pt x="131298" y="2997199"/>
                  </a:lnTo>
                  <a:lnTo>
                    <a:pt x="113365" y="2946399"/>
                  </a:lnTo>
                  <a:lnTo>
                    <a:pt x="96718" y="2895599"/>
                  </a:lnTo>
                  <a:lnTo>
                    <a:pt x="81363" y="2844799"/>
                  </a:lnTo>
                  <a:lnTo>
                    <a:pt x="74175" y="2806699"/>
                  </a:lnTo>
                  <a:lnTo>
                    <a:pt x="67313" y="2781299"/>
                  </a:lnTo>
                  <a:lnTo>
                    <a:pt x="54574" y="2730499"/>
                  </a:lnTo>
                  <a:lnTo>
                    <a:pt x="43157" y="2679699"/>
                  </a:lnTo>
                  <a:lnTo>
                    <a:pt x="33066" y="2628899"/>
                  </a:lnTo>
                  <a:lnTo>
                    <a:pt x="28521" y="2590799"/>
                  </a:lnTo>
                  <a:lnTo>
                    <a:pt x="24309" y="2565399"/>
                  </a:lnTo>
                  <a:lnTo>
                    <a:pt x="16891" y="2514599"/>
                  </a:lnTo>
                  <a:lnTo>
                    <a:pt x="10815" y="2463799"/>
                  </a:lnTo>
                  <a:lnTo>
                    <a:pt x="6085" y="2400299"/>
                  </a:lnTo>
                  <a:lnTo>
                    <a:pt x="4226" y="2374899"/>
                  </a:lnTo>
                  <a:lnTo>
                    <a:pt x="1521" y="2324099"/>
                  </a:lnTo>
                  <a:lnTo>
                    <a:pt x="169" y="2273299"/>
                  </a:lnTo>
                  <a:lnTo>
                    <a:pt x="0" y="2235199"/>
                  </a:lnTo>
                  <a:lnTo>
                    <a:pt x="169" y="2209799"/>
                  </a:lnTo>
                  <a:lnTo>
                    <a:pt x="676" y="2184399"/>
                  </a:lnTo>
                  <a:lnTo>
                    <a:pt x="1522" y="2158999"/>
                  </a:lnTo>
                  <a:lnTo>
                    <a:pt x="2705" y="2133599"/>
                  </a:lnTo>
                  <a:lnTo>
                    <a:pt x="4227" y="2108199"/>
                  </a:lnTo>
                  <a:lnTo>
                    <a:pt x="6086" y="2070099"/>
                  </a:lnTo>
                  <a:lnTo>
                    <a:pt x="10816" y="2019299"/>
                  </a:lnTo>
                  <a:lnTo>
                    <a:pt x="16892" y="1968499"/>
                  </a:lnTo>
                  <a:lnTo>
                    <a:pt x="20433" y="1943099"/>
                  </a:lnTo>
                  <a:lnTo>
                    <a:pt x="24310" y="1904999"/>
                  </a:lnTo>
                  <a:lnTo>
                    <a:pt x="33068" y="1854199"/>
                  </a:lnTo>
                  <a:lnTo>
                    <a:pt x="43158" y="1803399"/>
                  </a:lnTo>
                  <a:lnTo>
                    <a:pt x="54576" y="1752599"/>
                  </a:lnTo>
                  <a:lnTo>
                    <a:pt x="60780" y="1714499"/>
                  </a:lnTo>
                  <a:lnTo>
                    <a:pt x="74176" y="1663699"/>
                  </a:lnTo>
                  <a:lnTo>
                    <a:pt x="88878" y="1612899"/>
                  </a:lnTo>
                  <a:lnTo>
                    <a:pt x="104882" y="1562099"/>
                  </a:lnTo>
                  <a:lnTo>
                    <a:pt x="122172" y="1511299"/>
                  </a:lnTo>
                  <a:lnTo>
                    <a:pt x="140745" y="1460499"/>
                  </a:lnTo>
                  <a:lnTo>
                    <a:pt x="160583" y="1409699"/>
                  </a:lnTo>
                  <a:lnTo>
                    <a:pt x="181681" y="1358899"/>
                  </a:lnTo>
                  <a:lnTo>
                    <a:pt x="204020" y="1308099"/>
                  </a:lnTo>
                  <a:lnTo>
                    <a:pt x="227592" y="1257299"/>
                  </a:lnTo>
                  <a:lnTo>
                    <a:pt x="252376" y="1206499"/>
                  </a:lnTo>
                  <a:lnTo>
                    <a:pt x="278364" y="1155699"/>
                  </a:lnTo>
                  <a:lnTo>
                    <a:pt x="305534" y="1104899"/>
                  </a:lnTo>
                  <a:lnTo>
                    <a:pt x="333877" y="1066799"/>
                  </a:lnTo>
                  <a:lnTo>
                    <a:pt x="348480" y="1041399"/>
                  </a:lnTo>
                  <a:lnTo>
                    <a:pt x="363368" y="1015999"/>
                  </a:lnTo>
                  <a:lnTo>
                    <a:pt x="378543" y="990599"/>
                  </a:lnTo>
                  <a:lnTo>
                    <a:pt x="393998" y="965199"/>
                  </a:lnTo>
                  <a:lnTo>
                    <a:pt x="409729" y="952499"/>
                  </a:lnTo>
                  <a:lnTo>
                    <a:pt x="425737" y="927099"/>
                  </a:lnTo>
                  <a:lnTo>
                    <a:pt x="442022" y="901699"/>
                  </a:lnTo>
                  <a:lnTo>
                    <a:pt x="458580" y="876299"/>
                  </a:lnTo>
                  <a:lnTo>
                    <a:pt x="475404" y="863599"/>
                  </a:lnTo>
                  <a:lnTo>
                    <a:pt x="492494" y="838199"/>
                  </a:lnTo>
                  <a:lnTo>
                    <a:pt x="509852" y="812799"/>
                  </a:lnTo>
                  <a:lnTo>
                    <a:pt x="527470" y="787399"/>
                  </a:lnTo>
                  <a:lnTo>
                    <a:pt x="545344" y="774699"/>
                  </a:lnTo>
                  <a:lnTo>
                    <a:pt x="563474" y="749299"/>
                  </a:lnTo>
                  <a:lnTo>
                    <a:pt x="581861" y="736599"/>
                  </a:lnTo>
                  <a:lnTo>
                    <a:pt x="600498" y="711199"/>
                  </a:lnTo>
                  <a:lnTo>
                    <a:pt x="619381" y="685799"/>
                  </a:lnTo>
                  <a:lnTo>
                    <a:pt x="638509" y="673099"/>
                  </a:lnTo>
                  <a:lnTo>
                    <a:pt x="657882" y="647699"/>
                  </a:lnTo>
                  <a:lnTo>
                    <a:pt x="677494" y="634999"/>
                  </a:lnTo>
                  <a:lnTo>
                    <a:pt x="697339" y="609599"/>
                  </a:lnTo>
                  <a:lnTo>
                    <a:pt x="717417" y="596899"/>
                  </a:lnTo>
                  <a:lnTo>
                    <a:pt x="737728" y="571499"/>
                  </a:lnTo>
                  <a:lnTo>
                    <a:pt x="758267" y="558799"/>
                  </a:lnTo>
                  <a:lnTo>
                    <a:pt x="779027" y="533399"/>
                  </a:lnTo>
                  <a:lnTo>
                    <a:pt x="821208" y="507999"/>
                  </a:lnTo>
                  <a:lnTo>
                    <a:pt x="842623" y="482599"/>
                  </a:lnTo>
                  <a:lnTo>
                    <a:pt x="886078" y="457199"/>
                  </a:lnTo>
                  <a:lnTo>
                    <a:pt x="908118" y="431799"/>
                  </a:lnTo>
                  <a:lnTo>
                    <a:pt x="975428" y="393699"/>
                  </a:lnTo>
                  <a:lnTo>
                    <a:pt x="998255" y="368299"/>
                  </a:lnTo>
                  <a:lnTo>
                    <a:pt x="1021269" y="355599"/>
                  </a:lnTo>
                  <a:lnTo>
                    <a:pt x="1115126" y="304799"/>
                  </a:lnTo>
                  <a:lnTo>
                    <a:pt x="1139024" y="279399"/>
                  </a:lnTo>
                  <a:lnTo>
                    <a:pt x="1163089" y="266699"/>
                  </a:lnTo>
                  <a:lnTo>
                    <a:pt x="1285796" y="203199"/>
                  </a:lnTo>
                  <a:lnTo>
                    <a:pt x="3206508" y="203199"/>
                  </a:lnTo>
                  <a:lnTo>
                    <a:pt x="3329215" y="266699"/>
                  </a:lnTo>
                  <a:lnTo>
                    <a:pt x="3353279" y="279399"/>
                  </a:lnTo>
                  <a:lnTo>
                    <a:pt x="3377176" y="304799"/>
                  </a:lnTo>
                  <a:lnTo>
                    <a:pt x="3471034" y="355599"/>
                  </a:lnTo>
                  <a:lnTo>
                    <a:pt x="3494048" y="368299"/>
                  </a:lnTo>
                  <a:lnTo>
                    <a:pt x="3516875" y="393699"/>
                  </a:lnTo>
                  <a:lnTo>
                    <a:pt x="3584187" y="431799"/>
                  </a:lnTo>
                  <a:lnTo>
                    <a:pt x="3606228" y="457199"/>
                  </a:lnTo>
                  <a:lnTo>
                    <a:pt x="3649685" y="482599"/>
                  </a:lnTo>
                  <a:lnTo>
                    <a:pt x="3671100" y="507999"/>
                  </a:lnTo>
                  <a:lnTo>
                    <a:pt x="3713282" y="533399"/>
                  </a:lnTo>
                  <a:lnTo>
                    <a:pt x="3734041" y="558799"/>
                  </a:lnTo>
                  <a:lnTo>
                    <a:pt x="3754578" y="571499"/>
                  </a:lnTo>
                  <a:lnTo>
                    <a:pt x="3774891" y="596899"/>
                  </a:lnTo>
                  <a:lnTo>
                    <a:pt x="3794970" y="609599"/>
                  </a:lnTo>
                  <a:lnTo>
                    <a:pt x="3814814" y="634999"/>
                  </a:lnTo>
                  <a:lnTo>
                    <a:pt x="3834424" y="647699"/>
                  </a:lnTo>
                  <a:lnTo>
                    <a:pt x="3853797" y="673099"/>
                  </a:lnTo>
                  <a:lnTo>
                    <a:pt x="3872925" y="685799"/>
                  </a:lnTo>
                  <a:lnTo>
                    <a:pt x="3891808" y="711199"/>
                  </a:lnTo>
                  <a:lnTo>
                    <a:pt x="3904490" y="723899"/>
                  </a:lnTo>
                  <a:lnTo>
                    <a:pt x="3904490" y="3759199"/>
                  </a:lnTo>
                  <a:lnTo>
                    <a:pt x="3891807" y="3771899"/>
                  </a:lnTo>
                  <a:lnTo>
                    <a:pt x="3872925" y="3784599"/>
                  </a:lnTo>
                  <a:lnTo>
                    <a:pt x="3853797" y="3809999"/>
                  </a:lnTo>
                  <a:lnTo>
                    <a:pt x="3834424" y="3822699"/>
                  </a:lnTo>
                  <a:lnTo>
                    <a:pt x="3814814" y="3848099"/>
                  </a:lnTo>
                  <a:lnTo>
                    <a:pt x="3794970" y="3860799"/>
                  </a:lnTo>
                  <a:lnTo>
                    <a:pt x="3774892" y="3886199"/>
                  </a:lnTo>
                  <a:lnTo>
                    <a:pt x="3754581" y="3898899"/>
                  </a:lnTo>
                  <a:lnTo>
                    <a:pt x="3734042" y="3924299"/>
                  </a:lnTo>
                  <a:lnTo>
                    <a:pt x="3713283" y="3936999"/>
                  </a:lnTo>
                  <a:lnTo>
                    <a:pt x="3692302" y="3962399"/>
                  </a:lnTo>
                  <a:lnTo>
                    <a:pt x="3649685" y="3987799"/>
                  </a:lnTo>
                  <a:lnTo>
                    <a:pt x="3628061" y="4013199"/>
                  </a:lnTo>
                  <a:lnTo>
                    <a:pt x="3584187" y="4038599"/>
                  </a:lnTo>
                  <a:lnTo>
                    <a:pt x="3561944" y="4063999"/>
                  </a:lnTo>
                  <a:close/>
                </a:path>
              </a:pathLst>
            </a:custGeom>
            <a:solidFill>
              <a:srgbClr val="171717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0049" y="7378625"/>
              <a:ext cx="2279227" cy="2908375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307" y="4577333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307" y="5101207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307" y="6148957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307" y="7196708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307" y="8244457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257" y="9282682"/>
            <a:ext cx="114299" cy="114299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655" marR="5080">
              <a:lnSpc>
                <a:spcPct val="114599"/>
              </a:lnSpc>
              <a:spcBef>
                <a:spcPts val="100"/>
              </a:spcBef>
            </a:pPr>
            <a:r>
              <a:rPr dirty="0" spc="150" b="0">
                <a:latin typeface="Trebuchet MS"/>
                <a:cs typeface="Trebuchet MS"/>
              </a:rPr>
              <a:t>Accepts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spc="130" b="0">
                <a:latin typeface="Trebuchet MS"/>
                <a:cs typeface="Trebuchet MS"/>
              </a:rPr>
              <a:t>stock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spc="70" b="0">
                <a:latin typeface="Trebuchet MS"/>
                <a:cs typeface="Trebuchet MS"/>
              </a:rPr>
              <a:t>inputs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spc="185" b="0">
                <a:latin typeface="Trebuchet MS"/>
                <a:cs typeface="Trebuchet MS"/>
              </a:rPr>
              <a:t>such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spc="225" b="0">
                <a:latin typeface="Trebuchet MS"/>
                <a:cs typeface="Trebuchet MS"/>
              </a:rPr>
              <a:t>as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spc="-60">
                <a:solidFill>
                  <a:srgbClr val="000000"/>
                </a:solidFill>
              </a:rPr>
              <a:t>Beta,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30">
                <a:solidFill>
                  <a:srgbClr val="000000"/>
                </a:solidFill>
              </a:rPr>
              <a:t>PE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95">
                <a:solidFill>
                  <a:srgbClr val="000000"/>
                </a:solidFill>
              </a:rPr>
              <a:t>Ratio,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Volatility,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60">
                <a:solidFill>
                  <a:srgbClr val="000000"/>
                </a:solidFill>
              </a:rPr>
              <a:t>and</a:t>
            </a:r>
            <a:r>
              <a:rPr dirty="0" spc="-175">
                <a:solidFill>
                  <a:srgbClr val="000000"/>
                </a:solidFill>
              </a:rPr>
              <a:t> </a:t>
            </a:r>
            <a:r>
              <a:rPr dirty="0" spc="-35">
                <a:solidFill>
                  <a:srgbClr val="000000"/>
                </a:solidFill>
              </a:rPr>
              <a:t>Market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Cap. </a:t>
            </a:r>
            <a:r>
              <a:rPr dirty="0"/>
              <a:t>Predicts</a:t>
            </a:r>
            <a:r>
              <a:rPr dirty="0" spc="-165"/>
              <a:t> </a:t>
            </a:r>
            <a:r>
              <a:rPr dirty="0"/>
              <a:t>each</a:t>
            </a:r>
            <a:r>
              <a:rPr dirty="0" spc="-165"/>
              <a:t> </a:t>
            </a:r>
            <a:r>
              <a:rPr dirty="0"/>
              <a:t>stock’s</a:t>
            </a:r>
            <a:r>
              <a:rPr dirty="0" spc="-165"/>
              <a:t> </a:t>
            </a:r>
            <a:r>
              <a:rPr dirty="0" spc="-20"/>
              <a:t>risk</a:t>
            </a:r>
            <a:r>
              <a:rPr dirty="0" spc="-165"/>
              <a:t> </a:t>
            </a:r>
            <a:r>
              <a:rPr dirty="0" spc="-10"/>
              <a:t>category</a:t>
            </a:r>
            <a:r>
              <a:rPr dirty="0" spc="-165"/>
              <a:t> </a:t>
            </a:r>
            <a:r>
              <a:rPr dirty="0" spc="-60"/>
              <a:t>and</a:t>
            </a:r>
            <a:r>
              <a:rPr dirty="0" spc="-165"/>
              <a:t> </a:t>
            </a:r>
            <a:r>
              <a:rPr dirty="0" spc="-10"/>
              <a:t>expected</a:t>
            </a:r>
            <a:r>
              <a:rPr dirty="0" spc="-165"/>
              <a:t> </a:t>
            </a:r>
            <a:r>
              <a:rPr dirty="0" spc="-55"/>
              <a:t>return</a:t>
            </a:r>
            <a:r>
              <a:rPr dirty="0" spc="-160"/>
              <a:t> </a:t>
            </a:r>
            <a:r>
              <a:rPr dirty="0" spc="140" b="0">
                <a:latin typeface="Trebuchet MS"/>
                <a:cs typeface="Trebuchet MS"/>
              </a:rPr>
              <a:t>using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trained </a:t>
            </a:r>
            <a:r>
              <a:rPr dirty="0" spc="370" b="0">
                <a:latin typeface="Trebuchet MS"/>
                <a:cs typeface="Trebuchet MS"/>
              </a:rPr>
              <a:t>ML</a:t>
            </a:r>
            <a:r>
              <a:rPr dirty="0" spc="-65" b="0">
                <a:latin typeface="Trebuchet MS"/>
                <a:cs typeface="Trebuchet MS"/>
              </a:rPr>
              <a:t> </a:t>
            </a:r>
            <a:r>
              <a:rPr dirty="0" spc="45" b="0">
                <a:latin typeface="Trebuchet MS"/>
                <a:cs typeface="Trebuchet MS"/>
              </a:rPr>
              <a:t>models.</a:t>
            </a:r>
          </a:p>
          <a:p>
            <a:pPr marL="33655" marR="1684655">
              <a:lnSpc>
                <a:spcPct val="114599"/>
              </a:lnSpc>
            </a:pPr>
            <a:r>
              <a:rPr dirty="0" b="0">
                <a:latin typeface="Trebuchet MS"/>
                <a:cs typeface="Trebuchet MS"/>
              </a:rPr>
              <a:t>Automatically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spc="170" b="0">
                <a:latin typeface="Trebuchet MS"/>
                <a:cs typeface="Trebuchet MS"/>
              </a:rPr>
              <a:t>groups</a:t>
            </a:r>
            <a:r>
              <a:rPr dirty="0" spc="35" b="0">
                <a:latin typeface="Trebuchet MS"/>
                <a:cs typeface="Trebuchet MS"/>
              </a:rPr>
              <a:t> </a:t>
            </a:r>
            <a:r>
              <a:rPr dirty="0" spc="165" b="0">
                <a:latin typeface="Trebuchet MS"/>
                <a:cs typeface="Trebuchet MS"/>
              </a:rPr>
              <a:t>stocks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into</a:t>
            </a:r>
            <a:r>
              <a:rPr dirty="0" spc="40" b="0">
                <a:latin typeface="Trebuchet MS"/>
                <a:cs typeface="Trebuchet MS"/>
              </a:rPr>
              <a:t> </a:t>
            </a:r>
            <a:r>
              <a:rPr dirty="0" spc="-10"/>
              <a:t>Conservative,</a:t>
            </a:r>
            <a:r>
              <a:rPr dirty="0" spc="-105"/>
              <a:t> </a:t>
            </a:r>
            <a:r>
              <a:rPr dirty="0" spc="-25"/>
              <a:t>Moderate,</a:t>
            </a:r>
            <a:r>
              <a:rPr dirty="0" spc="-105"/>
              <a:t> </a:t>
            </a:r>
            <a:r>
              <a:rPr dirty="0" spc="-25"/>
              <a:t>and </a:t>
            </a:r>
            <a:r>
              <a:rPr dirty="0"/>
              <a:t>Aggressive</a:t>
            </a:r>
            <a:r>
              <a:rPr dirty="0" spc="100"/>
              <a:t> </a:t>
            </a:r>
            <a:r>
              <a:rPr dirty="0" spc="-10"/>
              <a:t>portfolios.</a:t>
            </a:r>
          </a:p>
          <a:p>
            <a:pPr marL="33655" marR="229235">
              <a:lnSpc>
                <a:spcPct val="114599"/>
              </a:lnSpc>
            </a:pPr>
            <a:r>
              <a:rPr dirty="0" spc="135" b="0">
                <a:latin typeface="Trebuchet MS"/>
                <a:cs typeface="Trebuchet MS"/>
              </a:rPr>
              <a:t>Displays</a:t>
            </a:r>
            <a:r>
              <a:rPr dirty="0" b="0">
                <a:latin typeface="Trebuchet MS"/>
                <a:cs typeface="Trebuchet MS"/>
              </a:rPr>
              <a:t> portfolio-level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spc="60" b="0">
                <a:latin typeface="Trebuchet MS"/>
                <a:cs typeface="Trebuchet MS"/>
              </a:rPr>
              <a:t>metrics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spc="790" b="0">
                <a:latin typeface="Trebuchet MS"/>
                <a:cs typeface="Trebuchet MS"/>
              </a:rPr>
              <a:t>—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10"/>
              <a:t>Expected</a:t>
            </a:r>
            <a:r>
              <a:rPr dirty="0" spc="-130"/>
              <a:t> </a:t>
            </a:r>
            <a:r>
              <a:rPr dirty="0" spc="-80"/>
              <a:t>Return,</a:t>
            </a:r>
            <a:r>
              <a:rPr dirty="0" spc="-125"/>
              <a:t> </a:t>
            </a:r>
            <a:r>
              <a:rPr dirty="0"/>
              <a:t>Average</a:t>
            </a:r>
            <a:r>
              <a:rPr dirty="0" spc="-130"/>
              <a:t> </a:t>
            </a:r>
            <a:r>
              <a:rPr dirty="0" spc="-65"/>
              <a:t>Risk,</a:t>
            </a:r>
            <a:r>
              <a:rPr dirty="0" spc="-125"/>
              <a:t> </a:t>
            </a:r>
            <a:r>
              <a:rPr dirty="0" spc="-25"/>
              <a:t>and Sharpe</a:t>
            </a:r>
            <a:r>
              <a:rPr dirty="0" spc="-160"/>
              <a:t> </a:t>
            </a:r>
            <a:r>
              <a:rPr dirty="0" spc="-10"/>
              <a:t>Ratio.</a:t>
            </a:r>
          </a:p>
          <a:p>
            <a:pPr marL="33655" marR="1308735">
              <a:lnSpc>
                <a:spcPct val="114599"/>
              </a:lnSpc>
            </a:pPr>
            <a:r>
              <a:rPr dirty="0" spc="-50"/>
              <a:t>Highlights</a:t>
            </a:r>
            <a:r>
              <a:rPr dirty="0" spc="-130"/>
              <a:t> </a:t>
            </a:r>
            <a:r>
              <a:rPr dirty="0" spc="-10"/>
              <a:t>top-</a:t>
            </a:r>
            <a:r>
              <a:rPr dirty="0" spc="-45"/>
              <a:t>performing</a:t>
            </a:r>
            <a:r>
              <a:rPr dirty="0" spc="-125"/>
              <a:t> </a:t>
            </a:r>
            <a:r>
              <a:rPr dirty="0"/>
              <a:t>stocks</a:t>
            </a:r>
            <a:r>
              <a:rPr dirty="0" spc="-125"/>
              <a:t> </a:t>
            </a:r>
            <a:r>
              <a:rPr dirty="0" spc="90" b="0">
                <a:latin typeface="Trebuchet MS"/>
                <a:cs typeface="Trebuchet MS"/>
              </a:rPr>
              <a:t>under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spc="125" b="0">
                <a:latin typeface="Trebuchet MS"/>
                <a:cs typeface="Trebuchet MS"/>
              </a:rPr>
              <a:t>each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portfolio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with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their </a:t>
            </a:r>
            <a:r>
              <a:rPr dirty="0" spc="60" b="0">
                <a:latin typeface="Trebuchet MS"/>
                <a:cs typeface="Trebuchet MS"/>
              </a:rPr>
              <a:t>predicted</a:t>
            </a:r>
            <a:r>
              <a:rPr dirty="0" spc="-3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returns.</a:t>
            </a:r>
          </a:p>
          <a:p>
            <a:pPr marL="12700" marR="294005">
              <a:lnSpc>
                <a:spcPts val="4050"/>
              </a:lnSpc>
              <a:spcBef>
                <a:spcPts val="75"/>
              </a:spcBef>
            </a:pPr>
            <a:r>
              <a:rPr dirty="0" sz="2900" spc="95" b="0">
                <a:latin typeface="Trebuchet MS"/>
                <a:cs typeface="Trebuchet MS"/>
              </a:rPr>
              <a:t>Offers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105" b="0">
                <a:latin typeface="Trebuchet MS"/>
                <a:cs typeface="Trebuchet MS"/>
              </a:rPr>
              <a:t>a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b="0">
                <a:latin typeface="Trebuchet MS"/>
                <a:cs typeface="Trebuchet MS"/>
              </a:rPr>
              <a:t>clean,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120" b="0">
                <a:latin typeface="Trebuchet MS"/>
                <a:cs typeface="Trebuchet MS"/>
              </a:rPr>
              <a:t>dark-</a:t>
            </a:r>
            <a:r>
              <a:rPr dirty="0" sz="2900" spc="70" b="0">
                <a:latin typeface="Trebuchet MS"/>
                <a:cs typeface="Trebuchet MS"/>
              </a:rPr>
              <a:t>themed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145" b="0">
                <a:latin typeface="Trebuchet MS"/>
                <a:cs typeface="Trebuchet MS"/>
              </a:rPr>
              <a:t>dashboard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b="0">
                <a:latin typeface="Trebuchet MS"/>
                <a:cs typeface="Trebuchet MS"/>
              </a:rPr>
              <a:t>with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95" b="0">
                <a:latin typeface="Trebuchet MS"/>
                <a:cs typeface="Trebuchet MS"/>
              </a:rPr>
              <a:t>an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-10" b="0">
                <a:latin typeface="Trebuchet MS"/>
                <a:cs typeface="Trebuchet MS"/>
              </a:rPr>
              <a:t>intuitive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100" b="0">
                <a:latin typeface="Trebuchet MS"/>
                <a:cs typeface="Trebuchet MS"/>
              </a:rPr>
              <a:t>sidebar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120" b="0">
                <a:latin typeface="Trebuchet MS"/>
                <a:cs typeface="Trebuchet MS"/>
              </a:rPr>
              <a:t>and</a:t>
            </a:r>
            <a:r>
              <a:rPr dirty="0" sz="2900" spc="-60" b="0">
                <a:latin typeface="Trebuchet MS"/>
                <a:cs typeface="Trebuchet MS"/>
              </a:rPr>
              <a:t> </a:t>
            </a:r>
            <a:r>
              <a:rPr dirty="0" sz="2900" spc="40" b="0">
                <a:latin typeface="Trebuchet MS"/>
                <a:cs typeface="Trebuchet MS"/>
              </a:rPr>
              <a:t>real- </a:t>
            </a:r>
            <a:r>
              <a:rPr dirty="0" sz="2900" b="0">
                <a:latin typeface="Trebuchet MS"/>
                <a:cs typeface="Trebuchet MS"/>
              </a:rPr>
              <a:t>time</a:t>
            </a:r>
            <a:r>
              <a:rPr dirty="0" sz="2900" spc="-130" b="0">
                <a:latin typeface="Trebuchet MS"/>
                <a:cs typeface="Trebuchet MS"/>
              </a:rPr>
              <a:t> </a:t>
            </a:r>
            <a:r>
              <a:rPr dirty="0" sz="2900" spc="55" b="0">
                <a:latin typeface="Trebuchet MS"/>
                <a:cs typeface="Trebuchet MS"/>
              </a:rPr>
              <a:t>updates.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0182" y="225588"/>
            <a:ext cx="16321405" cy="1313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50" spc="-625"/>
              <a:t>P</a:t>
            </a:r>
            <a:r>
              <a:rPr dirty="0" sz="8450" spc="-575"/>
              <a:t>o</a:t>
            </a:r>
            <a:r>
              <a:rPr dirty="0" sz="8450" spc="-560"/>
              <a:t>r</a:t>
            </a:r>
            <a:r>
              <a:rPr dirty="0" sz="8450" spc="-550"/>
              <a:t>t</a:t>
            </a:r>
            <a:r>
              <a:rPr dirty="0" sz="8450" spc="-505"/>
              <a:t>f</a:t>
            </a:r>
            <a:r>
              <a:rPr dirty="0" sz="8450" spc="-575"/>
              <a:t>o</a:t>
            </a:r>
            <a:r>
              <a:rPr dirty="0" sz="8450" spc="-630"/>
              <a:t>li</a:t>
            </a:r>
            <a:r>
              <a:rPr dirty="0" sz="8450" spc="-25"/>
              <a:t>o</a:t>
            </a:r>
            <a:r>
              <a:rPr dirty="0" sz="8450" spc="-1910"/>
              <a:t> </a:t>
            </a:r>
            <a:r>
              <a:rPr dirty="0" sz="8450" spc="-780"/>
              <a:t>R</a:t>
            </a:r>
            <a:r>
              <a:rPr dirty="0" sz="8450" spc="-735"/>
              <a:t>e</a:t>
            </a:r>
            <a:r>
              <a:rPr dirty="0" sz="8450" spc="-690"/>
              <a:t>t</a:t>
            </a:r>
            <a:r>
              <a:rPr dirty="0" sz="8450" spc="-725"/>
              <a:t>u</a:t>
            </a:r>
            <a:r>
              <a:rPr dirty="0" sz="8450" spc="-700"/>
              <a:t>r</a:t>
            </a:r>
            <a:r>
              <a:rPr dirty="0" sz="8450" spc="-725"/>
              <a:t>n</a:t>
            </a:r>
            <a:r>
              <a:rPr dirty="0" sz="8450" spc="-165"/>
              <a:t>s</a:t>
            </a:r>
            <a:r>
              <a:rPr dirty="0" sz="8450" spc="-1905"/>
              <a:t> </a:t>
            </a:r>
            <a:r>
              <a:rPr dirty="0" sz="8450" spc="-1355"/>
              <a:t>&amp;</a:t>
            </a:r>
            <a:r>
              <a:rPr dirty="0" sz="8450" spc="-1914"/>
              <a:t> </a:t>
            </a:r>
            <a:r>
              <a:rPr dirty="0" sz="8450" spc="-1025"/>
              <a:t>R</a:t>
            </a:r>
            <a:r>
              <a:rPr dirty="0" sz="8450" spc="-1015"/>
              <a:t>i</a:t>
            </a:r>
            <a:r>
              <a:rPr dirty="0" sz="8450" spc="-1030"/>
              <a:t>s</a:t>
            </a:r>
            <a:r>
              <a:rPr dirty="0" sz="8450" spc="-409"/>
              <a:t>k</a:t>
            </a:r>
            <a:r>
              <a:rPr dirty="0" sz="8450" spc="-1910"/>
              <a:t> </a:t>
            </a:r>
            <a:r>
              <a:rPr dirty="0" sz="8450" spc="-790"/>
              <a:t>A</a:t>
            </a:r>
            <a:r>
              <a:rPr dirty="0" sz="8450" spc="-755"/>
              <a:t>n</a:t>
            </a:r>
            <a:r>
              <a:rPr dirty="0" sz="8450" spc="-775"/>
              <a:t>a</a:t>
            </a:r>
            <a:r>
              <a:rPr dirty="0" sz="8450" spc="-800"/>
              <a:t>l</a:t>
            </a:r>
            <a:r>
              <a:rPr dirty="0" sz="8450" spc="-755"/>
              <a:t>y</a:t>
            </a:r>
            <a:r>
              <a:rPr dirty="0" sz="8450" spc="-815"/>
              <a:t>s</a:t>
            </a:r>
            <a:r>
              <a:rPr dirty="0" sz="8450" spc="-765"/>
              <a:t>e</a:t>
            </a:r>
            <a:r>
              <a:rPr dirty="0" sz="8450" spc="-195"/>
              <a:t>r</a:t>
            </a:r>
            <a:endParaRPr sz="8450"/>
          </a:p>
        </p:txBody>
      </p:sp>
      <p:sp>
        <p:nvSpPr>
          <p:cNvPr id="15" name="object 15" descr=""/>
          <p:cNvSpPr txBox="1"/>
          <p:nvPr/>
        </p:nvSpPr>
        <p:spPr>
          <a:xfrm>
            <a:off x="340182" y="1244763"/>
            <a:ext cx="7884795" cy="234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50" spc="-515">
                <a:solidFill>
                  <a:srgbClr val="171717"/>
                </a:solidFill>
                <a:latin typeface="Arial Black"/>
                <a:cs typeface="Arial Black"/>
              </a:rPr>
              <a:t>(</a:t>
            </a:r>
            <a:r>
              <a:rPr dirty="0" sz="8450" spc="-670">
                <a:solidFill>
                  <a:srgbClr val="171717"/>
                </a:solidFill>
                <a:latin typeface="Arial Black"/>
                <a:cs typeface="Arial Black"/>
              </a:rPr>
              <a:t>S</a:t>
            </a:r>
            <a:r>
              <a:rPr dirty="0" sz="8450" spc="-570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8450" spc="-580">
                <a:solidFill>
                  <a:srgbClr val="171717"/>
                </a:solidFill>
                <a:latin typeface="Arial Black"/>
                <a:cs typeface="Arial Black"/>
              </a:rPr>
              <a:t>r</a:t>
            </a:r>
            <a:r>
              <a:rPr dirty="0" sz="8450" spc="-615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dirty="0" sz="8450" spc="-625">
                <a:solidFill>
                  <a:srgbClr val="171717"/>
                </a:solidFill>
                <a:latin typeface="Arial Black"/>
                <a:cs typeface="Arial Black"/>
              </a:rPr>
              <a:t>a</a:t>
            </a:r>
            <a:r>
              <a:rPr dirty="0" sz="8450" spc="-590">
                <a:solidFill>
                  <a:srgbClr val="171717"/>
                </a:solidFill>
                <a:latin typeface="Arial Black"/>
                <a:cs typeface="Arial Black"/>
              </a:rPr>
              <a:t>m</a:t>
            </a:r>
            <a:r>
              <a:rPr dirty="0" sz="8450" spc="-650">
                <a:solidFill>
                  <a:srgbClr val="171717"/>
                </a:solidFill>
                <a:latin typeface="Arial Black"/>
                <a:cs typeface="Arial Black"/>
              </a:rPr>
              <a:t>li</a:t>
            </a:r>
            <a:r>
              <a:rPr dirty="0" sz="8450" spc="-45">
                <a:solidFill>
                  <a:srgbClr val="171717"/>
                </a:solidFill>
                <a:latin typeface="Arial Black"/>
                <a:cs typeface="Arial Black"/>
              </a:rPr>
              <a:t>t</a:t>
            </a:r>
            <a:r>
              <a:rPr dirty="0" sz="8450" spc="-191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dirty="0" sz="8450" spc="-340">
                <a:solidFill>
                  <a:srgbClr val="171717"/>
                </a:solidFill>
                <a:latin typeface="Arial Black"/>
                <a:cs typeface="Arial Black"/>
              </a:rPr>
              <a:t>A</a:t>
            </a:r>
            <a:r>
              <a:rPr dirty="0" sz="8450" spc="-270">
                <a:solidFill>
                  <a:srgbClr val="171717"/>
                </a:solidFill>
                <a:latin typeface="Arial Black"/>
                <a:cs typeface="Arial Black"/>
              </a:rPr>
              <a:t>pp</a:t>
            </a:r>
            <a:r>
              <a:rPr dirty="0" sz="8450" spc="254">
                <a:solidFill>
                  <a:srgbClr val="171717"/>
                </a:solidFill>
                <a:latin typeface="Arial Black"/>
                <a:cs typeface="Arial Black"/>
              </a:rPr>
              <a:t>)</a:t>
            </a:r>
            <a:endParaRPr sz="8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00"/>
              </a:spcBef>
            </a:pPr>
            <a:r>
              <a:rPr dirty="0" sz="4000" b="1">
                <a:solidFill>
                  <a:srgbClr val="171717"/>
                </a:solidFill>
                <a:latin typeface="Tahoma"/>
                <a:cs typeface="Tahoma"/>
              </a:rPr>
              <a:t>Key</a:t>
            </a:r>
            <a:r>
              <a:rPr dirty="0" sz="4000" spc="-29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171717"/>
                </a:solidFill>
                <a:latin typeface="Tahoma"/>
                <a:cs typeface="Tahoma"/>
              </a:rPr>
              <a:t>Features: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8963370"/>
            <a:ext cx="2629835" cy="132362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080" y="693218"/>
            <a:ext cx="8191499" cy="3552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5356" y="553343"/>
            <a:ext cx="7667624" cy="36956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878" y="5170584"/>
            <a:ext cx="7858124" cy="37528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95356" y="5197669"/>
            <a:ext cx="7667624" cy="37052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27" y="7640640"/>
            <a:ext cx="4676846" cy="26463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4641" y="7250270"/>
            <a:ext cx="5342030" cy="303672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60258" y="1961140"/>
            <a:ext cx="2427741" cy="50243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5288" y="148738"/>
            <a:ext cx="11005185" cy="2014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50" spc="-1515">
                <a:solidFill>
                  <a:srgbClr val="F1EDE9"/>
                </a:solidFill>
              </a:rPr>
              <a:t>K</a:t>
            </a:r>
            <a:r>
              <a:rPr dirty="0" sz="13050" spc="-1415">
                <a:solidFill>
                  <a:srgbClr val="F1EDE9"/>
                </a:solidFill>
              </a:rPr>
              <a:t>e</a:t>
            </a:r>
            <a:r>
              <a:rPr dirty="0" sz="13050" spc="-535">
                <a:solidFill>
                  <a:srgbClr val="F1EDE9"/>
                </a:solidFill>
              </a:rPr>
              <a:t>y</a:t>
            </a:r>
            <a:r>
              <a:rPr dirty="0" sz="13050" spc="-2975">
                <a:solidFill>
                  <a:srgbClr val="F1EDE9"/>
                </a:solidFill>
              </a:rPr>
              <a:t> </a:t>
            </a:r>
            <a:r>
              <a:rPr dirty="0" sz="13050" spc="-1305">
                <a:solidFill>
                  <a:srgbClr val="F1EDE9"/>
                </a:solidFill>
              </a:rPr>
              <a:t>L</a:t>
            </a:r>
            <a:r>
              <a:rPr dirty="0" sz="13050" spc="-1195">
                <a:solidFill>
                  <a:srgbClr val="F1EDE9"/>
                </a:solidFill>
              </a:rPr>
              <a:t>e</a:t>
            </a:r>
            <a:r>
              <a:rPr dirty="0" sz="13050" spc="-1210">
                <a:solidFill>
                  <a:srgbClr val="F1EDE9"/>
                </a:solidFill>
              </a:rPr>
              <a:t>a</a:t>
            </a:r>
            <a:r>
              <a:rPr dirty="0" sz="13050" spc="-1145">
                <a:solidFill>
                  <a:srgbClr val="F1EDE9"/>
                </a:solidFill>
              </a:rPr>
              <a:t>r</a:t>
            </a:r>
            <a:r>
              <a:rPr dirty="0" sz="13050" spc="-1175">
                <a:solidFill>
                  <a:srgbClr val="F1EDE9"/>
                </a:solidFill>
              </a:rPr>
              <a:t>n</a:t>
            </a:r>
            <a:r>
              <a:rPr dirty="0" sz="13050" spc="-1250">
                <a:solidFill>
                  <a:srgbClr val="F1EDE9"/>
                </a:solidFill>
              </a:rPr>
              <a:t>i</a:t>
            </a:r>
            <a:r>
              <a:rPr dirty="0" sz="13050" spc="-1175">
                <a:solidFill>
                  <a:srgbClr val="F1EDE9"/>
                </a:solidFill>
              </a:rPr>
              <a:t>n</a:t>
            </a:r>
            <a:r>
              <a:rPr dirty="0" sz="13050" spc="-1150">
                <a:solidFill>
                  <a:srgbClr val="F1EDE9"/>
                </a:solidFill>
              </a:rPr>
              <a:t>g</a:t>
            </a:r>
            <a:r>
              <a:rPr dirty="0" sz="13050" spc="-315">
                <a:solidFill>
                  <a:srgbClr val="F1EDE9"/>
                </a:solidFill>
              </a:rPr>
              <a:t>s</a:t>
            </a:r>
            <a:endParaRPr sz="13050"/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1363" y="3075304"/>
            <a:ext cx="114299" cy="1142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71259" y="2793351"/>
            <a:ext cx="633349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65">
                <a:solidFill>
                  <a:srgbClr val="F1EDE9"/>
                </a:solidFill>
                <a:latin typeface="Trebuchet MS"/>
                <a:cs typeface="Trebuchet MS"/>
              </a:rPr>
              <a:t>Applied</a:t>
            </a:r>
            <a:r>
              <a:rPr dirty="0" sz="29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-45" b="1">
                <a:solidFill>
                  <a:srgbClr val="F1EDE9"/>
                </a:solidFill>
                <a:latin typeface="Tahoma"/>
                <a:cs typeface="Tahoma"/>
              </a:rPr>
              <a:t>machine</a:t>
            </a:r>
            <a:r>
              <a:rPr dirty="0" sz="2900" spc="-16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60" b="1">
                <a:solidFill>
                  <a:srgbClr val="F1EDE9"/>
                </a:solidFill>
                <a:latin typeface="Tahoma"/>
                <a:cs typeface="Tahoma"/>
              </a:rPr>
              <a:t>learning</a:t>
            </a:r>
            <a:r>
              <a:rPr dirty="0" sz="2900" spc="-16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F1EDE9"/>
                </a:solidFill>
                <a:latin typeface="Tahoma"/>
                <a:cs typeface="Tahoma"/>
              </a:rPr>
              <a:t>concepts </a:t>
            </a:r>
            <a:r>
              <a:rPr dirty="0" sz="2900" spc="-60" b="1">
                <a:solidFill>
                  <a:srgbClr val="F1EDE9"/>
                </a:solidFill>
                <a:latin typeface="Tahoma"/>
                <a:cs typeface="Tahoma"/>
              </a:rPr>
              <a:t>to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F1EDE9"/>
                </a:solidFill>
                <a:latin typeface="Tahoma"/>
                <a:cs typeface="Tahoma"/>
              </a:rPr>
              <a:t>real-</a:t>
            </a:r>
            <a:r>
              <a:rPr dirty="0" sz="2900" spc="-65" b="1">
                <a:solidFill>
                  <a:srgbClr val="F1EDE9"/>
                </a:solidFill>
                <a:latin typeface="Tahoma"/>
                <a:cs typeface="Tahoma"/>
              </a:rPr>
              <a:t>world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85" b="1">
                <a:solidFill>
                  <a:srgbClr val="F1EDE9"/>
                </a:solidFill>
                <a:latin typeface="Tahoma"/>
                <a:cs typeface="Tahoma"/>
              </a:rPr>
              <a:t>NIFTY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70" b="1">
                <a:solidFill>
                  <a:srgbClr val="F1EDE9"/>
                </a:solidFill>
                <a:latin typeface="Tahoma"/>
                <a:cs typeface="Tahoma"/>
              </a:rPr>
              <a:t>50</a:t>
            </a:r>
            <a:r>
              <a:rPr dirty="0" sz="2900" spc="-15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F1EDE9"/>
                </a:solidFill>
                <a:latin typeface="Tahoma"/>
                <a:cs typeface="Tahoma"/>
              </a:rPr>
              <a:t>financial </a:t>
            </a:r>
            <a:r>
              <a:rPr dirty="0" sz="2900">
                <a:solidFill>
                  <a:srgbClr val="F1EDE9"/>
                </a:solidFill>
                <a:latin typeface="Trebuchet MS"/>
                <a:cs typeface="Trebuchet MS"/>
              </a:rPr>
              <a:t>data,</a:t>
            </a:r>
            <a:r>
              <a:rPr dirty="0" sz="29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90">
                <a:solidFill>
                  <a:srgbClr val="F1EDE9"/>
                </a:solidFill>
                <a:latin typeface="Trebuchet MS"/>
                <a:cs typeface="Trebuchet MS"/>
              </a:rPr>
              <a:t>bridging</a:t>
            </a:r>
            <a:r>
              <a:rPr dirty="0" sz="2900" spc="-5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65">
                <a:solidFill>
                  <a:srgbClr val="F1EDE9"/>
                </a:solidFill>
                <a:latin typeface="Trebuchet MS"/>
                <a:cs typeface="Trebuchet MS"/>
              </a:rPr>
              <a:t>theory</a:t>
            </a:r>
            <a:r>
              <a:rPr dirty="0" sz="29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F1EDE9"/>
                </a:solidFill>
                <a:latin typeface="Trebuchet MS"/>
                <a:cs typeface="Trebuchet MS"/>
              </a:rPr>
              <a:t>with</a:t>
            </a:r>
            <a:r>
              <a:rPr dirty="0" sz="29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F1EDE9"/>
                </a:solidFill>
                <a:latin typeface="Trebuchet MS"/>
                <a:cs typeface="Trebuchet MS"/>
              </a:rPr>
              <a:t>practical </a:t>
            </a:r>
            <a:r>
              <a:rPr dirty="0" sz="2900">
                <a:solidFill>
                  <a:srgbClr val="F1EDE9"/>
                </a:solidFill>
                <a:latin typeface="Trebuchet MS"/>
                <a:cs typeface="Trebuchet MS"/>
              </a:rPr>
              <a:t>market</a:t>
            </a:r>
            <a:r>
              <a:rPr dirty="0" sz="2900" spc="18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45">
                <a:solidFill>
                  <a:srgbClr val="F1EDE9"/>
                </a:solidFill>
                <a:latin typeface="Trebuchet MS"/>
                <a:cs typeface="Trebuchet MS"/>
              </a:rPr>
              <a:t>insights.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77374" y="2886214"/>
            <a:ext cx="114299" cy="1142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757270" y="2604261"/>
            <a:ext cx="6280785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100">
                <a:solidFill>
                  <a:srgbClr val="F1EDE9"/>
                </a:solidFill>
                <a:latin typeface="Trebuchet MS"/>
                <a:cs typeface="Trebuchet MS"/>
              </a:rPr>
              <a:t>Strengthened</a:t>
            </a:r>
            <a:r>
              <a:rPr dirty="0" sz="29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95">
                <a:solidFill>
                  <a:srgbClr val="F1EDE9"/>
                </a:solidFill>
                <a:latin typeface="Trebuchet MS"/>
                <a:cs typeface="Trebuchet MS"/>
              </a:rPr>
              <a:t>understanding</a:t>
            </a:r>
            <a:r>
              <a:rPr dirty="0" sz="29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40">
                <a:solidFill>
                  <a:srgbClr val="F1EDE9"/>
                </a:solidFill>
                <a:latin typeface="Trebuchet MS"/>
                <a:cs typeface="Trebuchet MS"/>
              </a:rPr>
              <a:t>of </a:t>
            </a:r>
            <a:r>
              <a:rPr dirty="0" sz="2900" spc="-75" b="1">
                <a:solidFill>
                  <a:srgbClr val="F1EDE9"/>
                </a:solidFill>
                <a:latin typeface="Tahoma"/>
                <a:cs typeface="Tahoma"/>
              </a:rPr>
              <a:t>risk–return</a:t>
            </a:r>
            <a:r>
              <a:rPr dirty="0" sz="2900" spc="-18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50" b="1">
                <a:solidFill>
                  <a:srgbClr val="F1EDE9"/>
                </a:solidFill>
                <a:latin typeface="Tahoma"/>
                <a:cs typeface="Tahoma"/>
              </a:rPr>
              <a:t>optimization</a:t>
            </a:r>
            <a:r>
              <a:rPr dirty="0" sz="2900" spc="-60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120">
                <a:solidFill>
                  <a:srgbClr val="F1EDE9"/>
                </a:solidFill>
                <a:latin typeface="Trebuchet MS"/>
                <a:cs typeface="Trebuchet MS"/>
              </a:rPr>
              <a:t>and</a:t>
            </a:r>
            <a:r>
              <a:rPr dirty="0" sz="2900" spc="-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120">
                <a:solidFill>
                  <a:srgbClr val="F1EDE9"/>
                </a:solidFill>
                <a:latin typeface="Trebuchet MS"/>
                <a:cs typeface="Trebuchet MS"/>
              </a:rPr>
              <a:t>how </a:t>
            </a:r>
            <a:r>
              <a:rPr dirty="0" sz="2900" spc="65">
                <a:solidFill>
                  <a:srgbClr val="F1EDE9"/>
                </a:solidFill>
                <a:latin typeface="Trebuchet MS"/>
                <a:cs typeface="Trebuchet MS"/>
              </a:rPr>
              <a:t>model</a:t>
            </a:r>
            <a:r>
              <a:rPr dirty="0" sz="2900" spc="-4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55">
                <a:solidFill>
                  <a:srgbClr val="F1EDE9"/>
                </a:solidFill>
                <a:latin typeface="Trebuchet MS"/>
                <a:cs typeface="Trebuchet MS"/>
              </a:rPr>
              <a:t>selection</a:t>
            </a:r>
            <a:r>
              <a:rPr dirty="0" sz="29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80">
                <a:solidFill>
                  <a:srgbClr val="F1EDE9"/>
                </a:solidFill>
                <a:latin typeface="Trebuchet MS"/>
                <a:cs typeface="Trebuchet MS"/>
              </a:rPr>
              <a:t>impacts</a:t>
            </a:r>
            <a:r>
              <a:rPr dirty="0" sz="2900" spc="-3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50">
                <a:solidFill>
                  <a:srgbClr val="F1EDE9"/>
                </a:solidFill>
                <a:latin typeface="Trebuchet MS"/>
                <a:cs typeface="Trebuchet MS"/>
              </a:rPr>
              <a:t>investment </a:t>
            </a:r>
            <a:r>
              <a:rPr dirty="0" sz="2900" spc="70">
                <a:solidFill>
                  <a:srgbClr val="F1EDE9"/>
                </a:solidFill>
                <a:latin typeface="Trebuchet MS"/>
                <a:cs typeface="Trebuchet MS"/>
              </a:rPr>
              <a:t>outcomes.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8905" y="6221094"/>
            <a:ext cx="114299" cy="1142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688801" y="5939142"/>
            <a:ext cx="5992495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-30" b="1">
                <a:solidFill>
                  <a:srgbClr val="F1EDE9"/>
                </a:solidFill>
                <a:latin typeface="Tahoma"/>
                <a:cs typeface="Tahoma"/>
              </a:rPr>
              <a:t>Developed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60" b="1">
                <a:solidFill>
                  <a:srgbClr val="F1EDE9"/>
                </a:solidFill>
                <a:latin typeface="Tahoma"/>
                <a:cs typeface="Tahoma"/>
              </a:rPr>
              <a:t>and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F1EDE9"/>
                </a:solidFill>
                <a:latin typeface="Tahoma"/>
                <a:cs typeface="Tahoma"/>
              </a:rPr>
              <a:t>deployed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80" b="1">
                <a:solidFill>
                  <a:srgbClr val="F1EDE9"/>
                </a:solidFill>
                <a:latin typeface="Tahoma"/>
                <a:cs typeface="Tahoma"/>
              </a:rPr>
              <a:t>an</a:t>
            </a:r>
            <a:r>
              <a:rPr dirty="0" sz="2900" spc="-15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F1EDE9"/>
                </a:solidFill>
                <a:latin typeface="Tahoma"/>
                <a:cs typeface="Tahoma"/>
              </a:rPr>
              <a:t>end- </a:t>
            </a:r>
            <a:r>
              <a:rPr dirty="0" sz="2900" spc="-10" b="1">
                <a:solidFill>
                  <a:srgbClr val="F1EDE9"/>
                </a:solidFill>
                <a:latin typeface="Tahoma"/>
                <a:cs typeface="Tahoma"/>
              </a:rPr>
              <a:t>to-</a:t>
            </a:r>
            <a:r>
              <a:rPr dirty="0" sz="2900" spc="-35" b="1">
                <a:solidFill>
                  <a:srgbClr val="F1EDE9"/>
                </a:solidFill>
                <a:latin typeface="Tahoma"/>
                <a:cs typeface="Tahoma"/>
              </a:rPr>
              <a:t>end</a:t>
            </a:r>
            <a:r>
              <a:rPr dirty="0" sz="2900" spc="-14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F1EDE9"/>
                </a:solidFill>
                <a:latin typeface="Tahoma"/>
                <a:cs typeface="Tahoma"/>
              </a:rPr>
              <a:t>ML</a:t>
            </a:r>
            <a:r>
              <a:rPr dirty="0" sz="2900" spc="-14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F1EDE9"/>
                </a:solidFill>
                <a:latin typeface="Tahoma"/>
                <a:cs typeface="Tahoma"/>
              </a:rPr>
              <a:t>dashboard</a:t>
            </a:r>
            <a:r>
              <a:rPr dirty="0" sz="2900" spc="-145" b="1">
                <a:solidFill>
                  <a:srgbClr val="F1EDE9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F1EDE9"/>
                </a:solidFill>
                <a:latin typeface="Tahoma"/>
                <a:cs typeface="Tahoma"/>
              </a:rPr>
              <a:t>using </a:t>
            </a:r>
            <a:r>
              <a:rPr dirty="0" sz="2900" spc="-75" b="1">
                <a:solidFill>
                  <a:srgbClr val="F1EDE9"/>
                </a:solidFill>
                <a:latin typeface="Tahoma"/>
                <a:cs typeface="Tahoma"/>
              </a:rPr>
              <a:t>Streamlit</a:t>
            </a:r>
            <a:r>
              <a:rPr dirty="0" sz="2900" spc="-75">
                <a:solidFill>
                  <a:srgbClr val="F1EDE9"/>
                </a:solidFill>
                <a:latin typeface="Trebuchet MS"/>
                <a:cs typeface="Trebuchet MS"/>
              </a:rPr>
              <a:t>,</a:t>
            </a:r>
            <a:r>
              <a:rPr dirty="0" sz="2900" spc="7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F1EDE9"/>
                </a:solidFill>
                <a:latin typeface="Trebuchet MS"/>
                <a:cs typeface="Trebuchet MS"/>
              </a:rPr>
              <a:t>translating</a:t>
            </a:r>
            <a:r>
              <a:rPr dirty="0" sz="2900" spc="8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100">
                <a:solidFill>
                  <a:srgbClr val="F1EDE9"/>
                </a:solidFill>
                <a:latin typeface="Trebuchet MS"/>
                <a:cs typeface="Trebuchet MS"/>
              </a:rPr>
              <a:t>analysis</a:t>
            </a:r>
            <a:r>
              <a:rPr dirty="0" sz="2900" spc="80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-20">
                <a:solidFill>
                  <a:srgbClr val="F1EDE9"/>
                </a:solidFill>
                <a:latin typeface="Trebuchet MS"/>
                <a:cs typeface="Trebuchet MS"/>
              </a:rPr>
              <a:t>into </a:t>
            </a:r>
            <a:r>
              <a:rPr dirty="0" sz="2900" spc="45">
                <a:solidFill>
                  <a:srgbClr val="F1EDE9"/>
                </a:solidFill>
                <a:latin typeface="Trebuchet MS"/>
                <a:cs typeface="Trebuchet MS"/>
              </a:rPr>
              <a:t>actionable</a:t>
            </a:r>
            <a:r>
              <a:rPr dirty="0" sz="2900" spc="-45">
                <a:solidFill>
                  <a:srgbClr val="F1EDE9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F1EDE9"/>
                </a:solidFill>
                <a:latin typeface="Trebuchet MS"/>
                <a:cs typeface="Trebuchet MS"/>
              </a:rPr>
              <a:t>predictions.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288" y="148738"/>
            <a:ext cx="8903335" cy="2014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50" spc="-1000"/>
              <a:t>C</a:t>
            </a:r>
            <a:r>
              <a:rPr dirty="0" sz="13050" spc="-1019"/>
              <a:t>o</a:t>
            </a:r>
            <a:r>
              <a:rPr dirty="0" sz="13050" spc="-1030"/>
              <a:t>n</a:t>
            </a:r>
            <a:r>
              <a:rPr dirty="0" sz="13050" spc="-1050"/>
              <a:t>c</a:t>
            </a:r>
            <a:r>
              <a:rPr dirty="0" sz="13050" spc="-1105"/>
              <a:t>l</a:t>
            </a:r>
            <a:r>
              <a:rPr dirty="0" sz="13050" spc="-1030"/>
              <a:t>u</a:t>
            </a:r>
            <a:r>
              <a:rPr dirty="0" sz="13050" spc="-1130"/>
              <a:t>s</a:t>
            </a:r>
            <a:r>
              <a:rPr dirty="0" sz="13050" spc="-1105"/>
              <a:t>i</a:t>
            </a:r>
            <a:r>
              <a:rPr dirty="0" sz="13050" spc="-1019"/>
              <a:t>o</a:t>
            </a:r>
            <a:r>
              <a:rPr dirty="0" sz="13050" spc="-170"/>
              <a:t>n</a:t>
            </a:r>
            <a:endParaRPr sz="13050"/>
          </a:p>
        </p:txBody>
      </p:sp>
      <p:sp>
        <p:nvSpPr>
          <p:cNvPr id="3" name="object 3" descr=""/>
          <p:cNvSpPr txBox="1"/>
          <p:nvPr/>
        </p:nvSpPr>
        <p:spPr>
          <a:xfrm>
            <a:off x="9448005" y="2307567"/>
            <a:ext cx="268732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190">
                <a:solidFill>
                  <a:srgbClr val="171717"/>
                </a:solidFill>
                <a:latin typeface="Arial Black"/>
                <a:cs typeface="Arial Black"/>
              </a:rPr>
              <a:t>Future</a:t>
            </a:r>
            <a:r>
              <a:rPr dirty="0" sz="3100" spc="-26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dirty="0" sz="3100" spc="-200">
                <a:solidFill>
                  <a:srgbClr val="171717"/>
                </a:solidFill>
                <a:latin typeface="Arial Black"/>
                <a:cs typeface="Arial Black"/>
              </a:rPr>
              <a:t>Scope:</a:t>
            </a:r>
            <a:endParaRPr sz="3100">
              <a:latin typeface="Arial Black"/>
              <a:cs typeface="Arial Black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496424" y="3599761"/>
            <a:ext cx="123825" cy="2181225"/>
            <a:chOff x="9496424" y="3599761"/>
            <a:chExt cx="123825" cy="21812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6424" y="3599761"/>
              <a:ext cx="123824" cy="1238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6424" y="4628461"/>
              <a:ext cx="123824" cy="1238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6424" y="5657161"/>
              <a:ext cx="123824" cy="12382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795370" y="3327332"/>
            <a:ext cx="6784340" cy="311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2895">
              <a:lnSpc>
                <a:spcPct val="116399"/>
              </a:lnSpc>
              <a:spcBef>
                <a:spcPts val="100"/>
              </a:spcBef>
            </a:pPr>
            <a:r>
              <a:rPr dirty="0" sz="2900" spc="-114">
                <a:solidFill>
                  <a:srgbClr val="171717"/>
                </a:solidFill>
                <a:latin typeface="Verdana"/>
                <a:cs typeface="Verdana"/>
              </a:rPr>
              <a:t>Integrate</a:t>
            </a:r>
            <a:r>
              <a:rPr dirty="0" sz="2900" spc="-27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110">
                <a:solidFill>
                  <a:srgbClr val="171717"/>
                </a:solidFill>
                <a:latin typeface="Verdana"/>
                <a:cs typeface="Verdana"/>
              </a:rPr>
              <a:t>real-</a:t>
            </a:r>
            <a:r>
              <a:rPr dirty="0" sz="2900" spc="-60">
                <a:solidFill>
                  <a:srgbClr val="171717"/>
                </a:solidFill>
                <a:latin typeface="Verdana"/>
                <a:cs typeface="Verdana"/>
              </a:rPr>
              <a:t>time</a:t>
            </a:r>
            <a:r>
              <a:rPr dirty="0" sz="2900" spc="-27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120">
                <a:solidFill>
                  <a:srgbClr val="171717"/>
                </a:solidFill>
                <a:latin typeface="Verdana"/>
                <a:cs typeface="Verdana"/>
              </a:rPr>
              <a:t>market</a:t>
            </a:r>
            <a:r>
              <a:rPr dirty="0" sz="2900" spc="-27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25">
                <a:solidFill>
                  <a:srgbClr val="171717"/>
                </a:solidFill>
                <a:latin typeface="Verdana"/>
                <a:cs typeface="Verdana"/>
              </a:rPr>
              <a:t>and </a:t>
            </a:r>
            <a:r>
              <a:rPr dirty="0" sz="2900" spc="-60">
                <a:solidFill>
                  <a:srgbClr val="171717"/>
                </a:solidFill>
                <a:latin typeface="Verdana"/>
                <a:cs typeface="Verdana"/>
              </a:rPr>
              <a:t>sentiment</a:t>
            </a:r>
            <a:r>
              <a:rPr dirty="0" sz="2900" spc="-27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65">
                <a:solidFill>
                  <a:srgbClr val="171717"/>
                </a:solidFill>
                <a:latin typeface="Verdana"/>
                <a:cs typeface="Verdana"/>
              </a:rPr>
              <a:t>data</a:t>
            </a:r>
            <a:r>
              <a:rPr dirty="0" sz="2900" spc="-27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171717"/>
                </a:solidFill>
                <a:latin typeface="Verdana"/>
                <a:cs typeface="Verdana"/>
              </a:rPr>
              <a:t>for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60">
                <a:solidFill>
                  <a:srgbClr val="171717"/>
                </a:solidFill>
                <a:latin typeface="Verdana"/>
                <a:cs typeface="Verdana"/>
              </a:rPr>
              <a:t>dynamic</a:t>
            </a:r>
            <a:r>
              <a:rPr dirty="0" sz="2900" spc="-27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65">
                <a:solidFill>
                  <a:srgbClr val="171717"/>
                </a:solidFill>
                <a:latin typeface="Verdana"/>
                <a:cs typeface="Verdana"/>
              </a:rPr>
              <a:t>insights. </a:t>
            </a:r>
            <a:r>
              <a:rPr dirty="0" sz="2900" spc="-60">
                <a:solidFill>
                  <a:srgbClr val="171717"/>
                </a:solidFill>
                <a:latin typeface="Verdana"/>
                <a:cs typeface="Verdana"/>
              </a:rPr>
              <a:t>Use</a:t>
            </a:r>
            <a:r>
              <a:rPr dirty="0" sz="2900" spc="-24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55">
                <a:solidFill>
                  <a:srgbClr val="171717"/>
                </a:solidFill>
                <a:latin typeface="Verdana"/>
                <a:cs typeface="Verdana"/>
              </a:rPr>
              <a:t>Reinforcement</a:t>
            </a:r>
            <a:r>
              <a:rPr dirty="0" sz="2900" spc="-24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85">
                <a:solidFill>
                  <a:srgbClr val="171717"/>
                </a:solidFill>
                <a:latin typeface="Verdana"/>
                <a:cs typeface="Verdana"/>
              </a:rPr>
              <a:t>Learning</a:t>
            </a:r>
            <a:r>
              <a:rPr dirty="0" sz="2900" spc="-24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25">
                <a:solidFill>
                  <a:srgbClr val="171717"/>
                </a:solidFill>
                <a:latin typeface="Verdana"/>
                <a:cs typeface="Verdana"/>
              </a:rPr>
              <a:t>for </a:t>
            </a:r>
            <a:r>
              <a:rPr dirty="0" sz="2900">
                <a:solidFill>
                  <a:srgbClr val="171717"/>
                </a:solidFill>
                <a:latin typeface="Verdana"/>
                <a:cs typeface="Verdana"/>
              </a:rPr>
              <a:t>portfolio</a:t>
            </a:r>
            <a:r>
              <a:rPr dirty="0" sz="2900" spc="-17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171717"/>
                </a:solidFill>
                <a:latin typeface="Verdana"/>
                <a:cs typeface="Verdana"/>
              </a:rPr>
              <a:t>rebalancing.</a:t>
            </a:r>
            <a:endParaRPr sz="2900">
              <a:latin typeface="Verdana"/>
              <a:cs typeface="Verdana"/>
            </a:endParaRPr>
          </a:p>
          <a:p>
            <a:pPr marL="12700" marR="5080">
              <a:lnSpc>
                <a:spcPct val="116399"/>
              </a:lnSpc>
            </a:pPr>
            <a:r>
              <a:rPr dirty="0" sz="2900" spc="-90">
                <a:solidFill>
                  <a:srgbClr val="171717"/>
                </a:solidFill>
                <a:latin typeface="Verdana"/>
                <a:cs typeface="Verdana"/>
              </a:rPr>
              <a:t>Expand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80">
                <a:solidFill>
                  <a:srgbClr val="171717"/>
                </a:solidFill>
                <a:latin typeface="Verdana"/>
                <a:cs typeface="Verdana"/>
              </a:rPr>
              <a:t>analysis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171717"/>
                </a:solidFill>
                <a:latin typeface="Verdana"/>
                <a:cs typeface="Verdana"/>
              </a:rPr>
              <a:t>to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30">
                <a:solidFill>
                  <a:srgbClr val="171717"/>
                </a:solidFill>
                <a:latin typeface="Verdana"/>
                <a:cs typeface="Verdana"/>
              </a:rPr>
              <a:t>sectoral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65">
                <a:solidFill>
                  <a:srgbClr val="171717"/>
                </a:solidFill>
                <a:latin typeface="Verdana"/>
                <a:cs typeface="Verdana"/>
              </a:rPr>
              <a:t>and</a:t>
            </a:r>
            <a:r>
              <a:rPr dirty="0" sz="2900" spc="-265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171717"/>
                </a:solidFill>
                <a:latin typeface="Verdana"/>
                <a:cs typeface="Verdana"/>
              </a:rPr>
              <a:t>global portfolios.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1363" y="2818129"/>
            <a:ext cx="114299" cy="1142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71259" y="2536176"/>
            <a:ext cx="6367145" cy="156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365">
                <a:solidFill>
                  <a:srgbClr val="171717"/>
                </a:solidFill>
                <a:latin typeface="Trebuchet MS"/>
                <a:cs typeface="Trebuchet MS"/>
              </a:rPr>
              <a:t>ML</a:t>
            </a:r>
            <a:r>
              <a:rPr dirty="0" sz="2900" spc="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effectively</a:t>
            </a:r>
            <a:r>
              <a:rPr dirty="0" sz="2900" spc="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-55" b="1">
                <a:solidFill>
                  <a:srgbClr val="171717"/>
                </a:solidFill>
                <a:latin typeface="Tahoma"/>
                <a:cs typeface="Tahoma"/>
              </a:rPr>
              <a:t>quantified</a:t>
            </a:r>
            <a:r>
              <a:rPr dirty="0" sz="2900" spc="-10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171717"/>
                </a:solidFill>
                <a:latin typeface="Tahoma"/>
                <a:cs typeface="Tahoma"/>
              </a:rPr>
              <a:t>risk</a:t>
            </a:r>
            <a:r>
              <a:rPr dirty="0" sz="2900" spc="-10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171717"/>
                </a:solidFill>
                <a:latin typeface="Tahoma"/>
                <a:cs typeface="Tahoma"/>
              </a:rPr>
              <a:t>levels </a:t>
            </a:r>
            <a:r>
              <a:rPr dirty="0" sz="2900" spc="-60" b="1">
                <a:solidFill>
                  <a:srgbClr val="171717"/>
                </a:solidFill>
                <a:latin typeface="Tahoma"/>
                <a:cs typeface="Tahoma"/>
              </a:rPr>
              <a:t>and</a:t>
            </a:r>
            <a:r>
              <a:rPr dirty="0" sz="2900" spc="-17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171717"/>
                </a:solidFill>
                <a:latin typeface="Tahoma"/>
                <a:cs typeface="Tahoma"/>
              </a:rPr>
              <a:t>expected</a:t>
            </a:r>
            <a:r>
              <a:rPr dirty="0" sz="2900" spc="-16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171717"/>
                </a:solidFill>
                <a:latin typeface="Tahoma"/>
                <a:cs typeface="Tahoma"/>
              </a:rPr>
              <a:t>returns</a:t>
            </a:r>
            <a:r>
              <a:rPr dirty="0" sz="2900" spc="-2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2900" spc="-4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170">
                <a:solidFill>
                  <a:srgbClr val="171717"/>
                </a:solidFill>
                <a:latin typeface="Trebuchet MS"/>
                <a:cs typeface="Trebuchet MS"/>
              </a:rPr>
              <a:t>NIFTY</a:t>
            </a:r>
            <a:r>
              <a:rPr dirty="0" sz="2900" spc="-4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220">
                <a:solidFill>
                  <a:srgbClr val="171717"/>
                </a:solidFill>
                <a:latin typeface="Trebuchet MS"/>
                <a:cs typeface="Trebuchet MS"/>
              </a:rPr>
              <a:t>50 </a:t>
            </a:r>
            <a:r>
              <a:rPr dirty="0" sz="2900" spc="90">
                <a:solidFill>
                  <a:srgbClr val="171717"/>
                </a:solidFill>
                <a:latin typeface="Trebuchet MS"/>
                <a:cs typeface="Trebuchet MS"/>
              </a:rPr>
              <a:t>stocks.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1363" y="7021210"/>
            <a:ext cx="114299" cy="1142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371259" y="6739258"/>
            <a:ext cx="624713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-105" b="1">
                <a:solidFill>
                  <a:srgbClr val="171717"/>
                </a:solidFill>
                <a:latin typeface="Tahoma"/>
                <a:cs typeface="Tahoma"/>
              </a:rPr>
              <a:t>Random</a:t>
            </a:r>
            <a:r>
              <a:rPr dirty="0" sz="2900" spc="-11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171717"/>
                </a:solidFill>
                <a:latin typeface="Tahoma"/>
                <a:cs typeface="Tahoma"/>
              </a:rPr>
              <a:t>Forest</a:t>
            </a:r>
            <a:r>
              <a:rPr dirty="0" sz="2900" spc="-17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30" b="1">
                <a:solidFill>
                  <a:srgbClr val="171717"/>
                </a:solidFill>
                <a:latin typeface="Tahoma"/>
                <a:cs typeface="Tahoma"/>
              </a:rPr>
              <a:t>delivered</a:t>
            </a:r>
            <a:r>
              <a:rPr dirty="0" sz="2900" spc="-14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60" b="1">
                <a:solidFill>
                  <a:srgbClr val="171717"/>
                </a:solidFill>
                <a:latin typeface="Tahoma"/>
                <a:cs typeface="Tahoma"/>
              </a:rPr>
              <a:t>the</a:t>
            </a:r>
            <a:r>
              <a:rPr dirty="0" sz="2900" spc="-14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20" b="1">
                <a:solidFill>
                  <a:srgbClr val="171717"/>
                </a:solidFill>
                <a:latin typeface="Tahoma"/>
                <a:cs typeface="Tahoma"/>
              </a:rPr>
              <a:t>best </a:t>
            </a:r>
            <a:r>
              <a:rPr dirty="0" sz="2900" spc="-25" b="1">
                <a:solidFill>
                  <a:srgbClr val="171717"/>
                </a:solidFill>
                <a:latin typeface="Tahoma"/>
                <a:cs typeface="Tahoma"/>
              </a:rPr>
              <a:t>performance</a:t>
            </a:r>
            <a:r>
              <a:rPr dirty="0" sz="2900" spc="-15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140" b="1">
                <a:solidFill>
                  <a:srgbClr val="171717"/>
                </a:solidFill>
                <a:latin typeface="Tahoma"/>
                <a:cs typeface="Tahoma"/>
              </a:rPr>
              <a:t>in</a:t>
            </a:r>
            <a:r>
              <a:rPr dirty="0" sz="2900" spc="-7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55" b="1">
                <a:solidFill>
                  <a:srgbClr val="171717"/>
                </a:solidFill>
                <a:latin typeface="Tahoma"/>
                <a:cs typeface="Tahoma"/>
              </a:rPr>
              <a:t>both</a:t>
            </a:r>
            <a:r>
              <a:rPr dirty="0" sz="2900" spc="-110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-10" b="1">
                <a:solidFill>
                  <a:srgbClr val="171717"/>
                </a:solidFill>
                <a:latin typeface="Tahoma"/>
                <a:cs typeface="Tahoma"/>
              </a:rPr>
              <a:t>classification </a:t>
            </a:r>
            <a:r>
              <a:rPr dirty="0" sz="2900" spc="-70" b="1">
                <a:solidFill>
                  <a:srgbClr val="171717"/>
                </a:solidFill>
                <a:latin typeface="Tahoma"/>
                <a:cs typeface="Tahoma"/>
              </a:rPr>
              <a:t>and</a:t>
            </a:r>
            <a:r>
              <a:rPr dirty="0" sz="2900" spc="-14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171717"/>
                </a:solidFill>
                <a:latin typeface="Tahoma"/>
                <a:cs typeface="Tahoma"/>
              </a:rPr>
              <a:t>regression,</a:t>
            </a:r>
            <a:r>
              <a:rPr dirty="0" sz="2900" spc="-9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spc="100">
                <a:solidFill>
                  <a:srgbClr val="171717"/>
                </a:solidFill>
                <a:latin typeface="Trebuchet MS"/>
                <a:cs typeface="Trebuchet MS"/>
              </a:rPr>
              <a:t>proving</a:t>
            </a:r>
            <a:r>
              <a:rPr dirty="0" sz="2900" spc="-7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reliable</a:t>
            </a:r>
            <a:r>
              <a:rPr dirty="0" sz="2900" spc="-7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-25">
                <a:solidFill>
                  <a:srgbClr val="171717"/>
                </a:solidFill>
                <a:latin typeface="Trebuchet MS"/>
                <a:cs typeface="Trebuchet MS"/>
              </a:rPr>
              <a:t>for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financial</a:t>
            </a:r>
            <a:r>
              <a:rPr dirty="0" sz="2900" spc="16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prediction</a:t>
            </a:r>
            <a:r>
              <a:rPr dirty="0" sz="2900" spc="17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70">
                <a:solidFill>
                  <a:srgbClr val="171717"/>
                </a:solidFill>
                <a:latin typeface="Trebuchet MS"/>
                <a:cs typeface="Trebuchet MS"/>
              </a:rPr>
              <a:t>tasks.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1363" y="4823752"/>
            <a:ext cx="114299" cy="1142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371259" y="4541799"/>
            <a:ext cx="6002020" cy="156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Portfolio</a:t>
            </a:r>
            <a:r>
              <a:rPr dirty="0" sz="290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75">
                <a:solidFill>
                  <a:srgbClr val="171717"/>
                </a:solidFill>
                <a:latin typeface="Trebuchet MS"/>
                <a:cs typeface="Trebuchet MS"/>
              </a:rPr>
              <a:t>results</a:t>
            </a:r>
            <a:r>
              <a:rPr dirty="0" sz="290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55">
                <a:solidFill>
                  <a:srgbClr val="171717"/>
                </a:solidFill>
                <a:latin typeface="Trebuchet MS"/>
                <a:cs typeface="Trebuchet MS"/>
              </a:rPr>
              <a:t>highlighted</a:t>
            </a:r>
            <a:r>
              <a:rPr dirty="0" sz="2900" spc="2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171717"/>
                </a:solidFill>
                <a:latin typeface="Trebuchet MS"/>
                <a:cs typeface="Trebuchet MS"/>
              </a:rPr>
              <a:t>clear </a:t>
            </a:r>
            <a:r>
              <a:rPr dirty="0" sz="2900" spc="-75" b="1">
                <a:solidFill>
                  <a:srgbClr val="171717"/>
                </a:solidFill>
                <a:latin typeface="Tahoma"/>
                <a:cs typeface="Tahoma"/>
              </a:rPr>
              <a:t>risk–return</a:t>
            </a:r>
            <a:r>
              <a:rPr dirty="0" sz="2900" spc="-16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 b="1">
                <a:solidFill>
                  <a:srgbClr val="171717"/>
                </a:solidFill>
                <a:latin typeface="Tahoma"/>
                <a:cs typeface="Tahoma"/>
              </a:rPr>
              <a:t>tradeoffs</a:t>
            </a:r>
            <a:r>
              <a:rPr dirty="0" sz="2900" spc="-15" b="1">
                <a:solidFill>
                  <a:srgbClr val="171717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171717"/>
                </a:solidFill>
                <a:latin typeface="Trebuchet MS"/>
                <a:cs typeface="Trebuchet MS"/>
              </a:rPr>
              <a:t>for</a:t>
            </a:r>
            <a:r>
              <a:rPr dirty="0" sz="29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171717"/>
                </a:solidFill>
                <a:latin typeface="Trebuchet MS"/>
                <a:cs typeface="Trebuchet MS"/>
              </a:rPr>
              <a:t>different </a:t>
            </a:r>
            <a:r>
              <a:rPr dirty="0" sz="2900" spc="70">
                <a:solidFill>
                  <a:srgbClr val="171717"/>
                </a:solidFill>
                <a:latin typeface="Trebuchet MS"/>
                <a:cs typeface="Trebuchet MS"/>
              </a:rPr>
              <a:t>investor</a:t>
            </a:r>
            <a:r>
              <a:rPr dirty="0" sz="2900" spc="-35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dirty="0" sz="2900" spc="50">
                <a:solidFill>
                  <a:srgbClr val="171717"/>
                </a:solidFill>
                <a:latin typeface="Trebuchet MS"/>
                <a:cs typeface="Trebuchet MS"/>
              </a:rPr>
              <a:t>types.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945" y="4917417"/>
            <a:ext cx="16475075" cy="39776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900" spc="-2595">
                <a:solidFill>
                  <a:srgbClr val="F5F2F5"/>
                </a:solidFill>
              </a:rPr>
              <a:t>T</a:t>
            </a:r>
            <a:r>
              <a:rPr dirty="0" sz="25900" spc="-2445">
                <a:solidFill>
                  <a:srgbClr val="F5F2F5"/>
                </a:solidFill>
              </a:rPr>
              <a:t>h</a:t>
            </a:r>
            <a:r>
              <a:rPr dirty="0" sz="25900" spc="-2515">
                <a:solidFill>
                  <a:srgbClr val="F5F2F5"/>
                </a:solidFill>
              </a:rPr>
              <a:t>a</a:t>
            </a:r>
            <a:r>
              <a:rPr dirty="0" sz="25900" spc="-2445">
                <a:solidFill>
                  <a:srgbClr val="F5F2F5"/>
                </a:solidFill>
              </a:rPr>
              <a:t>n</a:t>
            </a:r>
            <a:r>
              <a:rPr dirty="0" sz="25900" spc="-735">
                <a:solidFill>
                  <a:srgbClr val="F5F2F5"/>
                </a:solidFill>
              </a:rPr>
              <a:t>k</a:t>
            </a:r>
            <a:r>
              <a:rPr dirty="0" sz="25900" spc="-5875">
                <a:solidFill>
                  <a:srgbClr val="F5F2F5"/>
                </a:solidFill>
              </a:rPr>
              <a:t> </a:t>
            </a:r>
            <a:r>
              <a:rPr dirty="0" sz="25900" spc="-2650">
                <a:solidFill>
                  <a:srgbClr val="F5F2F5"/>
                </a:solidFill>
              </a:rPr>
              <a:t>Y</a:t>
            </a:r>
            <a:r>
              <a:rPr dirty="0" sz="25900" spc="-2440">
                <a:solidFill>
                  <a:srgbClr val="F5F2F5"/>
                </a:solidFill>
              </a:rPr>
              <a:t>o</a:t>
            </a:r>
            <a:r>
              <a:rPr dirty="0" sz="25900" spc="-750">
                <a:solidFill>
                  <a:srgbClr val="F5F2F5"/>
                </a:solidFill>
              </a:rPr>
              <a:t>u</a:t>
            </a:r>
            <a:endParaRPr sz="2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Krati Nawal</dc:creator>
  <cp:keywords>DAG31YeMZvw,BAE5byJ7lhM,0</cp:keywords>
  <dc:title>Machine Learning Project Presentation</dc:title>
  <dcterms:created xsi:type="dcterms:W3CDTF">2025-11-08T15:00:32Z</dcterms:created>
  <dcterms:modified xsi:type="dcterms:W3CDTF">2025-11-08T15:00:32Z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2025-11-08T00:00:00Z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2025-11-08T00:00:00Z</vt:filetime>
  </property>
  <property fmtid="{D5CDD505-2E9C-101B-9397-08002B2CF9AE}" pid="5" name="Producer">
    <vt:lpwstr>Canva</vt:lpwstr>
  </property>
</Properties>
</file>